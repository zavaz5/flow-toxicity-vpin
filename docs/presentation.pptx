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5"/>
    <p:sldMasterId id="2147483677" r:id="rId6"/>
  </p:sldMasterIdLst>
  <p:notesMasterIdLst>
    <p:notesMasterId r:id="rId7"/>
  </p:notesMasterIdLst>
  <p:sldIdLst>
    <p:sldId id="256" r:id="rId12"/>
    <p:sldId id="257" r:id="rId13"/>
    <p:sldId id="258" r:id="rId14"/>
    <p:sldId id="259" r:id="rId15"/>
    <p:sldId id="261" r:id="rId17"/>
    <p:sldId id="262" r:id="rId18"/>
    <p:sldId id="263" r:id="rId19"/>
    <p:sldId id="264" r:id="rId20"/>
    <p:sldId id="265" r:id="rId21"/>
    <p:sldId id="275" r:id="rId31"/>
    <p:sldId id="267" r:id="rId23"/>
    <p:sldId id="268" r:id="rId11"/>
    <p:sldId id="269" r:id="rId10"/>
    <p:sldId id="270" r:id="rId9"/>
    <p:sldId id="276" r:id="rId32"/>
    <p:sldId id="277" r:id="rId33"/>
    <p:sldId id="278" r:id="rId34"/>
    <p:sldId id="279" r:id="rId35"/>
    <p:sldId id="280" r:id="rId36"/>
    <p:sldId id="273" r:id="rId29"/>
    <p:sldId id="281" r:id="rId37"/>
    <p:sldId id="260" r:id="rId16"/>
    <p:sldId id="266" r:id="rId22"/>
    <p:sldId id="271" r:id="rId8"/>
    <p:sldId id="272" r:id="rId28"/>
    <p:sldId id="274" r:id="rId30"/>
  </p:sldIdLst>
  <p:sldSz cy="6858000" cx="12192000"/>
  <p:notesSz cx="6858000" cy="9144000"/>
  <p:embeddedFontLs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325">
          <p15:clr>
            <a:srgbClr val="A4A3A4"/>
          </p15:clr>
        </p15:guide>
        <p15:guide id="2" pos="1209">
          <p15:clr>
            <a:srgbClr val="A4A3A4"/>
          </p15:clr>
        </p15:guide>
        <p15:guide id="3" pos="2955">
          <p15:clr>
            <a:srgbClr val="A4A3A4"/>
          </p15:clr>
        </p15:guide>
        <p15:guide id="4" pos="2071">
          <p15:clr>
            <a:srgbClr val="A4A3A4"/>
          </p15:clr>
        </p15:guide>
        <p15:guide id="5" pos="3840">
          <p15:clr>
            <a:srgbClr val="A4A3A4"/>
          </p15:clr>
        </p15:guide>
        <p15:guide id="6" pos="4702">
          <p15:clr>
            <a:srgbClr val="A4A3A4"/>
          </p15:clr>
        </p15:guide>
        <p15:guide id="7" pos="5586">
          <p15:clr>
            <a:srgbClr val="A4A3A4"/>
          </p15:clr>
        </p15:guide>
        <p15:guide id="8" pos="7333">
          <p15:clr>
            <a:srgbClr val="A4A3A4"/>
          </p15:clr>
        </p15:guide>
        <p15:guide id="9" orient="horz" pos="3952">
          <p15:clr>
            <a:srgbClr val="A4A3A4"/>
          </p15:clr>
        </p15:guide>
        <p15:guide id="10" pos="6471">
          <p15:clr>
            <a:srgbClr val="A4A3A4"/>
          </p15:clr>
        </p15:guide>
        <p15:guide id="11" orient="horz" pos="913">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FC7221-2359-4754-8425-334A788E2670}">
  <a:tblStyle styleId="{08FC7221-2359-4754-8425-334A788E267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5"/>
        <p:guide pos="1209"/>
        <p:guide pos="2955"/>
        <p:guide pos="2071"/>
        <p:guide pos="3840"/>
        <p:guide pos="4702"/>
        <p:guide pos="5586"/>
        <p:guide pos="7333"/>
        <p:guide pos="3952" orient="horz"/>
        <p:guide pos="6471"/>
        <p:guide pos="913" orient="horz"/>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6.xml"/><Relationship Id="rId9" Type="http://schemas.openxmlformats.org/officeDocument/2006/relationships/slide" Target="slides/slide15.xml"/><Relationship Id="rId10" Type="http://schemas.openxmlformats.org/officeDocument/2006/relationships/slide" Target="slides/slide14.xml"/><Relationship Id="rId11" Type="http://schemas.openxmlformats.org/officeDocument/2006/relationships/slide" Target="slides/slide13.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font" Target="fonts/Roboto-regular.fntdata"/><Relationship Id="rId25" Type="http://schemas.openxmlformats.org/officeDocument/2006/relationships/font" Target="fonts/Roboto-bold.fntdata"/><Relationship Id="rId26" Type="http://schemas.openxmlformats.org/officeDocument/2006/relationships/font" Target="fonts/Roboto-italic.fntdata"/><Relationship Id="rId27" Type="http://schemas.openxmlformats.org/officeDocument/2006/relationships/font" Target="fonts/Roboto-boldItalic.fntdata"/><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Fill in the group number and names. Timing (15 min): problem 2 · method 3 · results and reproduction 5 · critique 3 · next steps 2. Then 10 minutes of questions.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Problem, ~1 min. Market makers earn the spread; adverse selection = trading with someone who knows more. Toxic flow drains them; they withdraw; liquidity vanishes; prices gap. The paper's question: can we see this coming from the trade record alone?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Method, ~1 min. PIN is the share of orders from informed traders in the sequential-trade model (Easley et al. 1996). Estimating it needs maximum likelihood on daily counts — slow and fragile. VPIN replaces the parameters by observable volume: |buys − sells| estimates alpha*mu, total volume estimates alpha*mu + 2 epsilon. Updated after every equal-volume bucket. The figure is our data: on 6 May 2010 the same 50 buckets covered less and less clock time as trading sped up. Source: results/reproduction/figures/fig2_time_gap.png.</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Method, ~1 min. Trade-by-trade signing (Lee-Ready, tick rule) struggles with order splitting, cancellations and millions of quote updates. The paper classifies whole one-minute bars: the share of a bar's volume counted as buys is the normal CDF of the bar's standardized price change. This is the step our extension E1 tests against the truth.</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Method, ~1 min. Baseline: V = average daily volume / 50 and n = 50, so VPIN is about one day of trading, updated 50 times a day. The paper reads VPIN through its CDF over the whole sample; an alarm is CDF above 0.9. Note for Q&amp;A: a whole-sample CDF uses future data (see the overfitting slide).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Method, ~45 s. Anticipates 'what was the objective?'. VPIN is not trained: it is a moment estimator (average absolute imbalance over volume) of the PIN ratio, so it has no loss function. The only optimisation in the paper is the choice of bucket size and window: they scan grids and report the best cell, i.e. the selection objective IS the evaluation statistic, on the same data. We separate the two: select on 2009-11, evaluate on 2011-26.</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Data, ~1 min. CME data are paid, so we use the only free tick history with quotes we found: IVE from Kibot, which covers the flash crash. Binance BTC data give the true aggressor side, which the paper never had. This table compares set-ups, not results. All deviations with reasons: DEVIATIONS.md.</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Results, ~1 min. Paper Fig. 4(a): CDF(VPIN) crossed 0.9 at least two hours before the crash. Ours, one-minute bars: CDF above 0.9 from 09:40, 4.9 h before 14:32. With 10-second bars it crosses only during the crash, and with Lee-Ready never. One event, so no ± is possible; the point is that the warning depends on the classification choice. Source: results/reproduction/flash_crash.csv.</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Results, ~1 min. Two separate tables: the paper's Table 1 and ours. Ours drops 6 May 2010 (IVE fell to about half its price for minutes; one change of ~100 sigma sets the kurtosis) and overnight changes (a 24-hour futures market has none). Last column: in how many paired bootstrap replications volume time has the lower value; green = at least 95%. Sources: results/reproduction/table1_*_bootstrap.csv, summary.json (stability).</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Results, ~1 min. Paper Fig. 10 vs the same computation on IVE. Each caption gives its own source's number. The paper's interval (footnote 29) treats buckets as independent; neighbouring VPIN values share almost all of their window, so it is far too narrow. With the same iid formula ours would be [0.07, 0.09]; month blocks give [0.04, 0.22]. Source: results/reproduction/parameter_grid.csv, summary.json.</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Results, ~1 min. The heat maps are two separate panels: the paper's Table 4a and ours. Low VPIN does mean calm in both. The warning claims are weaker on IVE; the Table 5 number is consistent with ours only because our interval is wide (few stays in the top quartile at 10 buckets a day). Sources: results/reproduction/table4a.csv, table5.csv, summary.json (uncertainty).</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Summary. Left: what the paper reports. Right: what we find on IVE, with ± and a verdict that uses only our own data: reproduced if the paper's value is inside our 95% interval and the effect's direction is significant; inconclusive if inside but not significant; weaker if outside but the direction holds; not reproduced otherwise. Rule in scripts/make_report.py. Sources: results/report/scorecard_*.csv.</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Critique, ~1.5 min (required slide). Four ways the paper's numbers can be too good, and our check: a real-time pipeline (sigma, bucket size and CDF from the past only) with parameters frozen on the paper's period and tested on 2011-2026. Error bars are ± one bootstrap standard error. Source: results/extensions/ive_oos_comparison.csv.</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Upgrade, ~1 min. Binance BTCUSDT data mark the aggressor of every trade, so we know the true buy volume that BVC estimates — the paper never could. Same buckets, two classifications. ± by month blocks; the trade-day ranges are across 5 days. Sources: results/extensions/summary.json, btc_bars_bvc_vs_truth.csv, btc_trade_days.csv.</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Upgrade, ~1 min. One data source (BTC), three signals. Lift = hit rate divided by how often the alarm is on; a signal that is always on has lift 1. With true labels VPIN has no positive link to future volatility; with BVC it does, because BVC turns price moves into imbalance. Trailing volatility beats both. Andersen and Bondarenko (2014) made this argument; we confirm it with ground truth. Sources: btc_signal_comparison.csv, regressions.csv.</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Upgrade, ~1 min. Fifteen years after the paper, one data source. Year by year, VPIN's correlation with the next move is small and unstable, trailing volatility is higher almost every year, and the share of time the VPIN alarm is on drifts a lot — a CDF from the past does not fit the future. Source: results/extensions/ive_by_year.csv, ive_oos_comparison.csv.</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Upgrade, ~45 s. Was the real-time alarm (CDF &gt;= 0.9) on when each day's largest one-hour fall began? Compare hits with how often the alarm is on overall. The binomial p-value assumes falls are independent draws, which they are not (several fall inside weeks of turmoil, e.g. Aug 2011, Mar 2020), so it is a rough guide. On IVE VPIN's alarm was on at every fall — the extension result most favourable to VPIN. Source: results/extensions/crash_events.csv, crash_alarm_summary.csv.</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Critique ~1 min, next steps ~2 min. Keep it to what we tested. The authors disclose a patent on VPIN and a financial interest in it (title page).</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Code is ours, written from scratch. One command per stage; every number in the README and these slides is read from results/. Raw data are downloaded by scripts, not committed.</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Results, ~45 s. The paper's exact in-sample method on every two-year window, starting each January and July: 31 windows of IVE, 10 of BTC. Every window is shown; none was selected. This analysis was run once as an exploration before we wrote the pre-registration, and we say so. Not a power problem: the reproduction can detect any correlation of 0.13 or more with 80% power. Source: results/extensions/windows/.</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Upgrade, ~1 min. The gap: the paper validates VPIN (Appendix A.2) with buys and sells drawn straight from the PIN model: correct labels, no prices. Its empirical VPIN uses bulk classification, which needs prices, so that validation does not cover the method it uses. We simulate the paper's own model with a price and run the exact pipeline where the truth is known. Hypotheses, metrics and decision rules were written in docs/preregistration.md before the first run; its hash is in the run manifest.</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Upgrade, ~1 min. D2: in world V the paper's VPIN raises more alarms in volatile blocks, although informed trading never changes; true-label VPIN goes the other way (extra uninformed volume dilutes informed trading), the same sign as on real BTC. In world V the paper's VPIN tracks the true informed share at corr ~0.03. D3 did not hold: the paper's predictive statistic is not fooled in this calibration, because two effects cancel. D4: one-day sigma fixes the bias and keeps detection. ± = Monte Carlo s.e. Source: results/extensions/simulation/.</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Upgrade, ~1 min. Pre-registered rule D5, run because D4 held. Bulk classification with sigma from the previous day only, in the same real-time buckets. On BTC, where the truth is known, it tracks true-label VPIN better. And once the volatility bias is gone, most of VPIN's correlation with future volatility disappears: the paper's predictive power came from the bias. A small signal beyond volatility remains on IVE, none on BTC. Source: results/extensions/local_sigma/.</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Upgrade, ~1 min. The placebo keeps each one-minute imbalance's size and draws its direction at random. If VPIN's predictive power came from informed traders on one side, the placebo would lose it; it keeps ~100%. On IVE 2011-26 the real VPIN is detectably better by 0.002 — still 97% kept. Ledger: a claim counts as supported only if significant and on the claimed side. Sources: results/extensions/inference/, results/report/ledger.csv, docs/preregistration.md.</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 min. Be explicit about what is new and what confirms others. The ground-truth and volatility critiques confirm Andersen and Bondarenko (2014, 2015; the latter uses perfect trade classification on E-mini) and Chakrabarty, Pascual and Shkilko (2015, bulk vs trade-by-trade classification), on new data. The known-answer simulation that closes the paper's own validation gap, and the one-day-sigma fix tested against ground truth, are our additions, as far as we know.</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bg>
      <p:bgPr>
        <a:blipFill>
          <a:blip r:embed="rId2">
            <a:alphaModFix/>
          </a:blip>
          <a:stretch>
            <a:fillRect/>
          </a:stretch>
        </a:blipFill>
      </p:bgPr>
    </p:bg>
    <p:spTree>
      <p:nvGrpSpPr>
        <p:cNvPr id="10" name="Shape 10"/>
        <p:cNvGrpSpPr/>
        <p:nvPr/>
      </p:nvGrpSpPr>
      <p:grpSpPr>
        <a:xfrm>
          <a:off x="0" y="0"/>
          <a:ext cx="0" cy="0"/>
          <a:chOff x="0" y="0"/>
          <a:chExt cx="0" cy="0"/>
        </a:xfrm>
      </p:grpSpPr>
      <p:pic>
        <p:nvPicPr>
          <p:cNvPr id="11" name="Google Shape;11;p2"/>
          <p:cNvPicPr preferRelativeResize="0"/>
          <p:nvPr/>
        </p:nvPicPr>
        <p:blipFill rotWithShape="1">
          <a:blip r:embed="rId3">
            <a:alphaModFix/>
          </a:blip>
          <a:srcRect b="0" l="0" r="0" t="0"/>
          <a:stretch/>
        </p:blipFill>
        <p:spPr>
          <a:xfrm>
            <a:off x="1013859" y="962173"/>
            <a:ext cx="886499" cy="886499"/>
          </a:xfrm>
          <a:prstGeom prst="rect">
            <a:avLst/>
          </a:prstGeom>
          <a:noFill/>
          <a:ln>
            <a:noFill/>
          </a:ln>
        </p:spPr>
      </p:pic>
      <p:sp>
        <p:nvSpPr>
          <p:cNvPr id="12" name="Google Shape;12;p2"/>
          <p:cNvSpPr txBox="1"/>
          <p:nvPr>
            <p:ph type="title"/>
          </p:nvPr>
        </p:nvSpPr>
        <p:spPr>
          <a:xfrm>
            <a:off x="1027967" y="2404670"/>
            <a:ext cx="7634059" cy="1978323"/>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rgbClr val="0E2D69"/>
              </a:buClr>
              <a:buSzPts val="4300"/>
              <a:buFont typeface="Arial"/>
              <a:buNone/>
              <a:defRPr b="0" i="0" sz="4300" u="none" cap="none" strike="noStrike">
                <a:solidFill>
                  <a:srgbClr val="0E2D6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2074947" y="1187841"/>
            <a:ext cx="3848717" cy="43516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 name="Google Shape;14;p2"/>
          <p:cNvSpPr txBox="1"/>
          <p:nvPr>
            <p:ph idx="2" type="body"/>
          </p:nvPr>
        </p:nvSpPr>
        <p:spPr>
          <a:xfrm>
            <a:off x="6259420" y="1173829"/>
            <a:ext cx="2278063" cy="46318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E2D69"/>
              </a:buClr>
              <a:buSzPts val="1200"/>
              <a:buFont typeface="Arial"/>
              <a:buNone/>
              <a:defRPr b="0" i="0" sz="12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 name="Google Shape;15;p2"/>
          <p:cNvSpPr txBox="1"/>
          <p:nvPr>
            <p:ph idx="3" type="body"/>
          </p:nvPr>
        </p:nvSpPr>
        <p:spPr>
          <a:xfrm>
            <a:off x="1027967" y="6189042"/>
            <a:ext cx="2217738" cy="23004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E2D69"/>
              </a:buClr>
              <a:buSzPts val="1200"/>
              <a:buFont typeface="Arial"/>
              <a:buNone/>
              <a:defRPr b="0" i="0" sz="12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 name="Google Shape;16;p2"/>
          <p:cNvSpPr txBox="1"/>
          <p:nvPr>
            <p:ph idx="4" type="body"/>
          </p:nvPr>
        </p:nvSpPr>
        <p:spPr>
          <a:xfrm>
            <a:off x="1027967" y="4824914"/>
            <a:ext cx="7625267" cy="6528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bg>
      <p:bgPr>
        <a:blipFill>
          <a:blip r:embed="rId2">
            <a:alphaModFix/>
          </a:blip>
          <a:stretch>
            <a:fillRect/>
          </a:stretch>
        </a:blip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3">
            <a:alphaModFix/>
          </a:blip>
          <a:srcRect b="0" l="0" r="0" t="0"/>
          <a:stretch/>
        </p:blipFill>
        <p:spPr>
          <a:xfrm>
            <a:off x="1013859" y="962173"/>
            <a:ext cx="886499" cy="886499"/>
          </a:xfrm>
          <a:prstGeom prst="rect">
            <a:avLst/>
          </a:prstGeom>
          <a:noFill/>
          <a:ln>
            <a:noFill/>
          </a:ln>
        </p:spPr>
      </p:pic>
      <p:sp>
        <p:nvSpPr>
          <p:cNvPr id="19" name="Google Shape;19;p3"/>
          <p:cNvSpPr txBox="1"/>
          <p:nvPr>
            <p:ph type="title"/>
          </p:nvPr>
        </p:nvSpPr>
        <p:spPr>
          <a:xfrm>
            <a:off x="1027967" y="2404670"/>
            <a:ext cx="7634059" cy="1978323"/>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lt1"/>
              </a:buClr>
              <a:buSzPts val="4300"/>
              <a:buFont typeface="Arial"/>
              <a:buNone/>
              <a:defRPr b="0" i="0" sz="43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 name="Google Shape;20;p3"/>
          <p:cNvSpPr txBox="1"/>
          <p:nvPr>
            <p:ph idx="1" type="body"/>
          </p:nvPr>
        </p:nvSpPr>
        <p:spPr>
          <a:xfrm>
            <a:off x="2074947" y="1187841"/>
            <a:ext cx="3848717" cy="43516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 name="Google Shape;21;p3"/>
          <p:cNvSpPr txBox="1"/>
          <p:nvPr>
            <p:ph idx="2" type="body"/>
          </p:nvPr>
        </p:nvSpPr>
        <p:spPr>
          <a:xfrm>
            <a:off x="6259420" y="1173829"/>
            <a:ext cx="2278063" cy="46318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 name="Google Shape;22;p3"/>
          <p:cNvSpPr txBox="1"/>
          <p:nvPr>
            <p:ph idx="3" type="body"/>
          </p:nvPr>
        </p:nvSpPr>
        <p:spPr>
          <a:xfrm>
            <a:off x="1027967" y="6189042"/>
            <a:ext cx="2217738" cy="23004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 name="Google Shape;23;p3"/>
          <p:cNvSpPr txBox="1"/>
          <p:nvPr>
            <p:ph idx="4" type="body"/>
          </p:nvPr>
        </p:nvSpPr>
        <p:spPr>
          <a:xfrm>
            <a:off x="1027967" y="4824914"/>
            <a:ext cx="7625267" cy="6528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1">
  <p:cSld name="Text_1">
    <p:spTree>
      <p:nvGrpSpPr>
        <p:cNvPr id="24" name="Shape 24"/>
        <p:cNvGrpSpPr/>
        <p:nvPr/>
      </p:nvGrpSpPr>
      <p:grpSpPr>
        <a:xfrm>
          <a:off x="0" y="0"/>
          <a:ext cx="0" cy="0"/>
          <a:chOff x="0" y="0"/>
          <a:chExt cx="0" cy="0"/>
        </a:xfrm>
      </p:grpSpPr>
      <p:pic>
        <p:nvPicPr>
          <p:cNvPr descr="Icon&#10;&#10;Description automatically generated" id="25" name="Google Shape;25;p4"/>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26" name="Google Shape;26;p4"/>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
        <p:nvSpPr>
          <p:cNvPr id="27" name="Google Shape;27;p4"/>
          <p:cNvSpPr/>
          <p:nvPr>
            <p:ph idx="2" type="pic"/>
          </p:nvPr>
        </p:nvSpPr>
        <p:spPr>
          <a:xfrm>
            <a:off x="6684653" y="1447790"/>
            <a:ext cx="4325167" cy="4325107"/>
          </a:xfrm>
          <a:prstGeom prst="rect">
            <a:avLst/>
          </a:prstGeom>
          <a:solidFill>
            <a:srgbClr val="D9D9D9"/>
          </a:solidFill>
          <a:ln>
            <a:noFill/>
          </a:ln>
        </p:spPr>
      </p:sp>
      <p:sp>
        <p:nvSpPr>
          <p:cNvPr id="28" name="Google Shape;28;p4"/>
          <p:cNvSpPr txBox="1"/>
          <p:nvPr>
            <p:ph type="title"/>
          </p:nvPr>
        </p:nvSpPr>
        <p:spPr>
          <a:xfrm>
            <a:off x="585898" y="1447790"/>
            <a:ext cx="5245560"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4"/>
          <p:cNvSpPr txBox="1"/>
          <p:nvPr>
            <p:ph idx="1" type="body"/>
          </p:nvPr>
        </p:nvSpPr>
        <p:spPr>
          <a:xfrm>
            <a:off x="585897" y="2379663"/>
            <a:ext cx="5245561" cy="3393234"/>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4"/>
          <p:cNvSpPr txBox="1"/>
          <p:nvPr>
            <p:ph idx="3" type="body"/>
          </p:nvPr>
        </p:nvSpPr>
        <p:spPr>
          <a:xfrm>
            <a:off x="1143688" y="540904"/>
            <a:ext cx="2174547"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2">
  <p:cSld name="Text_2">
    <p:spTree>
      <p:nvGrpSpPr>
        <p:cNvPr id="31" name="Shape 31"/>
        <p:cNvGrpSpPr/>
        <p:nvPr/>
      </p:nvGrpSpPr>
      <p:grpSpPr>
        <a:xfrm>
          <a:off x="0" y="0"/>
          <a:ext cx="0" cy="0"/>
          <a:chOff x="0" y="0"/>
          <a:chExt cx="0" cy="0"/>
        </a:xfrm>
      </p:grpSpPr>
      <p:pic>
        <p:nvPicPr>
          <p:cNvPr descr="Icon&#10;&#10;Description automatically generated" id="32" name="Google Shape;32;p5"/>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33" name="Google Shape;33;p5"/>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5"/>
          <p:cNvSpPr txBox="1"/>
          <p:nvPr>
            <p:ph idx="1" type="body"/>
          </p:nvPr>
        </p:nvSpPr>
        <p:spPr>
          <a:xfrm>
            <a:off x="585897" y="2379663"/>
            <a:ext cx="11057971" cy="3745092"/>
          </a:xfrm>
          <a:prstGeom prst="rect">
            <a:avLst/>
          </a:prstGeom>
          <a:noFill/>
          <a:ln>
            <a:noFill/>
          </a:ln>
        </p:spPr>
        <p:txBody>
          <a:bodyPr anchorCtr="0" anchor="t" bIns="45700" lIns="0" spcFirstLastPara="1" rIns="0" wrap="square" tIns="0">
            <a:noAutofit/>
          </a:bodyPr>
          <a:lstStyle>
            <a:lvl1pPr indent="-228600" lvl="0" marL="457200" marR="0" rtl="0" algn="l">
              <a:lnSpc>
                <a:spcPct val="100000"/>
              </a:lnSpc>
              <a:spcBef>
                <a:spcPts val="12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 name="Google Shape;35;p5"/>
          <p:cNvSpPr txBox="1"/>
          <p:nvPr>
            <p:ph idx="2"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6" name="Google Shape;36;p5"/>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3">
  <p:cSld name="Text_3">
    <p:spTree>
      <p:nvGrpSpPr>
        <p:cNvPr id="37" name="Shape 37"/>
        <p:cNvGrpSpPr/>
        <p:nvPr/>
      </p:nvGrpSpPr>
      <p:grpSpPr>
        <a:xfrm>
          <a:off x="0" y="0"/>
          <a:ext cx="0" cy="0"/>
          <a:chOff x="0" y="0"/>
          <a:chExt cx="0" cy="0"/>
        </a:xfrm>
      </p:grpSpPr>
      <p:pic>
        <p:nvPicPr>
          <p:cNvPr descr="Icon&#10;&#10;Description automatically generated" id="38" name="Google Shape;38;p6"/>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39" name="Google Shape;39;p6"/>
          <p:cNvSpPr txBox="1"/>
          <p:nvPr>
            <p:ph idx="1"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2"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000"/>
              <a:buFont typeface="Arial"/>
              <a:buNone/>
              <a:defRPr b="0" i="0" sz="10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1" name="Google Shape;41;p6"/>
          <p:cNvSpPr txBox="1"/>
          <p:nvPr>
            <p:ph idx="3" type="body"/>
          </p:nvPr>
        </p:nvSpPr>
        <p:spPr>
          <a:xfrm>
            <a:off x="6259892" y="2379663"/>
            <a:ext cx="5383968" cy="3451794"/>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1000"/>
              </a:spcBef>
              <a:spcAft>
                <a:spcPts val="0"/>
              </a:spcAft>
              <a:buClr>
                <a:srgbClr val="0E2D69"/>
              </a:buClr>
              <a:buSzPts val="3200"/>
              <a:buFont typeface="Arial"/>
              <a:buNone/>
              <a:defRPr b="0" i="0" sz="32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6"/>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3" name="Google Shape;43;p6"/>
          <p:cNvSpPr txBox="1"/>
          <p:nvPr>
            <p:ph idx="4"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6"/>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hart_1">
  <p:cSld name="Сhart_1">
    <p:spTree>
      <p:nvGrpSpPr>
        <p:cNvPr id="45" name="Shape 45"/>
        <p:cNvGrpSpPr/>
        <p:nvPr/>
      </p:nvGrpSpPr>
      <p:grpSpPr>
        <a:xfrm>
          <a:off x="0" y="0"/>
          <a:ext cx="0" cy="0"/>
          <a:chOff x="0" y="0"/>
          <a:chExt cx="0" cy="0"/>
        </a:xfrm>
      </p:grpSpPr>
      <p:pic>
        <p:nvPicPr>
          <p:cNvPr descr="Icon&#10;&#10;Description automatically generated" id="46" name="Google Shape;46;p7"/>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47" name="Google Shape;47;p7"/>
          <p:cNvSpPr txBox="1"/>
          <p:nvPr>
            <p:ph type="title"/>
          </p:nvPr>
        </p:nvSpPr>
        <p:spPr>
          <a:xfrm>
            <a:off x="585899" y="1447790"/>
            <a:ext cx="4322530"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8" name="Google Shape;48;p7"/>
          <p:cNvSpPr txBox="1"/>
          <p:nvPr>
            <p:ph idx="1"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9" name="Google Shape;49;p7"/>
          <p:cNvSpPr txBox="1"/>
          <p:nvPr>
            <p:ph idx="2"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000"/>
              <a:buFont typeface="Arial"/>
              <a:buNone/>
              <a:defRPr b="0" i="0" sz="10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7"/>
          <p:cNvSpPr/>
          <p:nvPr>
            <p:ph idx="3" type="chart"/>
          </p:nvPr>
        </p:nvSpPr>
        <p:spPr>
          <a:xfrm>
            <a:off x="5272097" y="1447790"/>
            <a:ext cx="6371768" cy="428945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1" name="Google Shape;51;p7"/>
          <p:cNvSpPr txBox="1"/>
          <p:nvPr>
            <p:ph idx="4" type="body"/>
          </p:nvPr>
        </p:nvSpPr>
        <p:spPr>
          <a:xfrm>
            <a:off x="1143688" y="540904"/>
            <a:ext cx="2174547"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7"/>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hart_2">
  <p:cSld name="Сhart_2">
    <p:spTree>
      <p:nvGrpSpPr>
        <p:cNvPr id="53" name="Shape 53"/>
        <p:cNvGrpSpPr/>
        <p:nvPr/>
      </p:nvGrpSpPr>
      <p:grpSpPr>
        <a:xfrm>
          <a:off x="0" y="0"/>
          <a:ext cx="0" cy="0"/>
          <a:chOff x="0" y="0"/>
          <a:chExt cx="0" cy="0"/>
        </a:xfrm>
      </p:grpSpPr>
      <p:pic>
        <p:nvPicPr>
          <p:cNvPr descr="Icon&#10;&#10;Description automatically generated" id="54" name="Google Shape;54;p8"/>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55" name="Google Shape;55;p8"/>
          <p:cNvSpPr txBox="1"/>
          <p:nvPr>
            <p:ph idx="1"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000"/>
              <a:buFont typeface="Arial"/>
              <a:buNone/>
              <a:defRPr b="0" i="0" sz="10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8"/>
          <p:cNvSpPr/>
          <p:nvPr>
            <p:ph idx="2" type="chart"/>
          </p:nvPr>
        </p:nvSpPr>
        <p:spPr>
          <a:xfrm>
            <a:off x="5272097" y="1447790"/>
            <a:ext cx="6371768" cy="428945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7" name="Google Shape;57;p8"/>
          <p:cNvSpPr txBox="1"/>
          <p:nvPr>
            <p:ph idx="3" type="body"/>
          </p:nvPr>
        </p:nvSpPr>
        <p:spPr>
          <a:xfrm>
            <a:off x="585788" y="1447064"/>
            <a:ext cx="4322762" cy="70320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30200" lvl="1" marL="9144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2pPr>
            <a:lvl3pPr indent="-330200" lvl="2" marL="13716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3pPr>
            <a:lvl4pPr indent="-330200" lvl="3" marL="18288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4pPr>
            <a:lvl5pPr indent="-330200" lvl="4" marL="22860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8" name="Google Shape;58;p8"/>
          <p:cNvSpPr txBox="1"/>
          <p:nvPr>
            <p:ph idx="4"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9" name="Google Shape;59;p8"/>
          <p:cNvSpPr txBox="1"/>
          <p:nvPr>
            <p:ph idx="5"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0" name="Google Shape;60;p8"/>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p:cSld name="Numbers">
    <p:spTree>
      <p:nvGrpSpPr>
        <p:cNvPr id="61" name="Shape 61"/>
        <p:cNvGrpSpPr/>
        <p:nvPr/>
      </p:nvGrpSpPr>
      <p:grpSpPr>
        <a:xfrm>
          <a:off x="0" y="0"/>
          <a:ext cx="0" cy="0"/>
          <a:chOff x="0" y="0"/>
          <a:chExt cx="0" cy="0"/>
        </a:xfrm>
      </p:grpSpPr>
      <p:pic>
        <p:nvPicPr>
          <p:cNvPr descr="Icon&#10;&#10;Description automatically generated" id="62" name="Google Shape;62;p9"/>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63" name="Google Shape;63;p9"/>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9"/>
          <p:cNvSpPr txBox="1"/>
          <p:nvPr>
            <p:ph idx="1" type="body"/>
          </p:nvPr>
        </p:nvSpPr>
        <p:spPr>
          <a:xfrm>
            <a:off x="575076" y="4103994"/>
            <a:ext cx="2758143" cy="156966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5" name="Google Shape;65;p9"/>
          <p:cNvSpPr txBox="1"/>
          <p:nvPr>
            <p:ph idx="2" type="body"/>
          </p:nvPr>
        </p:nvSpPr>
        <p:spPr>
          <a:xfrm>
            <a:off x="4047007" y="4103994"/>
            <a:ext cx="2757612" cy="156966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6" name="Google Shape;66;p9"/>
          <p:cNvSpPr txBox="1"/>
          <p:nvPr>
            <p:ph idx="3" type="body"/>
          </p:nvPr>
        </p:nvSpPr>
        <p:spPr>
          <a:xfrm>
            <a:off x="7518938" y="4103994"/>
            <a:ext cx="2757612" cy="156966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7" name="Google Shape;67;p9"/>
          <p:cNvSpPr txBox="1"/>
          <p:nvPr>
            <p:ph idx="4" type="body"/>
          </p:nvPr>
        </p:nvSpPr>
        <p:spPr>
          <a:xfrm>
            <a:off x="575076" y="2710235"/>
            <a:ext cx="2758143" cy="116411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9600"/>
              <a:buFont typeface="Arial"/>
              <a:buNone/>
              <a:defRPr b="0" i="0" sz="9600" u="none" cap="none" strike="noStrike">
                <a:solidFill>
                  <a:schemeClr val="dk1"/>
                </a:solidFill>
                <a:latin typeface="Arial"/>
                <a:ea typeface="Arial"/>
                <a:cs typeface="Arial"/>
                <a:sym typeface="Arial"/>
              </a:defRPr>
            </a:lvl1pPr>
            <a:lvl2pPr indent="-838200" lvl="1" marL="9144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2pPr>
            <a:lvl3pPr indent="-838200" lvl="2" marL="13716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3pPr>
            <a:lvl4pPr indent="-838200" lvl="3" marL="18288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4pPr>
            <a:lvl5pPr indent="-838200" lvl="4" marL="22860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8" name="Google Shape;68;p9"/>
          <p:cNvSpPr txBox="1"/>
          <p:nvPr>
            <p:ph idx="5" type="body"/>
          </p:nvPr>
        </p:nvSpPr>
        <p:spPr>
          <a:xfrm>
            <a:off x="4047007" y="2710235"/>
            <a:ext cx="2758143" cy="116411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9600"/>
              <a:buFont typeface="Arial"/>
              <a:buNone/>
              <a:defRPr b="0" i="0" sz="9600" u="none" cap="none" strike="noStrike">
                <a:solidFill>
                  <a:schemeClr val="dk1"/>
                </a:solidFill>
                <a:latin typeface="Arial"/>
                <a:ea typeface="Arial"/>
                <a:cs typeface="Arial"/>
                <a:sym typeface="Arial"/>
              </a:defRPr>
            </a:lvl1pPr>
            <a:lvl2pPr indent="-838200" lvl="1" marL="9144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2pPr>
            <a:lvl3pPr indent="-838200" lvl="2" marL="13716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3pPr>
            <a:lvl4pPr indent="-838200" lvl="3" marL="18288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4pPr>
            <a:lvl5pPr indent="-838200" lvl="4" marL="22860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9" name="Google Shape;69;p9"/>
          <p:cNvSpPr txBox="1"/>
          <p:nvPr>
            <p:ph idx="6" type="body"/>
          </p:nvPr>
        </p:nvSpPr>
        <p:spPr>
          <a:xfrm>
            <a:off x="7518938" y="2710235"/>
            <a:ext cx="2758143" cy="116411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9600"/>
              <a:buFont typeface="Arial"/>
              <a:buNone/>
              <a:defRPr b="0" i="0" sz="9600" u="none" cap="none" strike="noStrike">
                <a:solidFill>
                  <a:schemeClr val="dk1"/>
                </a:solidFill>
                <a:latin typeface="Arial"/>
                <a:ea typeface="Arial"/>
                <a:cs typeface="Arial"/>
                <a:sym typeface="Arial"/>
              </a:defRPr>
            </a:lvl1pPr>
            <a:lvl2pPr indent="-838200" lvl="1" marL="9144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2pPr>
            <a:lvl3pPr indent="-838200" lvl="2" marL="13716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3pPr>
            <a:lvl4pPr indent="-838200" lvl="3" marL="18288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4pPr>
            <a:lvl5pPr indent="-838200" lvl="4" marL="22860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0" name="Google Shape;70;p9"/>
          <p:cNvSpPr txBox="1"/>
          <p:nvPr>
            <p:ph idx="7" type="body"/>
          </p:nvPr>
        </p:nvSpPr>
        <p:spPr>
          <a:xfrm>
            <a:off x="1143689" y="540904"/>
            <a:ext cx="2189530"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1" name="Google Shape;71;p9"/>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72" name="Shape 72"/>
        <p:cNvGrpSpPr/>
        <p:nvPr/>
      </p:nvGrpSpPr>
      <p:grpSpPr>
        <a:xfrm>
          <a:off x="0" y="0"/>
          <a:ext cx="0" cy="0"/>
          <a:chOff x="0" y="0"/>
          <a:chExt cx="0" cy="0"/>
        </a:xfrm>
      </p:grpSpPr>
      <p:pic>
        <p:nvPicPr>
          <p:cNvPr descr="Icon&#10;&#10;Description automatically generated" id="73" name="Google Shape;73;p10"/>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74" name="Google Shape;74;p10"/>
          <p:cNvSpPr txBox="1"/>
          <p:nvPr>
            <p:ph idx="1" type="body"/>
          </p:nvPr>
        </p:nvSpPr>
        <p:spPr>
          <a:xfrm>
            <a:off x="585787" y="1447065"/>
            <a:ext cx="11058065" cy="307778"/>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30200" lvl="1" marL="9144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2pPr>
            <a:lvl3pPr indent="-330200" lvl="2" marL="13716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3pPr>
            <a:lvl4pPr indent="-330200" lvl="3" marL="18288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4pPr>
            <a:lvl5pPr indent="-330200" lvl="4" marL="22860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5" name="Google Shape;75;p10"/>
          <p:cNvSpPr txBox="1"/>
          <p:nvPr>
            <p:ph idx="2" type="body"/>
          </p:nvPr>
        </p:nvSpPr>
        <p:spPr>
          <a:xfrm>
            <a:off x="585788" y="5739189"/>
            <a:ext cx="6824303" cy="703205"/>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6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311150" lvl="1" marL="9144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2pPr>
            <a:lvl3pPr indent="-311150" lvl="2" marL="13716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3pPr>
            <a:lvl4pPr indent="-311150" lvl="3" marL="18288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4pPr>
            <a:lvl5pPr indent="-311150" lvl="4" marL="22860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6" name="Google Shape;76;p10"/>
          <p:cNvSpPr/>
          <p:nvPr>
            <p:ph idx="3" type="tbl"/>
          </p:nvPr>
        </p:nvSpPr>
        <p:spPr>
          <a:xfrm>
            <a:off x="585787" y="1984076"/>
            <a:ext cx="11058527" cy="3519576"/>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0"/>
          <p:cNvSpPr txBox="1"/>
          <p:nvPr>
            <p:ph idx="4"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8" name="Google Shape;78;p10"/>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2">
  <p:cSld name="Table_2">
    <p:spTree>
      <p:nvGrpSpPr>
        <p:cNvPr id="79" name="Shape 79"/>
        <p:cNvGrpSpPr/>
        <p:nvPr/>
      </p:nvGrpSpPr>
      <p:grpSpPr>
        <a:xfrm>
          <a:off x="0" y="0"/>
          <a:ext cx="0" cy="0"/>
          <a:chOff x="0" y="0"/>
          <a:chExt cx="0" cy="0"/>
        </a:xfrm>
      </p:grpSpPr>
      <p:pic>
        <p:nvPicPr>
          <p:cNvPr descr="Icon&#10;&#10;Description automatically generated" id="80" name="Google Shape;80;p11"/>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81" name="Google Shape;81;p11"/>
          <p:cNvSpPr txBox="1"/>
          <p:nvPr>
            <p:ph idx="1" type="body"/>
          </p:nvPr>
        </p:nvSpPr>
        <p:spPr>
          <a:xfrm>
            <a:off x="585787" y="1447064"/>
            <a:ext cx="7617877" cy="537011"/>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30200" lvl="1" marL="9144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2pPr>
            <a:lvl3pPr indent="-330200" lvl="2" marL="13716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3pPr>
            <a:lvl4pPr indent="-330200" lvl="3" marL="18288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4pPr>
            <a:lvl5pPr indent="-330200" lvl="4" marL="22860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2" name="Google Shape;82;p11"/>
          <p:cNvSpPr txBox="1"/>
          <p:nvPr>
            <p:ph idx="2" type="body"/>
          </p:nvPr>
        </p:nvSpPr>
        <p:spPr>
          <a:xfrm>
            <a:off x="585788" y="5739189"/>
            <a:ext cx="6824303" cy="703205"/>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6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311150" lvl="1" marL="9144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2pPr>
            <a:lvl3pPr indent="-311150" lvl="2" marL="13716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3pPr>
            <a:lvl4pPr indent="-311150" lvl="3" marL="18288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4pPr>
            <a:lvl5pPr indent="-311150" lvl="4" marL="22860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 name="Google Shape;83;p11"/>
          <p:cNvSpPr/>
          <p:nvPr>
            <p:ph idx="3" type="tbl"/>
          </p:nvPr>
        </p:nvSpPr>
        <p:spPr>
          <a:xfrm>
            <a:off x="585787" y="2208362"/>
            <a:ext cx="7617895" cy="329529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p11"/>
          <p:cNvSpPr txBox="1"/>
          <p:nvPr>
            <p:ph idx="4" type="body"/>
          </p:nvPr>
        </p:nvSpPr>
        <p:spPr>
          <a:xfrm>
            <a:off x="8686807" y="2208363"/>
            <a:ext cx="2930666" cy="2570672"/>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5" name="Google Shape;85;p11"/>
          <p:cNvSpPr txBox="1"/>
          <p:nvPr>
            <p:ph idx="5"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6" name="Google Shape;86;p11"/>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s">
  <p:cSld name="Colors">
    <p:spTree>
      <p:nvGrpSpPr>
        <p:cNvPr id="87" name="Shape 87"/>
        <p:cNvGrpSpPr/>
        <p:nvPr/>
      </p:nvGrpSpPr>
      <p:grpSpPr>
        <a:xfrm>
          <a:off x="0" y="0"/>
          <a:ext cx="0" cy="0"/>
          <a:chOff x="0" y="0"/>
          <a:chExt cx="0" cy="0"/>
        </a:xfrm>
      </p:grpSpPr>
      <p:pic>
        <p:nvPicPr>
          <p:cNvPr descr="Icon&#10;&#10;Description automatically generated" id="88" name="Google Shape;88;p12"/>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89" name="Google Shape;89;p12"/>
          <p:cNvSpPr txBox="1"/>
          <p:nvPr>
            <p:ph type="title"/>
          </p:nvPr>
        </p:nvSpPr>
        <p:spPr>
          <a:xfrm>
            <a:off x="585899" y="1447790"/>
            <a:ext cx="4322530"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0" name="Google Shape;90;p12"/>
          <p:cNvSpPr txBox="1"/>
          <p:nvPr>
            <p:ph idx="1"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1" name="Google Shape;91;p12"/>
          <p:cNvSpPr/>
          <p:nvPr/>
        </p:nvSpPr>
        <p:spPr>
          <a:xfrm>
            <a:off x="5392982" y="1447790"/>
            <a:ext cx="830997" cy="830997"/>
          </a:xfrm>
          <a:prstGeom prst="ellipse">
            <a:avLst/>
          </a:prstGeom>
          <a:solidFill>
            <a:srgbClr val="0E2D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2" name="Google Shape;92;p12"/>
          <p:cNvSpPr/>
          <p:nvPr/>
        </p:nvSpPr>
        <p:spPr>
          <a:xfrm>
            <a:off x="6742925" y="1447790"/>
            <a:ext cx="830997" cy="830997"/>
          </a:xfrm>
          <a:prstGeom prst="ellipse">
            <a:avLst/>
          </a:prstGeom>
          <a:solidFill>
            <a:srgbClr val="234A9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12"/>
          <p:cNvSpPr/>
          <p:nvPr/>
        </p:nvSpPr>
        <p:spPr>
          <a:xfrm>
            <a:off x="8092868" y="1447790"/>
            <a:ext cx="830997" cy="830997"/>
          </a:xfrm>
          <a:prstGeom prst="ellipse">
            <a:avLst/>
          </a:prstGeom>
          <a:solidFill>
            <a:srgbClr val="11A0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12"/>
          <p:cNvSpPr/>
          <p:nvPr/>
        </p:nvSpPr>
        <p:spPr>
          <a:xfrm>
            <a:off x="9442811" y="1447790"/>
            <a:ext cx="830997" cy="830997"/>
          </a:xfrm>
          <a:prstGeom prst="ellipse">
            <a:avLst/>
          </a:prstGeom>
          <a:solidFill>
            <a:srgbClr val="029C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5" name="Google Shape;95;p12"/>
          <p:cNvSpPr/>
          <p:nvPr/>
        </p:nvSpPr>
        <p:spPr>
          <a:xfrm>
            <a:off x="10792754" y="1447790"/>
            <a:ext cx="830997" cy="830997"/>
          </a:xfrm>
          <a:prstGeom prst="ellipse">
            <a:avLst/>
          </a:prstGeom>
          <a:solidFill>
            <a:srgbClr val="EB681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6" name="Google Shape;96;p12"/>
          <p:cNvSpPr/>
          <p:nvPr/>
        </p:nvSpPr>
        <p:spPr>
          <a:xfrm>
            <a:off x="5392982" y="2708699"/>
            <a:ext cx="830997" cy="830997"/>
          </a:xfrm>
          <a:prstGeom prst="ellipse">
            <a:avLst/>
          </a:prstGeom>
          <a:solidFill>
            <a:srgbClr val="7D4EB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7" name="Google Shape;97;p12"/>
          <p:cNvSpPr/>
          <p:nvPr/>
        </p:nvSpPr>
        <p:spPr>
          <a:xfrm>
            <a:off x="6742925" y="2708699"/>
            <a:ext cx="830997" cy="830997"/>
          </a:xfrm>
          <a:prstGeom prst="ellipse">
            <a:avLst/>
          </a:prstGeom>
          <a:solidFill>
            <a:srgbClr val="E61F3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 name="Google Shape;98;p12"/>
          <p:cNvSpPr/>
          <p:nvPr/>
        </p:nvSpPr>
        <p:spPr>
          <a:xfrm>
            <a:off x="8092868" y="2708699"/>
            <a:ext cx="830997" cy="830997"/>
          </a:xfrm>
          <a:prstGeom prst="ellipse">
            <a:avLst/>
          </a:prstGeom>
          <a:solidFill>
            <a:srgbClr val="FBBA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12"/>
          <p:cNvSpPr/>
          <p:nvPr/>
        </p:nvSpPr>
        <p:spPr>
          <a:xfrm>
            <a:off x="9442811" y="2708699"/>
            <a:ext cx="830997" cy="830997"/>
          </a:xfrm>
          <a:prstGeom prst="ellipse">
            <a:avLst/>
          </a:prstGeom>
          <a:solidFill>
            <a:srgbClr val="7DA0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0" name="Google Shape;100;p12"/>
          <p:cNvSpPr/>
          <p:nvPr/>
        </p:nvSpPr>
        <p:spPr>
          <a:xfrm>
            <a:off x="10792754" y="2708699"/>
            <a:ext cx="830997" cy="830997"/>
          </a:xfrm>
          <a:prstGeom prst="ellipse">
            <a:avLst/>
          </a:prstGeom>
          <a:solidFill>
            <a:srgbClr val="47A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1" name="Google Shape;101;p12"/>
          <p:cNvSpPr/>
          <p:nvPr/>
        </p:nvSpPr>
        <p:spPr>
          <a:xfrm>
            <a:off x="5392982" y="3969609"/>
            <a:ext cx="830997" cy="830997"/>
          </a:xfrm>
          <a:prstGeom prst="ellipse">
            <a:avLst/>
          </a:prstGeom>
          <a:solidFill>
            <a:srgbClr val="EB8C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 name="Google Shape;102;p12"/>
          <p:cNvSpPr/>
          <p:nvPr/>
        </p:nvSpPr>
        <p:spPr>
          <a:xfrm>
            <a:off x="6742925" y="3969609"/>
            <a:ext cx="830997" cy="830997"/>
          </a:xfrm>
          <a:prstGeom prst="ellipse">
            <a:avLst/>
          </a:prstGeom>
          <a:solidFill>
            <a:srgbClr val="9662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 name="Google Shape;103;p12"/>
          <p:cNvSpPr/>
          <p:nvPr/>
        </p:nvSpPr>
        <p:spPr>
          <a:xfrm>
            <a:off x="8092868" y="3969609"/>
            <a:ext cx="830997" cy="830997"/>
          </a:xfrm>
          <a:prstGeom prst="ellipse">
            <a:avLst/>
          </a:prstGeom>
          <a:solidFill>
            <a:srgbClr val="CD5A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4" name="Google Shape;104;p12"/>
          <p:cNvSpPr/>
          <p:nvPr/>
        </p:nvSpPr>
        <p:spPr>
          <a:xfrm>
            <a:off x="9442811" y="3969609"/>
            <a:ext cx="830997" cy="830997"/>
          </a:xfrm>
          <a:prstGeom prst="ellipse">
            <a:avLst/>
          </a:prstGeom>
          <a:solidFill>
            <a:srgbClr val="FFD7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12"/>
          <p:cNvSpPr/>
          <p:nvPr/>
        </p:nvSpPr>
        <p:spPr>
          <a:xfrm>
            <a:off x="10792754" y="3969609"/>
            <a:ext cx="830997" cy="830997"/>
          </a:xfrm>
          <a:prstGeom prst="ellipse">
            <a:avLst/>
          </a:prstGeom>
          <a:solidFill>
            <a:srgbClr val="CDDD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12"/>
          <p:cNvSpPr/>
          <p:nvPr/>
        </p:nvSpPr>
        <p:spPr>
          <a:xfrm>
            <a:off x="5392982" y="5249769"/>
            <a:ext cx="830997" cy="830997"/>
          </a:xfrm>
          <a:prstGeom prst="ellipse">
            <a:avLst/>
          </a:prstGeom>
          <a:solidFill>
            <a:srgbClr val="D7EBB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7" name="Google Shape;107;p12"/>
          <p:cNvSpPr/>
          <p:nvPr/>
        </p:nvSpPr>
        <p:spPr>
          <a:xfrm>
            <a:off x="6742925" y="5249769"/>
            <a:ext cx="830997" cy="830997"/>
          </a:xfrm>
          <a:prstGeom prst="ellipse">
            <a:avLst/>
          </a:prstGeom>
          <a:solidFill>
            <a:srgbClr val="FFDC9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 name="Google Shape;108;p12"/>
          <p:cNvSpPr/>
          <p:nvPr/>
        </p:nvSpPr>
        <p:spPr>
          <a:xfrm>
            <a:off x="8092868" y="5249769"/>
            <a:ext cx="830997" cy="830997"/>
          </a:xfrm>
          <a:prstGeom prst="ellipse">
            <a:avLst/>
          </a:prstGeom>
          <a:solidFill>
            <a:srgbClr val="D7C3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12"/>
          <p:cNvSpPr/>
          <p:nvPr/>
        </p:nvSpPr>
        <p:spPr>
          <a:xfrm>
            <a:off x="9442811" y="5249769"/>
            <a:ext cx="830997" cy="830997"/>
          </a:xfrm>
          <a:prstGeom prst="ellipse">
            <a:avLst/>
          </a:prstGeom>
          <a:solidFill>
            <a:srgbClr val="F6C3C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0" name="Google Shape;110;p12"/>
          <p:cNvSpPr/>
          <p:nvPr/>
        </p:nvSpPr>
        <p:spPr>
          <a:xfrm>
            <a:off x="10792754" y="5249769"/>
            <a:ext cx="830997" cy="830997"/>
          </a:xfrm>
          <a:prstGeom prst="ellipse">
            <a:avLst/>
          </a:prstGeom>
          <a:solidFill>
            <a:srgbClr val="FFF07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 name="Google Shape;111;p12"/>
          <p:cNvSpPr txBox="1"/>
          <p:nvPr>
            <p:ph idx="2"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2" name="Google Shape;112;p12"/>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ean">
  <p:cSld name="Clean">
    <p:spTree>
      <p:nvGrpSpPr>
        <p:cNvPr id="113" name="Shape 113"/>
        <p:cNvGrpSpPr/>
        <p:nvPr/>
      </p:nvGrpSpPr>
      <p:grpSpPr>
        <a:xfrm>
          <a:off x="0" y="0"/>
          <a:ext cx="0" cy="0"/>
          <a:chOff x="0" y="0"/>
          <a:chExt cx="0" cy="0"/>
        </a:xfrm>
      </p:grpSpPr>
      <p:pic>
        <p:nvPicPr>
          <p:cNvPr descr="Icon&#10;&#10;Description automatically generated" id="114" name="Google Shape;114;p13"/>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15" name="Google Shape;115;p13"/>
          <p:cNvSpPr txBox="1"/>
          <p:nvPr>
            <p:ph idx="1"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13"/>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_1">
  <p:cSld name="Final_1">
    <p:spTree>
      <p:nvGrpSpPr>
        <p:cNvPr id="117" name="Shape 117"/>
        <p:cNvGrpSpPr/>
        <p:nvPr/>
      </p:nvGrpSpPr>
      <p:grpSpPr>
        <a:xfrm>
          <a:off x="0" y="0"/>
          <a:ext cx="0" cy="0"/>
          <a:chOff x="0" y="0"/>
          <a:chExt cx="0" cy="0"/>
        </a:xfrm>
      </p:grpSpPr>
      <p:pic>
        <p:nvPicPr>
          <p:cNvPr id="118" name="Google Shape;118;p14"/>
          <p:cNvPicPr preferRelativeResize="0"/>
          <p:nvPr/>
        </p:nvPicPr>
        <p:blipFill rotWithShape="1">
          <a:blip r:embed="rId2">
            <a:alphaModFix/>
          </a:blip>
          <a:srcRect b="0" l="0" r="0" t="0"/>
          <a:stretch/>
        </p:blipFill>
        <p:spPr>
          <a:xfrm>
            <a:off x="5196000" y="2529000"/>
            <a:ext cx="1800000" cy="18000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_2">
  <p:cSld name="Final_2">
    <p:bg>
      <p:bgPr>
        <a:solidFill>
          <a:srgbClr val="0E2D69"/>
        </a:solidFill>
      </p:bgPr>
    </p:bg>
    <p:spTree>
      <p:nvGrpSpPr>
        <p:cNvPr id="119" name="Shape 119"/>
        <p:cNvGrpSpPr/>
        <p:nvPr/>
      </p:nvGrpSpPr>
      <p:grpSpPr>
        <a:xfrm>
          <a:off x="0" y="0"/>
          <a:ext cx="0" cy="0"/>
          <a:chOff x="0" y="0"/>
          <a:chExt cx="0" cy="0"/>
        </a:xfrm>
      </p:grpSpPr>
      <p:pic>
        <p:nvPicPr>
          <p:cNvPr id="120" name="Google Shape;120;p15"/>
          <p:cNvPicPr preferRelativeResize="0"/>
          <p:nvPr/>
        </p:nvPicPr>
        <p:blipFill rotWithShape="1">
          <a:blip r:embed="rId2">
            <a:alphaModFix/>
          </a:blip>
          <a:srcRect b="0" l="0" r="0" t="0"/>
          <a:stretch/>
        </p:blipFill>
        <p:spPr>
          <a:xfrm>
            <a:off x="5196000" y="2529000"/>
            <a:ext cx="1800000" cy="18000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3">
  <p:cSld name="Text_3">
    <p:spTree>
      <p:nvGrpSpPr>
        <p:cNvPr id="122" name="Shape 122"/>
        <p:cNvGrpSpPr/>
        <p:nvPr/>
      </p:nvGrpSpPr>
      <p:grpSpPr>
        <a:xfrm>
          <a:off x="0" y="0"/>
          <a:ext cx="0" cy="0"/>
          <a:chOff x="0" y="0"/>
          <a:chExt cx="0" cy="0"/>
        </a:xfrm>
      </p:grpSpPr>
      <p:pic>
        <p:nvPicPr>
          <p:cNvPr id="123" name="Google Shape;123;p17"/>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24" name="Google Shape;124;p17"/>
          <p:cNvSpPr txBox="1"/>
          <p:nvPr>
            <p:ph idx="1"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5" name="Google Shape;125;p17"/>
          <p:cNvSpPr txBox="1"/>
          <p:nvPr>
            <p:ph idx="2"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000"/>
              <a:buFont typeface="Arial"/>
              <a:buNone/>
              <a:defRPr b="0" i="0" sz="10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17"/>
          <p:cNvSpPr txBox="1"/>
          <p:nvPr>
            <p:ph idx="3" type="body"/>
          </p:nvPr>
        </p:nvSpPr>
        <p:spPr>
          <a:xfrm>
            <a:off x="6259892" y="2379663"/>
            <a:ext cx="5383968" cy="3451794"/>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1000"/>
              </a:spcBef>
              <a:spcAft>
                <a:spcPts val="0"/>
              </a:spcAft>
              <a:buClr>
                <a:srgbClr val="0E2D69"/>
              </a:buClr>
              <a:buSzPts val="3200"/>
              <a:buFont typeface="Arial"/>
              <a:buNone/>
              <a:defRPr b="0" i="0" sz="32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7" name="Google Shape;127;p17"/>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8" name="Google Shape;128;p17"/>
          <p:cNvSpPr txBox="1"/>
          <p:nvPr>
            <p:ph idx="4"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9" name="Google Shape;129;p17"/>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bg>
      <p:bgPr>
        <a:blipFill>
          <a:blip r:embed="rId2">
            <a:alphaModFix/>
          </a:blip>
          <a:stretch>
            <a:fillRect/>
          </a:stretch>
        </a:blipFill>
      </p:bgPr>
    </p:bg>
    <p:spTree>
      <p:nvGrpSpPr>
        <p:cNvPr id="130" name="Shape 130"/>
        <p:cNvGrpSpPr/>
        <p:nvPr/>
      </p:nvGrpSpPr>
      <p:grpSpPr>
        <a:xfrm>
          <a:off x="0" y="0"/>
          <a:ext cx="0" cy="0"/>
          <a:chOff x="0" y="0"/>
          <a:chExt cx="0" cy="0"/>
        </a:xfrm>
      </p:grpSpPr>
      <p:pic>
        <p:nvPicPr>
          <p:cNvPr id="131" name="Google Shape;131;p18"/>
          <p:cNvPicPr preferRelativeResize="0"/>
          <p:nvPr/>
        </p:nvPicPr>
        <p:blipFill rotWithShape="1">
          <a:blip r:embed="rId3">
            <a:alphaModFix/>
          </a:blip>
          <a:srcRect b="0" l="0" r="0" t="0"/>
          <a:stretch/>
        </p:blipFill>
        <p:spPr>
          <a:xfrm>
            <a:off x="1013859" y="962173"/>
            <a:ext cx="886499" cy="886499"/>
          </a:xfrm>
          <a:prstGeom prst="rect">
            <a:avLst/>
          </a:prstGeom>
          <a:noFill/>
          <a:ln>
            <a:noFill/>
          </a:ln>
        </p:spPr>
      </p:pic>
      <p:sp>
        <p:nvSpPr>
          <p:cNvPr id="132" name="Google Shape;132;p18"/>
          <p:cNvSpPr txBox="1"/>
          <p:nvPr>
            <p:ph type="title"/>
          </p:nvPr>
        </p:nvSpPr>
        <p:spPr>
          <a:xfrm>
            <a:off x="1027967" y="2404670"/>
            <a:ext cx="7634059" cy="1978323"/>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rgbClr val="0E2D69"/>
              </a:buClr>
              <a:buSzPts val="4300"/>
              <a:buFont typeface="Arial"/>
              <a:buNone/>
              <a:defRPr b="0" i="0" sz="4300" u="none" cap="none" strike="noStrike">
                <a:solidFill>
                  <a:srgbClr val="0E2D6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3" name="Google Shape;133;p18"/>
          <p:cNvSpPr txBox="1"/>
          <p:nvPr>
            <p:ph idx="1" type="body"/>
          </p:nvPr>
        </p:nvSpPr>
        <p:spPr>
          <a:xfrm>
            <a:off x="2074947" y="1187841"/>
            <a:ext cx="3848717" cy="43516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4" name="Google Shape;134;p18"/>
          <p:cNvSpPr txBox="1"/>
          <p:nvPr>
            <p:ph idx="2" type="body"/>
          </p:nvPr>
        </p:nvSpPr>
        <p:spPr>
          <a:xfrm>
            <a:off x="6259420" y="1173829"/>
            <a:ext cx="2278063" cy="46318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E2D69"/>
              </a:buClr>
              <a:buSzPts val="1200"/>
              <a:buFont typeface="Arial"/>
              <a:buNone/>
              <a:defRPr b="0" i="0" sz="12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5" name="Google Shape;135;p18"/>
          <p:cNvSpPr txBox="1"/>
          <p:nvPr>
            <p:ph idx="3" type="body"/>
          </p:nvPr>
        </p:nvSpPr>
        <p:spPr>
          <a:xfrm>
            <a:off x="1027967" y="6189042"/>
            <a:ext cx="2217738" cy="23004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E2D69"/>
              </a:buClr>
              <a:buSzPts val="1200"/>
              <a:buFont typeface="Arial"/>
              <a:buNone/>
              <a:defRPr b="0" i="0" sz="12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6" name="Google Shape;136;p18"/>
          <p:cNvSpPr txBox="1"/>
          <p:nvPr>
            <p:ph idx="4" type="body"/>
          </p:nvPr>
        </p:nvSpPr>
        <p:spPr>
          <a:xfrm>
            <a:off x="1027967" y="4824914"/>
            <a:ext cx="7625267" cy="6528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bg>
      <p:bgPr>
        <a:blipFill>
          <a:blip r:embed="rId2">
            <a:alphaModFix/>
          </a:blip>
          <a:stretch>
            <a:fillRect/>
          </a:stretch>
        </a:blipFill>
      </p:bgPr>
    </p:bg>
    <p:spTree>
      <p:nvGrpSpPr>
        <p:cNvPr id="137" name="Shape 137"/>
        <p:cNvGrpSpPr/>
        <p:nvPr/>
      </p:nvGrpSpPr>
      <p:grpSpPr>
        <a:xfrm>
          <a:off x="0" y="0"/>
          <a:ext cx="0" cy="0"/>
          <a:chOff x="0" y="0"/>
          <a:chExt cx="0" cy="0"/>
        </a:xfrm>
      </p:grpSpPr>
      <p:pic>
        <p:nvPicPr>
          <p:cNvPr id="138" name="Google Shape;138;p19"/>
          <p:cNvPicPr preferRelativeResize="0"/>
          <p:nvPr/>
        </p:nvPicPr>
        <p:blipFill rotWithShape="1">
          <a:blip r:embed="rId3">
            <a:alphaModFix/>
          </a:blip>
          <a:srcRect b="0" l="0" r="0" t="0"/>
          <a:stretch/>
        </p:blipFill>
        <p:spPr>
          <a:xfrm>
            <a:off x="1013859" y="962173"/>
            <a:ext cx="886499" cy="886499"/>
          </a:xfrm>
          <a:prstGeom prst="rect">
            <a:avLst/>
          </a:prstGeom>
          <a:noFill/>
          <a:ln>
            <a:noFill/>
          </a:ln>
        </p:spPr>
      </p:pic>
      <p:sp>
        <p:nvSpPr>
          <p:cNvPr id="139" name="Google Shape;139;p19"/>
          <p:cNvSpPr txBox="1"/>
          <p:nvPr>
            <p:ph type="title"/>
          </p:nvPr>
        </p:nvSpPr>
        <p:spPr>
          <a:xfrm>
            <a:off x="1027967" y="2404670"/>
            <a:ext cx="7634059" cy="1978323"/>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lt1"/>
              </a:buClr>
              <a:buSzPts val="4300"/>
              <a:buFont typeface="Arial"/>
              <a:buNone/>
              <a:defRPr b="0" i="0" sz="43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0" name="Google Shape;140;p19"/>
          <p:cNvSpPr txBox="1"/>
          <p:nvPr>
            <p:ph idx="1" type="body"/>
          </p:nvPr>
        </p:nvSpPr>
        <p:spPr>
          <a:xfrm>
            <a:off x="2074947" y="1187841"/>
            <a:ext cx="3848717" cy="43516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1" name="Google Shape;141;p19"/>
          <p:cNvSpPr txBox="1"/>
          <p:nvPr>
            <p:ph idx="2" type="body"/>
          </p:nvPr>
        </p:nvSpPr>
        <p:spPr>
          <a:xfrm>
            <a:off x="6259420" y="1173829"/>
            <a:ext cx="2278063" cy="46318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2" name="Google Shape;142;p19"/>
          <p:cNvSpPr txBox="1"/>
          <p:nvPr>
            <p:ph idx="3" type="body"/>
          </p:nvPr>
        </p:nvSpPr>
        <p:spPr>
          <a:xfrm>
            <a:off x="1027967" y="6189042"/>
            <a:ext cx="2217738" cy="23004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3" name="Google Shape;143;p19"/>
          <p:cNvSpPr txBox="1"/>
          <p:nvPr>
            <p:ph idx="4" type="body"/>
          </p:nvPr>
        </p:nvSpPr>
        <p:spPr>
          <a:xfrm>
            <a:off x="1027967" y="4824914"/>
            <a:ext cx="7625267" cy="6528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1">
  <p:cSld name="Text_1">
    <p:spTree>
      <p:nvGrpSpPr>
        <p:cNvPr id="144" name="Shape 144"/>
        <p:cNvGrpSpPr/>
        <p:nvPr/>
      </p:nvGrpSpPr>
      <p:grpSpPr>
        <a:xfrm>
          <a:off x="0" y="0"/>
          <a:ext cx="0" cy="0"/>
          <a:chOff x="0" y="0"/>
          <a:chExt cx="0" cy="0"/>
        </a:xfrm>
      </p:grpSpPr>
      <p:pic>
        <p:nvPicPr>
          <p:cNvPr id="145" name="Google Shape;145;p20"/>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46" name="Google Shape;146;p20"/>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
        <p:nvSpPr>
          <p:cNvPr id="147" name="Google Shape;147;p20"/>
          <p:cNvSpPr/>
          <p:nvPr>
            <p:ph idx="2" type="pic"/>
          </p:nvPr>
        </p:nvSpPr>
        <p:spPr>
          <a:xfrm>
            <a:off x="6684653" y="1447790"/>
            <a:ext cx="4325167" cy="4325107"/>
          </a:xfrm>
          <a:prstGeom prst="rect">
            <a:avLst/>
          </a:prstGeom>
          <a:solidFill>
            <a:srgbClr val="D9D9D9"/>
          </a:solidFill>
          <a:ln>
            <a:noFill/>
          </a:ln>
        </p:spPr>
      </p:sp>
      <p:sp>
        <p:nvSpPr>
          <p:cNvPr id="148" name="Google Shape;148;p20"/>
          <p:cNvSpPr txBox="1"/>
          <p:nvPr>
            <p:ph type="title"/>
          </p:nvPr>
        </p:nvSpPr>
        <p:spPr>
          <a:xfrm>
            <a:off x="585898" y="1447790"/>
            <a:ext cx="5245560"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9" name="Google Shape;149;p20"/>
          <p:cNvSpPr txBox="1"/>
          <p:nvPr>
            <p:ph idx="1" type="body"/>
          </p:nvPr>
        </p:nvSpPr>
        <p:spPr>
          <a:xfrm>
            <a:off x="585897" y="2379663"/>
            <a:ext cx="5245561" cy="3393234"/>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0" name="Google Shape;150;p20"/>
          <p:cNvSpPr txBox="1"/>
          <p:nvPr>
            <p:ph idx="3" type="body"/>
          </p:nvPr>
        </p:nvSpPr>
        <p:spPr>
          <a:xfrm>
            <a:off x="1143688" y="540904"/>
            <a:ext cx="2174547"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2">
  <p:cSld name="Text_2">
    <p:spTree>
      <p:nvGrpSpPr>
        <p:cNvPr id="151" name="Shape 151"/>
        <p:cNvGrpSpPr/>
        <p:nvPr/>
      </p:nvGrpSpPr>
      <p:grpSpPr>
        <a:xfrm>
          <a:off x="0" y="0"/>
          <a:ext cx="0" cy="0"/>
          <a:chOff x="0" y="0"/>
          <a:chExt cx="0" cy="0"/>
        </a:xfrm>
      </p:grpSpPr>
      <p:pic>
        <p:nvPicPr>
          <p:cNvPr id="152" name="Google Shape;152;p21"/>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53" name="Google Shape;153;p21"/>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4" name="Google Shape;154;p21"/>
          <p:cNvSpPr txBox="1"/>
          <p:nvPr>
            <p:ph idx="1" type="body"/>
          </p:nvPr>
        </p:nvSpPr>
        <p:spPr>
          <a:xfrm>
            <a:off x="585897" y="2379663"/>
            <a:ext cx="11057971" cy="3745092"/>
          </a:xfrm>
          <a:prstGeom prst="rect">
            <a:avLst/>
          </a:prstGeom>
          <a:noFill/>
          <a:ln>
            <a:noFill/>
          </a:ln>
        </p:spPr>
        <p:txBody>
          <a:bodyPr anchorCtr="0" anchor="t" bIns="45700" lIns="0" spcFirstLastPara="1" rIns="0" wrap="square" tIns="0">
            <a:noAutofit/>
          </a:bodyPr>
          <a:lstStyle>
            <a:lvl1pPr indent="-228600" lvl="0" marL="457200" marR="0" rtl="0" algn="l">
              <a:lnSpc>
                <a:spcPct val="100000"/>
              </a:lnSpc>
              <a:spcBef>
                <a:spcPts val="12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5" name="Google Shape;155;p21"/>
          <p:cNvSpPr txBox="1"/>
          <p:nvPr>
            <p:ph idx="2"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6" name="Google Shape;156;p21"/>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hart_1">
  <p:cSld name="Сhart_1">
    <p:spTree>
      <p:nvGrpSpPr>
        <p:cNvPr id="157" name="Shape 157"/>
        <p:cNvGrpSpPr/>
        <p:nvPr/>
      </p:nvGrpSpPr>
      <p:grpSpPr>
        <a:xfrm>
          <a:off x="0" y="0"/>
          <a:ext cx="0" cy="0"/>
          <a:chOff x="0" y="0"/>
          <a:chExt cx="0" cy="0"/>
        </a:xfrm>
      </p:grpSpPr>
      <p:pic>
        <p:nvPicPr>
          <p:cNvPr id="158" name="Google Shape;158;p22"/>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59" name="Google Shape;159;p22"/>
          <p:cNvSpPr txBox="1"/>
          <p:nvPr>
            <p:ph type="title"/>
          </p:nvPr>
        </p:nvSpPr>
        <p:spPr>
          <a:xfrm>
            <a:off x="585899" y="1447790"/>
            <a:ext cx="4322530"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0" name="Google Shape;160;p22"/>
          <p:cNvSpPr txBox="1"/>
          <p:nvPr>
            <p:ph idx="1"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1" name="Google Shape;161;p22"/>
          <p:cNvSpPr txBox="1"/>
          <p:nvPr>
            <p:ph idx="2"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000"/>
              <a:buFont typeface="Arial"/>
              <a:buNone/>
              <a:defRPr b="0" i="0" sz="10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 name="Google Shape;162;p22"/>
          <p:cNvSpPr/>
          <p:nvPr>
            <p:ph idx="3" type="chart"/>
          </p:nvPr>
        </p:nvSpPr>
        <p:spPr>
          <a:xfrm>
            <a:off x="5272097" y="1447790"/>
            <a:ext cx="6371768" cy="428945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3" name="Google Shape;163;p22"/>
          <p:cNvSpPr txBox="1"/>
          <p:nvPr>
            <p:ph idx="4" type="body"/>
          </p:nvPr>
        </p:nvSpPr>
        <p:spPr>
          <a:xfrm>
            <a:off x="1143688" y="540904"/>
            <a:ext cx="2174547"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4" name="Google Shape;164;p22"/>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hart_2">
  <p:cSld name="Сhart_2">
    <p:spTree>
      <p:nvGrpSpPr>
        <p:cNvPr id="165" name="Shape 165"/>
        <p:cNvGrpSpPr/>
        <p:nvPr/>
      </p:nvGrpSpPr>
      <p:grpSpPr>
        <a:xfrm>
          <a:off x="0" y="0"/>
          <a:ext cx="0" cy="0"/>
          <a:chOff x="0" y="0"/>
          <a:chExt cx="0" cy="0"/>
        </a:xfrm>
      </p:grpSpPr>
      <p:pic>
        <p:nvPicPr>
          <p:cNvPr id="166" name="Google Shape;166;p23"/>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67" name="Google Shape;167;p23"/>
          <p:cNvSpPr txBox="1"/>
          <p:nvPr>
            <p:ph idx="1"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000"/>
              <a:buFont typeface="Arial"/>
              <a:buNone/>
              <a:defRPr b="0" i="0" sz="10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8" name="Google Shape;168;p23"/>
          <p:cNvSpPr/>
          <p:nvPr>
            <p:ph idx="2" type="chart"/>
          </p:nvPr>
        </p:nvSpPr>
        <p:spPr>
          <a:xfrm>
            <a:off x="5272097" y="1447790"/>
            <a:ext cx="6371768" cy="428945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23"/>
          <p:cNvSpPr txBox="1"/>
          <p:nvPr>
            <p:ph idx="3" type="body"/>
          </p:nvPr>
        </p:nvSpPr>
        <p:spPr>
          <a:xfrm>
            <a:off x="585788" y="1447064"/>
            <a:ext cx="4322762" cy="70320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30200" lvl="1" marL="9144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2pPr>
            <a:lvl3pPr indent="-330200" lvl="2" marL="13716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3pPr>
            <a:lvl4pPr indent="-330200" lvl="3" marL="18288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4pPr>
            <a:lvl5pPr indent="-330200" lvl="4" marL="22860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0" name="Google Shape;170;p23"/>
          <p:cNvSpPr txBox="1"/>
          <p:nvPr>
            <p:ph idx="4"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1" name="Google Shape;171;p23"/>
          <p:cNvSpPr txBox="1"/>
          <p:nvPr>
            <p:ph idx="5"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2" name="Google Shape;172;p23"/>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p:cSld name="Numbers">
    <p:spTree>
      <p:nvGrpSpPr>
        <p:cNvPr id="173" name="Shape 173"/>
        <p:cNvGrpSpPr/>
        <p:nvPr/>
      </p:nvGrpSpPr>
      <p:grpSpPr>
        <a:xfrm>
          <a:off x="0" y="0"/>
          <a:ext cx="0" cy="0"/>
          <a:chOff x="0" y="0"/>
          <a:chExt cx="0" cy="0"/>
        </a:xfrm>
      </p:grpSpPr>
      <p:pic>
        <p:nvPicPr>
          <p:cNvPr id="174" name="Google Shape;174;p24"/>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75" name="Google Shape;175;p24"/>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6" name="Google Shape;176;p24"/>
          <p:cNvSpPr txBox="1"/>
          <p:nvPr>
            <p:ph idx="1" type="body"/>
          </p:nvPr>
        </p:nvSpPr>
        <p:spPr>
          <a:xfrm>
            <a:off x="575076" y="4103994"/>
            <a:ext cx="2758143" cy="156966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7" name="Google Shape;177;p24"/>
          <p:cNvSpPr txBox="1"/>
          <p:nvPr>
            <p:ph idx="2" type="body"/>
          </p:nvPr>
        </p:nvSpPr>
        <p:spPr>
          <a:xfrm>
            <a:off x="4047007" y="4103994"/>
            <a:ext cx="2757612" cy="156966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8" name="Google Shape;178;p24"/>
          <p:cNvSpPr txBox="1"/>
          <p:nvPr>
            <p:ph idx="3" type="body"/>
          </p:nvPr>
        </p:nvSpPr>
        <p:spPr>
          <a:xfrm>
            <a:off x="7518938" y="4103994"/>
            <a:ext cx="2757612" cy="156966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9" name="Google Shape;179;p24"/>
          <p:cNvSpPr txBox="1"/>
          <p:nvPr>
            <p:ph idx="4" type="body"/>
          </p:nvPr>
        </p:nvSpPr>
        <p:spPr>
          <a:xfrm>
            <a:off x="575076" y="2710235"/>
            <a:ext cx="2758143" cy="116411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9600"/>
              <a:buFont typeface="Arial"/>
              <a:buNone/>
              <a:defRPr b="0" i="0" sz="9600" u="none" cap="none" strike="noStrike">
                <a:solidFill>
                  <a:schemeClr val="dk1"/>
                </a:solidFill>
                <a:latin typeface="Arial"/>
                <a:ea typeface="Arial"/>
                <a:cs typeface="Arial"/>
                <a:sym typeface="Arial"/>
              </a:defRPr>
            </a:lvl1pPr>
            <a:lvl2pPr indent="-838200" lvl="1" marL="9144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2pPr>
            <a:lvl3pPr indent="-838200" lvl="2" marL="13716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3pPr>
            <a:lvl4pPr indent="-838200" lvl="3" marL="18288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4pPr>
            <a:lvl5pPr indent="-838200" lvl="4" marL="22860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0" name="Google Shape;180;p24"/>
          <p:cNvSpPr txBox="1"/>
          <p:nvPr>
            <p:ph idx="5" type="body"/>
          </p:nvPr>
        </p:nvSpPr>
        <p:spPr>
          <a:xfrm>
            <a:off x="4047007" y="2710235"/>
            <a:ext cx="2758143" cy="116411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9600"/>
              <a:buFont typeface="Arial"/>
              <a:buNone/>
              <a:defRPr b="0" i="0" sz="9600" u="none" cap="none" strike="noStrike">
                <a:solidFill>
                  <a:schemeClr val="dk1"/>
                </a:solidFill>
                <a:latin typeface="Arial"/>
                <a:ea typeface="Arial"/>
                <a:cs typeface="Arial"/>
                <a:sym typeface="Arial"/>
              </a:defRPr>
            </a:lvl1pPr>
            <a:lvl2pPr indent="-838200" lvl="1" marL="9144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2pPr>
            <a:lvl3pPr indent="-838200" lvl="2" marL="13716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3pPr>
            <a:lvl4pPr indent="-838200" lvl="3" marL="18288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4pPr>
            <a:lvl5pPr indent="-838200" lvl="4" marL="22860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24"/>
          <p:cNvSpPr txBox="1"/>
          <p:nvPr>
            <p:ph idx="6" type="body"/>
          </p:nvPr>
        </p:nvSpPr>
        <p:spPr>
          <a:xfrm>
            <a:off x="7518938" y="2710235"/>
            <a:ext cx="2758143" cy="116411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9600"/>
              <a:buFont typeface="Arial"/>
              <a:buNone/>
              <a:defRPr b="0" i="0" sz="9600" u="none" cap="none" strike="noStrike">
                <a:solidFill>
                  <a:schemeClr val="dk1"/>
                </a:solidFill>
                <a:latin typeface="Arial"/>
                <a:ea typeface="Arial"/>
                <a:cs typeface="Arial"/>
                <a:sym typeface="Arial"/>
              </a:defRPr>
            </a:lvl1pPr>
            <a:lvl2pPr indent="-838200" lvl="1" marL="9144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2pPr>
            <a:lvl3pPr indent="-838200" lvl="2" marL="13716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3pPr>
            <a:lvl4pPr indent="-838200" lvl="3" marL="18288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4pPr>
            <a:lvl5pPr indent="-838200" lvl="4" marL="22860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24"/>
          <p:cNvSpPr txBox="1"/>
          <p:nvPr>
            <p:ph idx="7" type="body"/>
          </p:nvPr>
        </p:nvSpPr>
        <p:spPr>
          <a:xfrm>
            <a:off x="1143689" y="540904"/>
            <a:ext cx="2189530"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3" name="Google Shape;183;p24"/>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184" name="Shape 184"/>
        <p:cNvGrpSpPr/>
        <p:nvPr/>
      </p:nvGrpSpPr>
      <p:grpSpPr>
        <a:xfrm>
          <a:off x="0" y="0"/>
          <a:ext cx="0" cy="0"/>
          <a:chOff x="0" y="0"/>
          <a:chExt cx="0" cy="0"/>
        </a:xfrm>
      </p:grpSpPr>
      <p:pic>
        <p:nvPicPr>
          <p:cNvPr id="185" name="Google Shape;185;p25"/>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86" name="Google Shape;186;p25"/>
          <p:cNvSpPr txBox="1"/>
          <p:nvPr>
            <p:ph idx="1" type="body"/>
          </p:nvPr>
        </p:nvSpPr>
        <p:spPr>
          <a:xfrm>
            <a:off x="585787" y="1447065"/>
            <a:ext cx="11058065" cy="307778"/>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30200" lvl="1" marL="9144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2pPr>
            <a:lvl3pPr indent="-330200" lvl="2" marL="13716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3pPr>
            <a:lvl4pPr indent="-330200" lvl="3" marL="18288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4pPr>
            <a:lvl5pPr indent="-330200" lvl="4" marL="22860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7" name="Google Shape;187;p25"/>
          <p:cNvSpPr txBox="1"/>
          <p:nvPr>
            <p:ph idx="2" type="body"/>
          </p:nvPr>
        </p:nvSpPr>
        <p:spPr>
          <a:xfrm>
            <a:off x="585788" y="5739189"/>
            <a:ext cx="6824303" cy="703205"/>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6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311150" lvl="1" marL="9144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2pPr>
            <a:lvl3pPr indent="-311150" lvl="2" marL="13716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3pPr>
            <a:lvl4pPr indent="-311150" lvl="3" marL="18288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4pPr>
            <a:lvl5pPr indent="-311150" lvl="4" marL="22860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8" name="Google Shape;188;p25"/>
          <p:cNvSpPr/>
          <p:nvPr>
            <p:ph idx="3" type="tbl"/>
          </p:nvPr>
        </p:nvSpPr>
        <p:spPr>
          <a:xfrm>
            <a:off x="585787" y="1984076"/>
            <a:ext cx="11058527" cy="351957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9" name="Google Shape;189;p25"/>
          <p:cNvSpPr txBox="1"/>
          <p:nvPr>
            <p:ph idx="4"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0" name="Google Shape;190;p25"/>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2">
  <p:cSld name="Table_2">
    <p:spTree>
      <p:nvGrpSpPr>
        <p:cNvPr id="191" name="Shape 191"/>
        <p:cNvGrpSpPr/>
        <p:nvPr/>
      </p:nvGrpSpPr>
      <p:grpSpPr>
        <a:xfrm>
          <a:off x="0" y="0"/>
          <a:ext cx="0" cy="0"/>
          <a:chOff x="0" y="0"/>
          <a:chExt cx="0" cy="0"/>
        </a:xfrm>
      </p:grpSpPr>
      <p:pic>
        <p:nvPicPr>
          <p:cNvPr id="192" name="Google Shape;192;p26"/>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93" name="Google Shape;193;p26"/>
          <p:cNvSpPr txBox="1"/>
          <p:nvPr>
            <p:ph idx="1" type="body"/>
          </p:nvPr>
        </p:nvSpPr>
        <p:spPr>
          <a:xfrm>
            <a:off x="585787" y="1447064"/>
            <a:ext cx="7617877" cy="537011"/>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30200" lvl="1" marL="9144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2pPr>
            <a:lvl3pPr indent="-330200" lvl="2" marL="13716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3pPr>
            <a:lvl4pPr indent="-330200" lvl="3" marL="18288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4pPr>
            <a:lvl5pPr indent="-330200" lvl="4" marL="22860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4" name="Google Shape;194;p26"/>
          <p:cNvSpPr txBox="1"/>
          <p:nvPr>
            <p:ph idx="2" type="body"/>
          </p:nvPr>
        </p:nvSpPr>
        <p:spPr>
          <a:xfrm>
            <a:off x="585788" y="5739189"/>
            <a:ext cx="6824303" cy="703205"/>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6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311150" lvl="1" marL="9144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2pPr>
            <a:lvl3pPr indent="-311150" lvl="2" marL="13716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3pPr>
            <a:lvl4pPr indent="-311150" lvl="3" marL="18288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4pPr>
            <a:lvl5pPr indent="-311150" lvl="4" marL="22860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5" name="Google Shape;195;p26"/>
          <p:cNvSpPr/>
          <p:nvPr>
            <p:ph idx="3" type="tbl"/>
          </p:nvPr>
        </p:nvSpPr>
        <p:spPr>
          <a:xfrm>
            <a:off x="585787" y="2208362"/>
            <a:ext cx="7617895" cy="329529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6" name="Google Shape;196;p26"/>
          <p:cNvSpPr txBox="1"/>
          <p:nvPr>
            <p:ph idx="4" type="body"/>
          </p:nvPr>
        </p:nvSpPr>
        <p:spPr>
          <a:xfrm>
            <a:off x="8686807" y="2208363"/>
            <a:ext cx="2930666" cy="2570672"/>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7" name="Google Shape;197;p26"/>
          <p:cNvSpPr txBox="1"/>
          <p:nvPr>
            <p:ph idx="5"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8" name="Google Shape;198;p26"/>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s">
  <p:cSld name="Colors">
    <p:spTree>
      <p:nvGrpSpPr>
        <p:cNvPr id="199" name="Shape 199"/>
        <p:cNvGrpSpPr/>
        <p:nvPr/>
      </p:nvGrpSpPr>
      <p:grpSpPr>
        <a:xfrm>
          <a:off x="0" y="0"/>
          <a:ext cx="0" cy="0"/>
          <a:chOff x="0" y="0"/>
          <a:chExt cx="0" cy="0"/>
        </a:xfrm>
      </p:grpSpPr>
      <p:pic>
        <p:nvPicPr>
          <p:cNvPr id="200" name="Google Shape;200;p27"/>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201" name="Google Shape;201;p27"/>
          <p:cNvSpPr txBox="1"/>
          <p:nvPr>
            <p:ph type="title"/>
          </p:nvPr>
        </p:nvSpPr>
        <p:spPr>
          <a:xfrm>
            <a:off x="585899" y="1447790"/>
            <a:ext cx="4322530"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2" name="Google Shape;202;p27"/>
          <p:cNvSpPr txBox="1"/>
          <p:nvPr>
            <p:ph idx="1"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3" name="Google Shape;203;p27"/>
          <p:cNvSpPr/>
          <p:nvPr/>
        </p:nvSpPr>
        <p:spPr>
          <a:xfrm>
            <a:off x="5392982" y="1447790"/>
            <a:ext cx="830997" cy="830997"/>
          </a:xfrm>
          <a:prstGeom prst="ellipse">
            <a:avLst/>
          </a:prstGeom>
          <a:solidFill>
            <a:srgbClr val="0E2D6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4" name="Google Shape;204;p27"/>
          <p:cNvSpPr/>
          <p:nvPr/>
        </p:nvSpPr>
        <p:spPr>
          <a:xfrm>
            <a:off x="6742925" y="1447790"/>
            <a:ext cx="830997" cy="830997"/>
          </a:xfrm>
          <a:prstGeom prst="ellipse">
            <a:avLst/>
          </a:prstGeom>
          <a:solidFill>
            <a:srgbClr val="234A9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5" name="Google Shape;205;p27"/>
          <p:cNvSpPr/>
          <p:nvPr/>
        </p:nvSpPr>
        <p:spPr>
          <a:xfrm>
            <a:off x="8092868" y="1447790"/>
            <a:ext cx="830997" cy="830997"/>
          </a:xfrm>
          <a:prstGeom prst="ellipse">
            <a:avLst/>
          </a:prstGeom>
          <a:solidFill>
            <a:srgbClr val="11A0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6" name="Google Shape;206;p27"/>
          <p:cNvSpPr/>
          <p:nvPr/>
        </p:nvSpPr>
        <p:spPr>
          <a:xfrm>
            <a:off x="9442811" y="1447790"/>
            <a:ext cx="830997" cy="830997"/>
          </a:xfrm>
          <a:prstGeom prst="ellipse">
            <a:avLst/>
          </a:prstGeom>
          <a:solidFill>
            <a:srgbClr val="029C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7" name="Google Shape;207;p27"/>
          <p:cNvSpPr/>
          <p:nvPr/>
        </p:nvSpPr>
        <p:spPr>
          <a:xfrm>
            <a:off x="10792754" y="1447790"/>
            <a:ext cx="830997" cy="830997"/>
          </a:xfrm>
          <a:prstGeom prst="ellipse">
            <a:avLst/>
          </a:prstGeom>
          <a:solidFill>
            <a:srgbClr val="EB68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8" name="Google Shape;208;p27"/>
          <p:cNvSpPr/>
          <p:nvPr/>
        </p:nvSpPr>
        <p:spPr>
          <a:xfrm>
            <a:off x="5392982" y="2708699"/>
            <a:ext cx="830997" cy="830997"/>
          </a:xfrm>
          <a:prstGeom prst="ellipse">
            <a:avLst/>
          </a:prstGeom>
          <a:solidFill>
            <a:srgbClr val="7D4E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9" name="Google Shape;209;p27"/>
          <p:cNvSpPr/>
          <p:nvPr/>
        </p:nvSpPr>
        <p:spPr>
          <a:xfrm>
            <a:off x="6742925" y="2708699"/>
            <a:ext cx="830997" cy="830997"/>
          </a:xfrm>
          <a:prstGeom prst="ellipse">
            <a:avLst/>
          </a:prstGeom>
          <a:solidFill>
            <a:srgbClr val="E61F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0" name="Google Shape;210;p27"/>
          <p:cNvSpPr/>
          <p:nvPr/>
        </p:nvSpPr>
        <p:spPr>
          <a:xfrm>
            <a:off x="8092868" y="2708699"/>
            <a:ext cx="830997" cy="830997"/>
          </a:xfrm>
          <a:prstGeom prst="ellipse">
            <a:avLst/>
          </a:prstGeom>
          <a:solidFill>
            <a:srgbClr val="FBBA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1" name="Google Shape;211;p27"/>
          <p:cNvSpPr/>
          <p:nvPr/>
        </p:nvSpPr>
        <p:spPr>
          <a:xfrm>
            <a:off x="9442811" y="2708699"/>
            <a:ext cx="830997" cy="830997"/>
          </a:xfrm>
          <a:prstGeom prst="ellipse">
            <a:avLst/>
          </a:prstGeom>
          <a:solidFill>
            <a:srgbClr val="7DA0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2" name="Google Shape;212;p27"/>
          <p:cNvSpPr/>
          <p:nvPr/>
        </p:nvSpPr>
        <p:spPr>
          <a:xfrm>
            <a:off x="10792754" y="2708699"/>
            <a:ext cx="830997" cy="830997"/>
          </a:xfrm>
          <a:prstGeom prst="ellipse">
            <a:avLst/>
          </a:prstGeom>
          <a:solidFill>
            <a:srgbClr val="47A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3" name="Google Shape;213;p27"/>
          <p:cNvSpPr/>
          <p:nvPr/>
        </p:nvSpPr>
        <p:spPr>
          <a:xfrm>
            <a:off x="5392982" y="3969609"/>
            <a:ext cx="830997" cy="830997"/>
          </a:xfrm>
          <a:prstGeom prst="ellipse">
            <a:avLst/>
          </a:prstGeom>
          <a:solidFill>
            <a:srgbClr val="EB8C3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4" name="Google Shape;214;p27"/>
          <p:cNvSpPr/>
          <p:nvPr/>
        </p:nvSpPr>
        <p:spPr>
          <a:xfrm>
            <a:off x="6742925" y="3969609"/>
            <a:ext cx="830997" cy="830997"/>
          </a:xfrm>
          <a:prstGeom prst="ellipse">
            <a:avLst/>
          </a:prstGeom>
          <a:solidFill>
            <a:srgbClr val="9662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 name="Google Shape;215;p27"/>
          <p:cNvSpPr/>
          <p:nvPr/>
        </p:nvSpPr>
        <p:spPr>
          <a:xfrm>
            <a:off x="8092868" y="3969609"/>
            <a:ext cx="830997" cy="830997"/>
          </a:xfrm>
          <a:prstGeom prst="ellipse">
            <a:avLst/>
          </a:prstGeom>
          <a:solidFill>
            <a:srgbClr val="CD5A5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6" name="Google Shape;216;p27"/>
          <p:cNvSpPr/>
          <p:nvPr/>
        </p:nvSpPr>
        <p:spPr>
          <a:xfrm>
            <a:off x="9442811" y="3969609"/>
            <a:ext cx="830997" cy="830997"/>
          </a:xfrm>
          <a:prstGeom prst="ellipse">
            <a:avLst/>
          </a:prstGeom>
          <a:solidFill>
            <a:srgbClr val="FFD7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7" name="Google Shape;217;p27"/>
          <p:cNvSpPr/>
          <p:nvPr/>
        </p:nvSpPr>
        <p:spPr>
          <a:xfrm>
            <a:off x="10792754" y="3969609"/>
            <a:ext cx="830997" cy="830997"/>
          </a:xfrm>
          <a:prstGeom prst="ellipse">
            <a:avLst/>
          </a:prstGeom>
          <a:solidFill>
            <a:srgbClr val="CDDD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 name="Google Shape;218;p27"/>
          <p:cNvSpPr/>
          <p:nvPr/>
        </p:nvSpPr>
        <p:spPr>
          <a:xfrm>
            <a:off x="5392982" y="5249769"/>
            <a:ext cx="830997" cy="830997"/>
          </a:xfrm>
          <a:prstGeom prst="ellipse">
            <a:avLst/>
          </a:prstGeom>
          <a:solidFill>
            <a:srgbClr val="D7EB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 name="Google Shape;219;p27"/>
          <p:cNvSpPr/>
          <p:nvPr/>
        </p:nvSpPr>
        <p:spPr>
          <a:xfrm>
            <a:off x="6742925" y="5249769"/>
            <a:ext cx="830997" cy="830997"/>
          </a:xfrm>
          <a:prstGeom prst="ellipse">
            <a:avLst/>
          </a:prstGeom>
          <a:solidFill>
            <a:srgbClr val="FFDC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0" name="Google Shape;220;p27"/>
          <p:cNvSpPr/>
          <p:nvPr/>
        </p:nvSpPr>
        <p:spPr>
          <a:xfrm>
            <a:off x="8092868" y="5249769"/>
            <a:ext cx="830997" cy="830997"/>
          </a:xfrm>
          <a:prstGeom prst="ellipse">
            <a:avLst/>
          </a:prstGeom>
          <a:solidFill>
            <a:srgbClr val="D7C3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1" name="Google Shape;221;p27"/>
          <p:cNvSpPr/>
          <p:nvPr/>
        </p:nvSpPr>
        <p:spPr>
          <a:xfrm>
            <a:off x="9442811" y="5249769"/>
            <a:ext cx="830997" cy="830997"/>
          </a:xfrm>
          <a:prstGeom prst="ellipse">
            <a:avLst/>
          </a:prstGeom>
          <a:solidFill>
            <a:srgbClr val="F6C3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2" name="Google Shape;222;p27"/>
          <p:cNvSpPr/>
          <p:nvPr/>
        </p:nvSpPr>
        <p:spPr>
          <a:xfrm>
            <a:off x="10792754" y="5249769"/>
            <a:ext cx="830997" cy="830997"/>
          </a:xfrm>
          <a:prstGeom prst="ellipse">
            <a:avLst/>
          </a:prstGeom>
          <a:solidFill>
            <a:srgbClr val="FFF0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3" name="Google Shape;223;p27"/>
          <p:cNvSpPr txBox="1"/>
          <p:nvPr>
            <p:ph idx="2"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4" name="Google Shape;224;p27"/>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ean">
  <p:cSld name="Clean">
    <p:spTree>
      <p:nvGrpSpPr>
        <p:cNvPr id="225" name="Shape 225"/>
        <p:cNvGrpSpPr/>
        <p:nvPr/>
      </p:nvGrpSpPr>
      <p:grpSpPr>
        <a:xfrm>
          <a:off x="0" y="0"/>
          <a:ext cx="0" cy="0"/>
          <a:chOff x="0" y="0"/>
          <a:chExt cx="0" cy="0"/>
        </a:xfrm>
      </p:grpSpPr>
      <p:pic>
        <p:nvPicPr>
          <p:cNvPr id="226" name="Google Shape;226;p28"/>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227" name="Google Shape;227;p28"/>
          <p:cNvSpPr txBox="1"/>
          <p:nvPr>
            <p:ph idx="1"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8" name="Google Shape;228;p28"/>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_1">
  <p:cSld name="Final_1">
    <p:spTree>
      <p:nvGrpSpPr>
        <p:cNvPr id="229" name="Shape 229"/>
        <p:cNvGrpSpPr/>
        <p:nvPr/>
      </p:nvGrpSpPr>
      <p:grpSpPr>
        <a:xfrm>
          <a:off x="0" y="0"/>
          <a:ext cx="0" cy="0"/>
          <a:chOff x="0" y="0"/>
          <a:chExt cx="0" cy="0"/>
        </a:xfrm>
      </p:grpSpPr>
      <p:pic>
        <p:nvPicPr>
          <p:cNvPr id="230" name="Google Shape;230;p29"/>
          <p:cNvPicPr preferRelativeResize="0"/>
          <p:nvPr/>
        </p:nvPicPr>
        <p:blipFill rotWithShape="1">
          <a:blip r:embed="rId2">
            <a:alphaModFix/>
          </a:blip>
          <a:srcRect b="0" l="0" r="0" t="0"/>
          <a:stretch/>
        </p:blipFill>
        <p:spPr>
          <a:xfrm>
            <a:off x="5196000" y="2529000"/>
            <a:ext cx="1800000" cy="1800000"/>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_2">
  <p:cSld name="Final_2">
    <p:bg>
      <p:bgPr>
        <a:solidFill>
          <a:srgbClr val="0E2D69"/>
        </a:solidFill>
      </p:bgPr>
    </p:bg>
    <p:spTree>
      <p:nvGrpSpPr>
        <p:cNvPr id="231" name="Shape 231"/>
        <p:cNvGrpSpPr/>
        <p:nvPr/>
      </p:nvGrpSpPr>
      <p:grpSpPr>
        <a:xfrm>
          <a:off x="0" y="0"/>
          <a:ext cx="0" cy="0"/>
          <a:chOff x="0" y="0"/>
          <a:chExt cx="0" cy="0"/>
        </a:xfrm>
      </p:grpSpPr>
      <p:pic>
        <p:nvPicPr>
          <p:cNvPr id="232" name="Google Shape;232;p30"/>
          <p:cNvPicPr preferRelativeResize="0"/>
          <p:nvPr/>
        </p:nvPicPr>
        <p:blipFill rotWithShape="1">
          <a:blip r:embed="rId2">
            <a:alphaModFix/>
          </a:blip>
          <a:srcRect b="0" l="0" r="0" t="0"/>
          <a:stretch/>
        </p:blipFill>
        <p:spPr>
          <a:xfrm>
            <a:off x="5196000" y="2529000"/>
            <a:ext cx="1800000" cy="1800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FLOW TOXICITY AND LIQUIDITY IN A HIGH-FREQUENCY WORLD</a:t>
            </a:r>
          </a:p>
        </p:txBody>
      </p:sp>
      <p:sp>
        <p:nvSpPr>
          <p:cNvPr id="3" name="Text Placeholder 2"/>
          <p:cNvSpPr>
            <a:spLocks noGrp="1"/>
          </p:cNvSpPr>
          <p:nvPr>
            <p:ph type="body" idx="1"/>
          </p:nvPr>
        </p:nvSpPr>
        <p:spPr/>
        <p:txBody>
          <a:bodyPr/>
          <a:lstStyle/>
          <a:p>
            <a:r>
              <a:t>Research Seminar</a:t>
            </a:r>
          </a:p>
        </p:txBody>
      </p:sp>
      <p:sp>
        <p:nvSpPr>
          <p:cNvPr id="4" name="Text Placeholder 3"/>
          <p:cNvSpPr>
            <a:spLocks noGrp="1"/>
          </p:cNvSpPr>
          <p:nvPr>
            <p:ph type="body" idx="2"/>
          </p:nvPr>
        </p:nvSpPr>
        <p:spPr/>
        <p:txBody>
          <a:bodyPr/>
          <a:lstStyle/>
          <a:p>
            <a:r>
              <a:t>Group N</a:t>
            </a:r>
          </a:p>
        </p:txBody>
      </p:sp>
      <p:sp>
        <p:nvSpPr>
          <p:cNvPr id="6" name="Text Placeholder 5"/>
          <p:cNvSpPr>
            <a:spLocks noGrp="1"/>
          </p:cNvSpPr>
          <p:nvPr>
            <p:ph type="body" idx="4"/>
          </p:nvPr>
        </p:nvSpPr>
        <p:spPr/>
        <p:txBody>
          <a:bodyPr/>
          <a:lstStyle/>
          <a:p>
            <a:r>
              <a:t>DAVID EASLEY, MARCOS LÓPEZ DE PRADO AND MAUREEN O'HARA</a:t>
            </a:r>
          </a:p>
        </p:txBody>
      </p:sp>
      <p:sp>
        <p:nvSpPr>
          <p:cNvPr id="7" name="TextBox 6"/>
          <p:cNvSpPr txBox="1"/>
          <p:nvPr/>
        </p:nvSpPr>
        <p:spPr>
          <a:xfrm>
            <a:off x="1024128" y="5486400"/>
            <a:ext cx="6400800" cy="914400"/>
          </a:xfrm>
          <a:prstGeom prst="rect">
            <a:avLst/>
          </a:prstGeom>
          <a:noFill/>
        </p:spPr>
        <p:txBody>
          <a:bodyPr wrap="square" anchor="t" lIns="45720" rIns="45720">
            <a:spAutoFit/>
          </a:bodyPr>
          <a:lstStyle/>
          <a:p>
            <a:pPr algn="l">
              <a:spcAft>
                <a:spcPts val="600"/>
              </a:spcAft>
            </a:pPr>
            <a:r>
              <a:rPr sz="1400" b="0">
                <a:solidFill>
                  <a:srgbClr val="0F2C68"/>
                </a:solidFill>
              </a:rPr>
              <a:t>Review of Financial Studies 25(5), 2012</a:t>
            </a:r>
          </a:p>
          <a:p>
            <a:pPr algn="l">
              <a:spcAft>
                <a:spcPts val="600"/>
              </a:spcAft>
            </a:pPr>
            <a:r>
              <a:rPr sz="1400" b="0">
                <a:solidFill>
                  <a:srgbClr val="595959"/>
                </a:solidFill>
              </a:rPr>
              <a:t>Name Surname · Name Surname · Name Surname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toxic order flow matters</a:t>
            </a:r>
          </a:p>
        </p:txBody>
      </p:sp>
      <p:sp>
        <p:nvSpPr>
          <p:cNvPr id="4" name="Text Placeholder 3"/>
          <p:cNvSpPr>
            <a:spLocks noGrp="1"/>
          </p:cNvSpPr>
          <p:nvPr>
            <p:ph type="body" idx="2"/>
          </p:nvPr>
        </p:nvSpPr>
        <p:spPr/>
        <p:txBody>
          <a:bodyPr/>
          <a:lstStyle/>
          <a:p>
            <a:r>
              <a:t>Research Seminar</a:t>
            </a:r>
          </a:p>
        </p:txBody>
      </p:sp>
      <p:sp>
        <p:nvSpPr>
          <p:cNvPr id="5" name="TextBox 4"/>
          <p:cNvSpPr txBox="1"/>
          <p:nvPr/>
        </p:nvSpPr>
        <p:spPr>
          <a:xfrm>
            <a:off x="585216" y="2240280"/>
            <a:ext cx="6400800" cy="4023360"/>
          </a:xfrm>
          <a:prstGeom prst="rect">
            <a:avLst/>
          </a:prstGeom>
          <a:noFill/>
        </p:spPr>
        <p:txBody>
          <a:bodyPr wrap="square" anchor="t" lIns="45720" rIns="45720">
            <a:spAutoFit/>
          </a:bodyPr>
          <a:lstStyle/>
          <a:p>
            <a:pPr algn="l">
              <a:spcAft>
                <a:spcPts val="1200"/>
              </a:spcAft>
            </a:pPr>
            <a:r>
              <a:rPr sz="1700" b="0">
                <a:solidFill>
                  <a:srgbClr val="222222"/>
                </a:solidFill>
              </a:rPr>
              <a:t>• </a:t>
            </a:r>
            <a:r>
              <a:rPr sz="1700" b="1">
                <a:solidFill>
                  <a:srgbClr val="222222"/>
                </a:solidFill>
              </a:rPr>
              <a:t>Market makers</a:t>
            </a:r>
            <a:r>
              <a:rPr sz="1700" b="0">
                <a:solidFill>
                  <a:srgbClr val="222222"/>
                </a:solidFill>
              </a:rPr>
              <a:t> (today mostly high-frequency firms) earn a tiny spread on many trades and avoid directional bets.</a:t>
            </a:r>
          </a:p>
          <a:p>
            <a:pPr algn="l">
              <a:spcAft>
                <a:spcPts val="1200"/>
              </a:spcAft>
            </a:pPr>
            <a:r>
              <a:rPr sz="1700" b="0">
                <a:solidFill>
                  <a:srgbClr val="222222"/>
                </a:solidFill>
              </a:rPr>
              <a:t>• They lose when the other side </a:t>
            </a:r>
            <a:r>
              <a:rPr sz="1700" b="1">
                <a:solidFill>
                  <a:srgbClr val="222222"/>
                </a:solidFill>
              </a:rPr>
              <a:t>knows more</a:t>
            </a:r>
            <a:r>
              <a:rPr sz="1700" b="0">
                <a:solidFill>
                  <a:srgbClr val="222222"/>
                </a:solidFill>
              </a:rPr>
              <a:t>. Order flow is </a:t>
            </a:r>
            <a:r>
              <a:rPr sz="1700" b="1">
                <a:solidFill>
                  <a:srgbClr val="222222"/>
                </a:solidFill>
              </a:rPr>
              <a:t>toxic</a:t>
            </a:r>
            <a:r>
              <a:rPr sz="1700" b="0">
                <a:solidFill>
                  <a:srgbClr val="222222"/>
                </a:solidFill>
              </a:rPr>
              <a:t> when it adversely selects them, often before they notice.</a:t>
            </a:r>
          </a:p>
          <a:p>
            <a:pPr algn="l">
              <a:spcAft>
                <a:spcPts val="1200"/>
              </a:spcAft>
            </a:pPr>
            <a:r>
              <a:rPr sz="1700" b="0">
                <a:solidFill>
                  <a:srgbClr val="222222"/>
                </a:solidFill>
              </a:rPr>
              <a:t>• When toxicity rises they widen quotes or </a:t>
            </a:r>
            <a:r>
              <a:rPr sz="1700" b="1">
                <a:solidFill>
                  <a:srgbClr val="222222"/>
                </a:solidFill>
              </a:rPr>
              <a:t>leave</a:t>
            </a:r>
            <a:r>
              <a:rPr sz="1700" b="0">
                <a:solidFill>
                  <a:srgbClr val="222222"/>
                </a:solidFill>
              </a:rPr>
              <a:t>. With no one absorbing orders, prices gap. The paper links the </a:t>
            </a:r>
            <a:r>
              <a:rPr sz="1700" b="1">
                <a:solidFill>
                  <a:srgbClr val="222222"/>
                </a:solidFill>
              </a:rPr>
              <a:t>6 May 2010 flash crash</a:t>
            </a:r>
            <a:r>
              <a:rPr sz="1700" b="0">
                <a:solidFill>
                  <a:srgbClr val="222222"/>
                </a:solidFill>
              </a:rPr>
              <a:t> to this.</a:t>
            </a:r>
          </a:p>
          <a:p>
            <a:pPr algn="l">
              <a:spcAft>
                <a:spcPts val="1200"/>
              </a:spcAft>
            </a:pPr>
            <a:r>
              <a:rPr sz="1700" b="0">
                <a:solidFill>
                  <a:srgbClr val="222222"/>
                </a:solidFill>
              </a:rPr>
              <a:t>• </a:t>
            </a:r>
            <a:r>
              <a:rPr sz="1700" b="1">
                <a:solidFill>
                  <a:srgbClr val="222222"/>
                </a:solidFill>
              </a:rPr>
              <a:t>Question:</a:t>
            </a:r>
            <a:r>
              <a:rPr sz="1700" b="0">
                <a:solidFill>
                  <a:srgbClr val="222222"/>
                </a:solidFill>
              </a:rPr>
              <a:t> can toxicity be measured in real time, from trades alone, early enough to act?</a:t>
            </a:r>
          </a:p>
        </p:txBody>
      </p:sp>
      <p:sp>
        <p:nvSpPr>
          <p:cNvPr id="6" name="Rounded Rectangle 5"/>
          <p:cNvSpPr/>
          <p:nvPr/>
        </p:nvSpPr>
        <p:spPr>
          <a:xfrm>
            <a:off x="7589520" y="2286000"/>
            <a:ext cx="3931920" cy="685800"/>
          </a:xfrm>
          <a:prstGeom prst="roundRect">
            <a:avLst/>
          </a:prstGeom>
          <a:solidFill>
            <a:srgbClr val="1656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One-sided, informed order flow</a:t>
            </a:r>
          </a:p>
        </p:txBody>
      </p:sp>
      <p:sp>
        <p:nvSpPr>
          <p:cNvPr id="7" name="Down Arrow 6"/>
          <p:cNvSpPr/>
          <p:nvPr/>
        </p:nvSpPr>
        <p:spPr>
          <a:xfrm>
            <a:off x="9390888" y="3017520"/>
            <a:ext cx="320040" cy="274320"/>
          </a:xfrm>
          <a:prstGeom prst="down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589520" y="3319272"/>
            <a:ext cx="3931920" cy="685800"/>
          </a:xfrm>
          <a:prstGeom prst="roundRect">
            <a:avLst/>
          </a:prstGeom>
          <a:solidFill>
            <a:srgbClr val="1656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Market makers lose on their inventory</a:t>
            </a:r>
          </a:p>
        </p:txBody>
      </p:sp>
      <p:sp>
        <p:nvSpPr>
          <p:cNvPr id="9" name="Down Arrow 8"/>
          <p:cNvSpPr/>
          <p:nvPr/>
        </p:nvSpPr>
        <p:spPr>
          <a:xfrm>
            <a:off x="9390888" y="4050791"/>
            <a:ext cx="320040" cy="274320"/>
          </a:xfrm>
          <a:prstGeom prst="down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89520" y="4352544"/>
            <a:ext cx="3931920" cy="685800"/>
          </a:xfrm>
          <a:prstGeom prst="roundRect">
            <a:avLst/>
          </a:prstGeom>
          <a:solidFill>
            <a:srgbClr val="0F2C6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They widen quotes or withdraw</a:t>
            </a:r>
          </a:p>
        </p:txBody>
      </p:sp>
      <p:sp>
        <p:nvSpPr>
          <p:cNvPr id="11" name="Down Arrow 10"/>
          <p:cNvSpPr/>
          <p:nvPr/>
        </p:nvSpPr>
        <p:spPr>
          <a:xfrm>
            <a:off x="9390888" y="5084064"/>
            <a:ext cx="320040" cy="274320"/>
          </a:xfrm>
          <a:prstGeom prst="down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89520" y="5385816"/>
            <a:ext cx="3931920" cy="685800"/>
          </a:xfrm>
          <a:prstGeom prst="roundRect">
            <a:avLst/>
          </a:prstGeom>
          <a:solidFill>
            <a:srgbClr val="EB8C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Liquidity gap → extreme volatility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 from PIN to VPIN, measured in volume time</a:t>
            </a:r>
          </a:p>
        </p:txBody>
      </p:sp>
      <p:sp>
        <p:nvSpPr>
          <p:cNvPr id="4" name="Text Placeholder 3"/>
          <p:cNvSpPr>
            <a:spLocks noGrp="1"/>
          </p:cNvSpPr>
          <p:nvPr>
            <p:ph type="body" idx="2"/>
          </p:nvPr>
        </p:nvSpPr>
        <p:spPr/>
        <p:txBody>
          <a:bodyPr/>
          <a:lstStyle/>
          <a:p>
            <a:r>
              <a:t>Research Seminar</a:t>
            </a:r>
          </a:p>
        </p:txBody>
      </p:sp>
      <p:sp>
        <p:nvSpPr>
          <p:cNvPr id="5" name="TextBox 4"/>
          <p:cNvSpPr txBox="1"/>
          <p:nvPr/>
        </p:nvSpPr>
        <p:spPr>
          <a:xfrm>
            <a:off x="585216" y="2240280"/>
            <a:ext cx="5760720" cy="914400"/>
          </a:xfrm>
          <a:prstGeom prst="rect">
            <a:avLst/>
          </a:prstGeom>
          <a:noFill/>
        </p:spPr>
        <p:txBody>
          <a:bodyPr wrap="square" anchor="t" lIns="45720" rIns="45720">
            <a:spAutoFit/>
          </a:bodyPr>
          <a:lstStyle/>
          <a:p>
            <a:pPr algn="l">
              <a:spcAft>
                <a:spcPts val="600"/>
              </a:spcAft>
            </a:pPr>
            <a:r>
              <a:rPr sz="1600" b="0">
                <a:solidFill>
                  <a:srgbClr val="222222"/>
                </a:solidFill>
              </a:rPr>
              <a:t>• </a:t>
            </a:r>
            <a:r>
              <a:rPr sz="1600" b="1">
                <a:solidFill>
                  <a:srgbClr val="222222"/>
                </a:solidFill>
              </a:rPr>
              <a:t>PIN</a:t>
            </a:r>
            <a:r>
              <a:rPr sz="1600" b="0">
                <a:solidFill>
                  <a:srgbClr val="222222"/>
                </a:solidFill>
              </a:rPr>
              <a:t> (Easley et al. 1996): the share of orders that come from informed traders</a:t>
            </a:r>
          </a:p>
        </p:txBody>
      </p:sp>
      <p:pic>
        <p:nvPicPr>
          <p:cNvPr id="6" name="Picture 5" descr="eq_pin.png"/>
          <p:cNvPicPr>
            <a:picLocks noChangeAspect="1"/>
          </p:cNvPicPr>
          <p:nvPr/>
        </p:nvPicPr>
        <p:blipFill>
          <a:blip r:embed="rId3"/>
          <a:stretch>
            <a:fillRect/>
          </a:stretch>
        </p:blipFill>
        <p:spPr>
          <a:xfrm>
            <a:off x="1739872" y="2788920"/>
            <a:ext cx="3195375" cy="914400"/>
          </a:xfrm>
          <a:prstGeom prst="rect">
            <a:avLst/>
          </a:prstGeom>
        </p:spPr>
      </p:pic>
      <p:sp>
        <p:nvSpPr>
          <p:cNvPr id="7" name="TextBox 6"/>
          <p:cNvSpPr txBox="1"/>
          <p:nvPr/>
        </p:nvSpPr>
        <p:spPr>
          <a:xfrm>
            <a:off x="585216" y="3840480"/>
            <a:ext cx="5760720" cy="2468880"/>
          </a:xfrm>
          <a:prstGeom prst="rect">
            <a:avLst/>
          </a:prstGeom>
          <a:noFill/>
        </p:spPr>
        <p:txBody>
          <a:bodyPr wrap="square" anchor="t" lIns="45720" rIns="45720">
            <a:spAutoFit/>
          </a:bodyPr>
          <a:lstStyle/>
          <a:p>
            <a:pPr algn="l">
              <a:spcAft>
                <a:spcPts val="800"/>
              </a:spcAft>
            </a:pPr>
            <a:r>
              <a:rPr sz="1400" b="0">
                <a:solidFill>
                  <a:srgbClr val="222222"/>
                </a:solidFill>
              </a:rPr>
              <a:t>• α: chance of news, μ: informed arrivals, ε: uninformed arrivals per side. Needs maximum likelihood: slow and unstable at high frequency.</a:t>
            </a:r>
          </a:p>
          <a:p>
            <a:pPr algn="l">
              <a:spcAft>
                <a:spcPts val="800"/>
              </a:spcAft>
            </a:pPr>
            <a:r>
              <a:rPr sz="1400" b="0">
                <a:solidFill>
                  <a:srgbClr val="222222"/>
                </a:solidFill>
              </a:rPr>
              <a:t>• </a:t>
            </a:r>
            <a:r>
              <a:rPr sz="1400" b="1">
                <a:solidFill>
                  <a:srgbClr val="222222"/>
                </a:solidFill>
              </a:rPr>
              <a:t>VPIN:</a:t>
            </a:r>
            <a:r>
              <a:rPr sz="1400" b="0">
                <a:solidFill>
                  <a:srgbClr val="222222"/>
                </a:solidFill>
              </a:rPr>
              <a:t> |buys − sells| estimates αμ, total volume estimates αμ + 2ε. No parameters to fit.</a:t>
            </a:r>
          </a:p>
          <a:p>
            <a:pPr algn="l">
              <a:spcAft>
                <a:spcPts val="800"/>
              </a:spcAft>
            </a:pPr>
            <a:r>
              <a:rPr sz="1400" b="0">
                <a:solidFill>
                  <a:srgbClr val="222222"/>
                </a:solidFill>
              </a:rPr>
              <a:t>• </a:t>
            </a:r>
            <a:r>
              <a:rPr sz="1400" b="1">
                <a:solidFill>
                  <a:srgbClr val="222222"/>
                </a:solidFill>
              </a:rPr>
              <a:t>Volume clock:</a:t>
            </a:r>
            <a:r>
              <a:rPr sz="1400" b="0">
                <a:solidFill>
                  <a:srgbClr val="222222"/>
                </a:solidFill>
              </a:rPr>
              <a:t> cut trading into buckets of equal volume (1/50 of a day). Busy, news-heavy periods get more updates.</a:t>
            </a:r>
          </a:p>
        </p:txBody>
      </p:sp>
      <p:pic>
        <p:nvPicPr>
          <p:cNvPr id="8" name="Picture 7" descr="fig2_time_gap.png"/>
          <p:cNvPicPr>
            <a:picLocks noChangeAspect="1"/>
          </p:cNvPicPr>
          <p:nvPr/>
        </p:nvPicPr>
        <p:blipFill>
          <a:blip r:embed="rId4"/>
          <a:stretch>
            <a:fillRect/>
          </a:stretch>
        </p:blipFill>
        <p:spPr>
          <a:xfrm>
            <a:off x="6492240" y="2748094"/>
            <a:ext cx="5303520" cy="291629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 bulk volume classification</a:t>
            </a:r>
          </a:p>
        </p:txBody>
      </p:sp>
      <p:sp>
        <p:nvSpPr>
          <p:cNvPr id="4" name="Text Placeholder 3"/>
          <p:cNvSpPr>
            <a:spLocks noGrp="1"/>
          </p:cNvSpPr>
          <p:nvPr>
            <p:ph type="body" idx="2"/>
          </p:nvPr>
        </p:nvSpPr>
        <p:spPr/>
        <p:txBody>
          <a:bodyPr/>
          <a:lstStyle/>
          <a:p>
            <a:r>
              <a:t>Research Seminar</a:t>
            </a:r>
          </a:p>
        </p:txBody>
      </p:sp>
      <p:pic>
        <p:nvPicPr>
          <p:cNvPr id="5" name="Picture 4" descr="eq_bvc.png"/>
          <p:cNvPicPr>
            <a:picLocks noChangeAspect="1"/>
          </p:cNvPicPr>
          <p:nvPr/>
        </p:nvPicPr>
        <p:blipFill>
          <a:blip r:embed="rId3"/>
          <a:stretch>
            <a:fillRect/>
          </a:stretch>
        </p:blipFill>
        <p:spPr>
          <a:xfrm>
            <a:off x="585216" y="2334321"/>
            <a:ext cx="6035040" cy="817756"/>
          </a:xfrm>
          <a:prstGeom prst="rect">
            <a:avLst/>
          </a:prstGeom>
        </p:spPr>
      </p:pic>
      <p:sp>
        <p:nvSpPr>
          <p:cNvPr id="6" name="TextBox 5"/>
          <p:cNvSpPr txBox="1"/>
          <p:nvPr/>
        </p:nvSpPr>
        <p:spPr>
          <a:xfrm>
            <a:off x="585216" y="3520440"/>
            <a:ext cx="6035040" cy="2743200"/>
          </a:xfrm>
          <a:prstGeom prst="rect">
            <a:avLst/>
          </a:prstGeom>
          <a:noFill/>
        </p:spPr>
        <p:txBody>
          <a:bodyPr wrap="square" anchor="t" lIns="45720" rIns="45720">
            <a:spAutoFit/>
          </a:bodyPr>
          <a:lstStyle/>
          <a:p>
            <a:pPr algn="l">
              <a:spcAft>
                <a:spcPts val="900"/>
              </a:spcAft>
            </a:pPr>
            <a:r>
              <a:rPr sz="1500" b="0">
                <a:solidFill>
                  <a:srgbClr val="222222"/>
                </a:solidFill>
              </a:rPr>
              <a:t>• Group trades into </a:t>
            </a:r>
            <a:r>
              <a:rPr sz="1500" b="1">
                <a:solidFill>
                  <a:srgbClr val="222222"/>
                </a:solidFill>
              </a:rPr>
              <a:t>one-minute bars</a:t>
            </a:r>
            <a:r>
              <a:rPr sz="1500" b="0">
                <a:solidFill>
                  <a:srgbClr val="222222"/>
                </a:solidFill>
              </a:rPr>
              <a:t>; split each bar's volume by its standardized price change.</a:t>
            </a:r>
          </a:p>
          <a:p>
            <a:pPr algn="l">
              <a:spcAft>
                <a:spcPts val="900"/>
              </a:spcAft>
            </a:pPr>
            <a:r>
              <a:rPr sz="1500" b="0">
                <a:solidFill>
                  <a:srgbClr val="222222"/>
                </a:solidFill>
              </a:rPr>
              <a:t>• No price change → 50/50. A rise of 1.5σ → 93% buys. Z is the standard normal CDF; σ is the standard deviation of bar price changes.</a:t>
            </a:r>
          </a:p>
          <a:p>
            <a:pPr algn="l">
              <a:spcAft>
                <a:spcPts val="900"/>
              </a:spcAft>
            </a:pPr>
            <a:r>
              <a:rPr sz="1500" b="0">
                <a:solidFill>
                  <a:srgbClr val="222222"/>
                </a:solidFill>
              </a:rPr>
              <a:t>• Robust to order splitting and cancellations, cheap to compute.</a:t>
            </a:r>
          </a:p>
          <a:p>
            <a:pPr algn="l">
              <a:spcAft>
                <a:spcPts val="900"/>
              </a:spcAft>
            </a:pPr>
            <a:r>
              <a:rPr sz="1500" b="0">
                <a:solidFill>
                  <a:srgbClr val="222222"/>
                </a:solidFill>
              </a:rPr>
              <a:t>• </a:t>
            </a:r>
            <a:r>
              <a:rPr sz="1500" b="1">
                <a:solidFill>
                  <a:srgbClr val="222222"/>
                </a:solidFill>
              </a:rPr>
              <a:t>But:</a:t>
            </a:r>
            <a:r>
              <a:rPr sz="1500" b="0">
                <a:solidFill>
                  <a:srgbClr val="222222"/>
                </a:solidFill>
              </a:rPr>
              <a:t> the imbalance it produces grows with |price change|, by construction.</a:t>
            </a:r>
          </a:p>
        </p:txBody>
      </p:sp>
      <p:pic>
        <p:nvPicPr>
          <p:cNvPr id="7" name="Picture 6" descr="bvc_curve.png"/>
          <p:cNvPicPr>
            <a:picLocks noChangeAspect="1"/>
          </p:cNvPicPr>
          <p:nvPr/>
        </p:nvPicPr>
        <p:blipFill>
          <a:blip r:embed="rId4"/>
          <a:stretch>
            <a:fillRect/>
          </a:stretch>
        </p:blipFill>
        <p:spPr>
          <a:xfrm>
            <a:off x="7223760" y="2861633"/>
            <a:ext cx="4572000" cy="287209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the VPIN metric and how it is read</a:t>
            </a:r>
          </a:p>
        </p:txBody>
      </p:sp>
      <p:sp>
        <p:nvSpPr>
          <p:cNvPr id="4" name="Text Placeholder 3"/>
          <p:cNvSpPr>
            <a:spLocks noGrp="1"/>
          </p:cNvSpPr>
          <p:nvPr>
            <p:ph type="body" idx="2"/>
          </p:nvPr>
        </p:nvSpPr>
        <p:spPr/>
        <p:txBody>
          <a:bodyPr/>
          <a:lstStyle/>
          <a:p>
            <a:r>
              <a:t>Research Seminar</a:t>
            </a:r>
          </a:p>
        </p:txBody>
      </p:sp>
      <p:pic>
        <p:nvPicPr>
          <p:cNvPr id="5" name="Picture 4" descr="eq_vpin.png"/>
          <p:cNvPicPr>
            <a:picLocks noChangeAspect="1"/>
          </p:cNvPicPr>
          <p:nvPr/>
        </p:nvPicPr>
        <p:blipFill>
          <a:blip r:embed="rId3"/>
          <a:stretch>
            <a:fillRect/>
          </a:stretch>
        </p:blipFill>
        <p:spPr>
          <a:xfrm>
            <a:off x="585216" y="2240280"/>
            <a:ext cx="4348512" cy="1188720"/>
          </a:xfrm>
          <a:prstGeom prst="rect">
            <a:avLst/>
          </a:prstGeom>
        </p:spPr>
      </p:pic>
      <p:sp>
        <p:nvSpPr>
          <p:cNvPr id="6" name="TextBox 5"/>
          <p:cNvSpPr txBox="1"/>
          <p:nvPr/>
        </p:nvSpPr>
        <p:spPr>
          <a:xfrm>
            <a:off x="585216" y="3611880"/>
            <a:ext cx="5394960" cy="2743200"/>
          </a:xfrm>
          <a:prstGeom prst="rect">
            <a:avLst/>
          </a:prstGeom>
          <a:noFill/>
        </p:spPr>
        <p:txBody>
          <a:bodyPr wrap="square" anchor="t" lIns="45720" rIns="45720">
            <a:spAutoFit/>
          </a:bodyPr>
          <a:lstStyle/>
          <a:p>
            <a:pPr algn="l">
              <a:spcAft>
                <a:spcPts val="900"/>
              </a:spcAft>
            </a:pPr>
            <a:r>
              <a:rPr sz="1500" b="0">
                <a:solidFill>
                  <a:srgbClr val="222222"/>
                </a:solidFill>
              </a:rPr>
              <a:t>• Bucket size </a:t>
            </a:r>
            <a:r>
              <a:rPr sz="1500" b="1">
                <a:solidFill>
                  <a:srgbClr val="222222"/>
                </a:solidFill>
              </a:rPr>
              <a:t>V = average daily volume / 50</a:t>
            </a:r>
            <a:r>
              <a:rPr sz="1500" b="0">
                <a:solidFill>
                  <a:srgbClr val="222222"/>
                </a:solidFill>
              </a:rPr>
              <a:t>; window </a:t>
            </a:r>
            <a:r>
              <a:rPr sz="1500" b="1">
                <a:solidFill>
                  <a:srgbClr val="222222"/>
                </a:solidFill>
              </a:rPr>
              <a:t>n = 50</a:t>
            </a:r>
            <a:r>
              <a:rPr sz="1500" b="0">
                <a:solidFill>
                  <a:srgbClr val="222222"/>
                </a:solidFill>
              </a:rPr>
              <a:t> buckets ≈ one day.</a:t>
            </a:r>
          </a:p>
          <a:p>
            <a:pPr algn="l">
              <a:spcAft>
                <a:spcPts val="900"/>
              </a:spcAft>
            </a:pPr>
            <a:r>
              <a:rPr sz="1500" b="0">
                <a:solidFill>
                  <a:srgbClr val="222222"/>
                </a:solidFill>
              </a:rPr>
              <a:t>• Updated after </a:t>
            </a:r>
            <a:r>
              <a:rPr sz="1500" b="1">
                <a:solidFill>
                  <a:srgbClr val="222222"/>
                </a:solidFill>
              </a:rPr>
              <a:t>every bucket</a:t>
            </a:r>
            <a:r>
              <a:rPr sz="1500" b="0">
                <a:solidFill>
                  <a:srgbClr val="222222"/>
                </a:solidFill>
              </a:rPr>
              <a:t>: on busy days many times per hour.</a:t>
            </a:r>
          </a:p>
          <a:p>
            <a:pPr algn="l">
              <a:spcAft>
                <a:spcPts val="900"/>
              </a:spcAft>
            </a:pPr>
            <a:r>
              <a:rPr sz="1500" b="0">
                <a:solidFill>
                  <a:srgbClr val="222222"/>
                </a:solidFill>
              </a:rPr>
              <a:t>• Levels depend on classification and settings, so the paper reads </a:t>
            </a:r>
            <a:r>
              <a:rPr sz="1500" b="1">
                <a:solidFill>
                  <a:srgbClr val="222222"/>
                </a:solidFill>
              </a:rPr>
              <a:t>CDF(VPIN)</a:t>
            </a:r>
            <a:r>
              <a:rPr sz="1500" b="0">
                <a:solidFill>
                  <a:srgbClr val="222222"/>
                </a:solidFill>
              </a:rPr>
              <a:t> over the whole sample. Alarm: CDF &gt; 0.9.</a:t>
            </a:r>
          </a:p>
          <a:p>
            <a:pPr algn="l">
              <a:spcAft>
                <a:spcPts val="900"/>
              </a:spcAft>
            </a:pPr>
            <a:r>
              <a:rPr sz="1500" b="0">
                <a:solidFill>
                  <a:srgbClr val="222222"/>
                </a:solidFill>
              </a:rPr>
              <a:t>• Claim: high VPIN warns of </a:t>
            </a:r>
            <a:r>
              <a:rPr sz="1500" b="1">
                <a:solidFill>
                  <a:srgbClr val="222222"/>
                </a:solidFill>
              </a:rPr>
              <a:t>toxicity-induced volatility</a:t>
            </a:r>
            <a:r>
              <a:rPr sz="1500" b="0">
                <a:solidFill>
                  <a:srgbClr val="222222"/>
                </a:solidFill>
              </a:rPr>
              <a:t>.</a:t>
            </a:r>
          </a:p>
        </p:txBody>
      </p:sp>
      <p:pic>
        <p:nvPicPr>
          <p:cNvPr id="7" name="Picture 6" descr="fig6_vpin_history.png"/>
          <p:cNvPicPr>
            <a:picLocks noChangeAspect="1"/>
          </p:cNvPicPr>
          <p:nvPr/>
        </p:nvPicPr>
        <p:blipFill>
          <a:blip r:embed="rId4"/>
          <a:stretch>
            <a:fillRect/>
          </a:stretch>
        </p:blipFill>
        <p:spPr>
          <a:xfrm>
            <a:off x="6126480" y="2968863"/>
            <a:ext cx="5760720" cy="22004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estimated, what is chosen, what is evaluated</a:t>
            </a:r>
          </a:p>
        </p:txBody>
      </p:sp>
      <p:sp>
        <p:nvSpPr>
          <p:cNvPr id="4" name="Text Placeholder 3"/>
          <p:cNvSpPr>
            <a:spLocks noGrp="1"/>
          </p:cNvSpPr>
          <p:nvPr>
            <p:ph type="body" idx="2"/>
          </p:nvPr>
        </p:nvSpPr>
        <p:spPr/>
        <p:txBody>
          <a:bodyPr/>
          <a:lstStyle/>
          <a:p>
            <a:r>
              <a:t>Research Seminar</a:t>
            </a:r>
          </a:p>
        </p:txBody>
      </p:sp>
      <p:graphicFrame>
        <p:nvGraphicFramePr>
          <p:cNvPr id="5" name="Table 4"/>
          <p:cNvGraphicFramePr>
            <a:graphicFrameLocks noGrp="1"/>
          </p:cNvGraphicFramePr>
          <p:nvPr/>
        </p:nvGraphicFramePr>
        <p:xfrm>
          <a:off x="585216" y="2194560"/>
          <a:ext cx="11018520" cy="3108960"/>
        </p:xfrm>
        <a:graphic>
          <a:graphicData uri="http://schemas.openxmlformats.org/drawingml/2006/table">
            <a:tbl>
              <a:tblPr firstRow="1" bandRow="1">
                <a:tableStyleId>{5C22544A-7EE6-4342-B048-85BDC9FD1C3A}</a:tableStyleId>
              </a:tblPr>
              <a:tblGrid>
                <a:gridCol w="2377440"/>
                <a:gridCol w="5120640"/>
                <a:gridCol w="3520440"/>
              </a:tblGrid>
              <a:tr h="518160">
                <a:tc>
                  <a:txBody>
                    <a:bodyPr/>
                    <a:lstStyle/>
                    <a:p>
                      <a:r>
                        <a:rPr sz="1200" b="1">
                          <a:solidFill>
                            <a:srgbClr val="FFFFFF"/>
                          </a:solidFill>
                        </a:rPr>
                        <a:t>Step</a:t>
                      </a:r>
                    </a:p>
                  </a:txBody>
                  <a:tcPr marL="54864" marR="54864" marT="27432" marB="27432" anchor="ctr">
                    <a:solidFill>
                      <a:srgbClr val="0F2C68"/>
                    </a:solidFill>
                  </a:tcPr>
                </a:tc>
                <a:tc>
                  <a:txBody>
                    <a:bodyPr/>
                    <a:lstStyle/>
                    <a:p>
                      <a:r>
                        <a:rPr sz="1200" b="1">
                          <a:solidFill>
                            <a:srgbClr val="FFFFFF"/>
                          </a:solidFill>
                        </a:rPr>
                        <a:t>Objective</a:t>
                      </a:r>
                    </a:p>
                  </a:txBody>
                  <a:tcPr marL="54864" marR="54864" marT="27432" marB="27432" anchor="ctr">
                    <a:solidFill>
                      <a:srgbClr val="0F2C68"/>
                    </a:solidFill>
                  </a:tcPr>
                </a:tc>
                <a:tc>
                  <a:txBody>
                    <a:bodyPr/>
                    <a:lstStyle/>
                    <a:p>
                      <a:r>
                        <a:rPr sz="1200" b="1">
                          <a:solidFill>
                            <a:srgbClr val="FFFFFF"/>
                          </a:solidFill>
                        </a:rPr>
                        <a:t>Data used</a:t>
                      </a:r>
                    </a:p>
                  </a:txBody>
                  <a:tcPr marL="54864" marR="54864" marT="27432" marB="27432" anchor="ctr">
                    <a:solidFill>
                      <a:srgbClr val="0F2C68"/>
                    </a:solidFill>
                  </a:tcPr>
                </a:tc>
              </a:tr>
              <a:tr h="518160">
                <a:tc>
                  <a:txBody>
                    <a:bodyPr/>
                    <a:lstStyle/>
                    <a:p>
                      <a:r>
                        <a:rPr sz="1200" b="0">
                          <a:solidFill>
                            <a:srgbClr val="222222"/>
                          </a:solidFill>
                        </a:rPr>
                        <a:t>Estimate PIN (original model)</a:t>
                      </a:r>
                    </a:p>
                  </a:txBody>
                  <a:tcPr marL="54864" marR="54864" marT="27432" marB="27432" anchor="ctr">
                    <a:solidFill>
                      <a:srgbClr val="FFFFFF"/>
                    </a:solidFill>
                  </a:tcPr>
                </a:tc>
                <a:tc>
                  <a:txBody>
                    <a:bodyPr/>
                    <a:lstStyle/>
                    <a:p>
                      <a:r>
                        <a:rPr sz="1200" b="0">
                          <a:solidFill>
                            <a:srgbClr val="222222"/>
                          </a:solidFill>
                        </a:rPr>
                        <a:t>Maximise the likelihood of a Poisson mixture: α, μ, ε, δ</a:t>
                      </a:r>
                    </a:p>
                  </a:txBody>
                  <a:tcPr marL="54864" marR="54864" marT="27432" marB="27432" anchor="ctr">
                    <a:solidFill>
                      <a:srgbClr val="FFFFFF"/>
                    </a:solidFill>
                  </a:tcPr>
                </a:tc>
                <a:tc>
                  <a:txBody>
                    <a:bodyPr/>
                    <a:lstStyle/>
                    <a:p>
                      <a:r>
                        <a:rPr sz="1200" b="0">
                          <a:solidFill>
                            <a:srgbClr val="222222"/>
                          </a:solidFill>
                        </a:rPr>
                        <a:t>daily buy and sell counts</a:t>
                      </a:r>
                    </a:p>
                  </a:txBody>
                  <a:tcPr marL="54864" marR="54864" marT="27432" marB="27432" anchor="ctr">
                    <a:solidFill>
                      <a:srgbClr val="FFFFFF"/>
                    </a:solidFill>
                  </a:tcPr>
                </a:tc>
              </a:tr>
              <a:tr h="518160">
                <a:tc>
                  <a:txBody>
                    <a:bodyPr/>
                    <a:lstStyle/>
                    <a:p>
                      <a:r>
                        <a:rPr sz="1200" b="0">
                          <a:solidFill>
                            <a:srgbClr val="222222"/>
                          </a:solidFill>
                        </a:rPr>
                        <a:t>Estimate VPIN</a:t>
                      </a:r>
                    </a:p>
                  </a:txBody>
                  <a:tcPr marL="54864" marR="54864" marT="27432" marB="27432" anchor="ctr">
                    <a:solidFill>
                      <a:srgbClr val="EEF2F8"/>
                    </a:solidFill>
                  </a:tcPr>
                </a:tc>
                <a:tc>
                  <a:txBody>
                    <a:bodyPr/>
                    <a:lstStyle/>
                    <a:p>
                      <a:r>
                        <a:rPr sz="1200" b="0">
                          <a:solidFill>
                            <a:srgbClr val="222222"/>
                          </a:solidFill>
                        </a:rPr>
                        <a:t>Nothing is fitted: average |sell − buy volume| / V, a moment estimate of αμ / (αμ + 2ε)</a:t>
                      </a:r>
                    </a:p>
                  </a:txBody>
                  <a:tcPr marL="54864" marR="54864" marT="27432" marB="27432" anchor="ctr">
                    <a:solidFill>
                      <a:srgbClr val="EEF2F8"/>
                    </a:solidFill>
                  </a:tcPr>
                </a:tc>
                <a:tc>
                  <a:txBody>
                    <a:bodyPr/>
                    <a:lstStyle/>
                    <a:p>
                      <a:r>
                        <a:rPr sz="1200" b="0">
                          <a:solidFill>
                            <a:srgbClr val="222222"/>
                          </a:solidFill>
                        </a:rPr>
                        <a:t>the last n buckets</a:t>
                      </a:r>
                    </a:p>
                  </a:txBody>
                  <a:tcPr marL="54864" marR="54864" marT="27432" marB="27432" anchor="ctr">
                    <a:solidFill>
                      <a:srgbClr val="EEF2F8"/>
                    </a:solidFill>
                  </a:tcPr>
                </a:tc>
              </a:tr>
              <a:tr h="518160">
                <a:tc>
                  <a:txBody>
                    <a:bodyPr/>
                    <a:lstStyle/>
                    <a:p>
                      <a:r>
                        <a:rPr sz="1200" b="0">
                          <a:solidFill>
                            <a:srgbClr val="222222"/>
                          </a:solidFill>
                        </a:rPr>
                        <a:t>Inputs σ and V</a:t>
                      </a:r>
                    </a:p>
                  </a:txBody>
                  <a:tcPr marL="54864" marR="54864" marT="27432" marB="27432" anchor="ctr">
                    <a:solidFill>
                      <a:srgbClr val="FFFFFF"/>
                    </a:solidFill>
                  </a:tcPr>
                </a:tc>
                <a:tc>
                  <a:txBody>
                    <a:bodyPr/>
                    <a:lstStyle/>
                    <a:p>
                      <a:r>
                        <a:rPr sz="1200" b="0">
                          <a:solidFill>
                            <a:srgbClr val="222222"/>
                          </a:solidFill>
                        </a:rPr>
                        <a:t>Standard deviation of one-minute price changes; average daily volume / 50</a:t>
                      </a:r>
                    </a:p>
                  </a:txBody>
                  <a:tcPr marL="54864" marR="54864" marT="27432" marB="27432" anchor="ctr">
                    <a:solidFill>
                      <a:srgbClr val="FFFFFF"/>
                    </a:solidFill>
                  </a:tcPr>
                </a:tc>
                <a:tc>
                  <a:txBody>
                    <a:bodyPr/>
                    <a:lstStyle/>
                    <a:p>
                      <a:r>
                        <a:rPr sz="1200" b="0">
                          <a:solidFill>
                            <a:srgbClr val="222222"/>
                          </a:solidFill>
                        </a:rPr>
                        <a:t>paper: whole sample · ours, real-time: previous 250 days</a:t>
                      </a:r>
                    </a:p>
                  </a:txBody>
                  <a:tcPr marL="54864" marR="54864" marT="27432" marB="27432" anchor="ctr">
                    <a:solidFill>
                      <a:srgbClr val="FFFFFF"/>
                    </a:solidFill>
                  </a:tcPr>
                </a:tc>
              </a:tr>
              <a:tr h="518160">
                <a:tc>
                  <a:txBody>
                    <a:bodyPr/>
                    <a:lstStyle/>
                    <a:p>
                      <a:r>
                        <a:rPr sz="1200" b="0">
                          <a:solidFill>
                            <a:srgbClr val="222222"/>
                          </a:solidFill>
                        </a:rPr>
                        <a:t>Choose buckets/day and n</a:t>
                      </a:r>
                    </a:p>
                  </a:txBody>
                  <a:tcPr marL="54864" marR="54864" marT="27432" marB="27432" anchor="ctr">
                    <a:solidFill>
                      <a:srgbClr val="EEF2F8"/>
                    </a:solidFill>
                  </a:tcPr>
                </a:tc>
                <a:tc>
                  <a:txBody>
                    <a:bodyPr/>
                    <a:lstStyle/>
                    <a:p>
                      <a:r>
                        <a:rPr sz="1200" b="0">
                          <a:solidFill>
                            <a:srgbClr val="222222"/>
                          </a:solidFill>
                        </a:rPr>
                        <a:t>Paper: grid cell with the highest corr(ln VPIN, next |return|) (Fig. 10) or true-positive rate (Table 5)</a:t>
                      </a:r>
                    </a:p>
                  </a:txBody>
                  <a:tcPr marL="54864" marR="54864" marT="27432" marB="27432" anchor="ctr">
                    <a:solidFill>
                      <a:srgbClr val="EEF2F8"/>
                    </a:solidFill>
                  </a:tcPr>
                </a:tc>
                <a:tc>
                  <a:txBody>
                    <a:bodyPr/>
                    <a:lstStyle/>
                    <a:p>
                      <a:r>
                        <a:rPr sz="1200" b="0">
                          <a:solidFill>
                            <a:srgbClr val="222222"/>
                          </a:solidFill>
                        </a:rPr>
                        <a:t>paper: the evaluation sample itself · ours: 2009–11, then frozen</a:t>
                      </a:r>
                    </a:p>
                  </a:txBody>
                  <a:tcPr marL="54864" marR="54864" marT="27432" marB="27432" anchor="ctr">
                    <a:solidFill>
                      <a:srgbClr val="EEF2F8"/>
                    </a:solidFill>
                  </a:tcPr>
                </a:tc>
              </a:tr>
              <a:tr h="518160">
                <a:tc>
                  <a:txBody>
                    <a:bodyPr/>
                    <a:lstStyle/>
                    <a:p>
                      <a:r>
                        <a:rPr sz="1200" b="0">
                          <a:solidFill>
                            <a:srgbClr val="222222"/>
                          </a:solidFill>
                        </a:rPr>
                        <a:t>Evaluate</a:t>
                      </a:r>
                    </a:p>
                  </a:txBody>
                  <a:tcPr marL="54864" marR="54864" marT="27432" marB="27432" anchor="ctr">
                    <a:solidFill>
                      <a:srgbClr val="FFFFFF"/>
                    </a:solidFill>
                  </a:tcPr>
                </a:tc>
                <a:tc>
                  <a:txBody>
                    <a:bodyPr/>
                    <a:lstStyle/>
                    <a:p>
                      <a:r>
                        <a:rPr sz="1200" b="0">
                          <a:solidFill>
                            <a:srgbClr val="222222"/>
                          </a:solidFill>
                        </a:rPr>
                        <a:t>Corr with next |return|; P(VPIN high | big move); true positives. We add lift and ΔR² over volatility</a:t>
                      </a:r>
                    </a:p>
                  </a:txBody>
                  <a:tcPr marL="54864" marR="54864" marT="27432" marB="27432" anchor="ctr">
                    <a:solidFill>
                      <a:srgbClr val="FFFFFF"/>
                    </a:solidFill>
                  </a:tcPr>
                </a:tc>
                <a:tc>
                  <a:txBody>
                    <a:bodyPr/>
                    <a:lstStyle/>
                    <a:p>
                      <a:r>
                        <a:rPr sz="1200" b="0">
                          <a:solidFill>
                            <a:srgbClr val="222222"/>
                          </a:solidFill>
                        </a:rPr>
                        <a:t>paper: in sample · ours: 2011–26, out of sample</a:t>
                      </a:r>
                    </a:p>
                  </a:txBody>
                  <a:tcPr marL="54864" marR="54864" marT="27432" marB="27432" anchor="ctr">
                    <a:solidFill>
                      <a:srgbClr val="FFFFFF"/>
                    </a:solidFill>
                  </a:tcPr>
                </a:tc>
              </a:tr>
            </a:tbl>
          </a:graphicData>
        </a:graphic>
      </p:graphicFrame>
      <p:sp>
        <p:nvSpPr>
          <p:cNvPr id="6" name="TextBox 5"/>
          <p:cNvSpPr txBox="1"/>
          <p:nvPr/>
        </p:nvSpPr>
        <p:spPr>
          <a:xfrm>
            <a:off x="585216" y="5486400"/>
            <a:ext cx="10972800" cy="914400"/>
          </a:xfrm>
          <a:prstGeom prst="rect">
            <a:avLst/>
          </a:prstGeom>
          <a:noFill/>
        </p:spPr>
        <p:txBody>
          <a:bodyPr wrap="square" anchor="t" lIns="45720" rIns="45720">
            <a:spAutoFit/>
          </a:bodyPr>
          <a:lstStyle/>
          <a:p>
            <a:pPr algn="l">
              <a:spcAft>
                <a:spcPts val="600"/>
              </a:spcAft>
            </a:pPr>
            <a:r>
              <a:rPr sz="1400" b="0">
                <a:solidFill>
                  <a:srgbClr val="0F2C68"/>
                </a:solidFill>
              </a:rPr>
              <a:t>• </a:t>
            </a:r>
            <a:r>
              <a:rPr sz="1400" b="1">
                <a:solidFill>
                  <a:srgbClr val="0F2C68"/>
                </a:solidFill>
              </a:rPr>
              <a:t>VPIN has no training objective.</a:t>
            </a:r>
            <a:r>
              <a:rPr sz="1400" b="0">
                <a:solidFill>
                  <a:srgbClr val="0F2C68"/>
                </a:solidFill>
              </a:rPr>
              <a:t> The paper's only optimisation is the parameter search, and it maximises the statistic it then reports, on the same data. We select on 2009–11 and evaluate on 2011–26.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and our replication setup</a:t>
            </a:r>
          </a:p>
        </p:txBody>
      </p:sp>
      <p:sp>
        <p:nvSpPr>
          <p:cNvPr id="4" name="Text Placeholder 3"/>
          <p:cNvSpPr>
            <a:spLocks noGrp="1"/>
          </p:cNvSpPr>
          <p:nvPr>
            <p:ph type="body" idx="2"/>
          </p:nvPr>
        </p:nvSpPr>
        <p:spPr/>
        <p:txBody>
          <a:bodyPr/>
          <a:lstStyle/>
          <a:p>
            <a:r>
              <a:t>Research Seminar</a:t>
            </a:r>
          </a:p>
        </p:txBody>
      </p:sp>
      <p:graphicFrame>
        <p:nvGraphicFramePr>
          <p:cNvPr id="5" name="Table 4"/>
          <p:cNvGraphicFramePr>
            <a:graphicFrameLocks noGrp="1"/>
          </p:cNvGraphicFramePr>
          <p:nvPr/>
        </p:nvGraphicFramePr>
        <p:xfrm>
          <a:off x="585216" y="2240280"/>
          <a:ext cx="11018520" cy="2377440"/>
        </p:xfrm>
        <a:graphic>
          <a:graphicData uri="http://schemas.openxmlformats.org/drawingml/2006/table">
            <a:tbl>
              <a:tblPr firstRow="1" bandRow="1">
                <a:tableStyleId>{5C22544A-7EE6-4342-B048-85BDC9FD1C3A}</a:tableStyleId>
              </a:tblPr>
              <a:tblGrid>
                <a:gridCol w="2377440"/>
                <a:gridCol w="3840480"/>
                <a:gridCol w="4800600"/>
              </a:tblGrid>
              <a:tr h="396240">
                <a:tc>
                  <a:txBody>
                    <a:bodyPr/>
                    <a:lstStyle/>
                    <a:p>
                      <a:r>
                        <a:rPr sz="1300" b="1">
                          <a:solidFill>
                            <a:srgbClr val="FFFFFF"/>
                          </a:solidFill>
                        </a:rPr>
                        <a:t>Set-up</a:t>
                      </a:r>
                    </a:p>
                  </a:txBody>
                  <a:tcPr marL="54864" marR="54864" marT="27432" marB="27432" anchor="ctr">
                    <a:solidFill>
                      <a:srgbClr val="0F2C68"/>
                    </a:solidFill>
                  </a:tcPr>
                </a:tc>
                <a:tc>
                  <a:txBody>
                    <a:bodyPr/>
                    <a:lstStyle/>
                    <a:p>
                      <a:r>
                        <a:rPr sz="1300" b="1">
                          <a:solidFill>
                            <a:srgbClr val="FFFFFF"/>
                          </a:solidFill>
                        </a:rPr>
                        <a:t>Paper</a:t>
                      </a:r>
                    </a:p>
                  </a:txBody>
                  <a:tcPr marL="54864" marR="54864" marT="27432" marB="27432" anchor="ctr">
                    <a:solidFill>
                      <a:srgbClr val="0F2C68"/>
                    </a:solidFill>
                  </a:tcPr>
                </a:tc>
                <a:tc>
                  <a:txBody>
                    <a:bodyPr/>
                    <a:lstStyle/>
                    <a:p>
                      <a:r>
                        <a:rPr sz="1300" b="1">
                          <a:solidFill>
                            <a:srgbClr val="FFFFFF"/>
                          </a:solidFill>
                        </a:rPr>
                        <a:t>Ours</a:t>
                      </a:r>
                    </a:p>
                  </a:txBody>
                  <a:tcPr marL="54864" marR="54864" marT="27432" marB="27432" anchor="ctr">
                    <a:solidFill>
                      <a:srgbClr val="0F2C68"/>
                    </a:solidFill>
                  </a:tcPr>
                </a:tc>
              </a:tr>
              <a:tr h="396240">
                <a:tc>
                  <a:txBody>
                    <a:bodyPr/>
                    <a:lstStyle/>
                    <a:p>
                      <a:r>
                        <a:rPr sz="1300" b="0">
                          <a:solidFill>
                            <a:srgbClr val="222222"/>
                          </a:solidFill>
                        </a:rPr>
                        <a:t>Market</a:t>
                      </a:r>
                    </a:p>
                  </a:txBody>
                  <a:tcPr marL="54864" marR="54864" marT="27432" marB="27432" anchor="ctr">
                    <a:solidFill>
                      <a:srgbClr val="FFFFFF"/>
                    </a:solidFill>
                  </a:tcPr>
                </a:tc>
                <a:tc>
                  <a:txBody>
                    <a:bodyPr/>
                    <a:lstStyle/>
                    <a:p>
                      <a:r>
                        <a:rPr sz="1300" b="0">
                          <a:solidFill>
                            <a:srgbClr val="222222"/>
                          </a:solidFill>
                        </a:rPr>
                        <a:t>E-mini S&amp;P 500 and WTI crude futures</a:t>
                      </a:r>
                    </a:p>
                  </a:txBody>
                  <a:tcPr marL="54864" marR="54864" marT="27432" marB="27432" anchor="ctr">
                    <a:solidFill>
                      <a:srgbClr val="FFFFFF"/>
                    </a:solidFill>
                  </a:tcPr>
                </a:tc>
                <a:tc>
                  <a:txBody>
                    <a:bodyPr/>
                    <a:lstStyle/>
                    <a:p>
                      <a:r>
                        <a:rPr sz="1300" b="0">
                          <a:solidFill>
                            <a:srgbClr val="222222"/>
                          </a:solidFill>
                        </a:rPr>
                        <a:t>IVE (S&amp;P 500 Value ETF) ticks with quotes; BTCUSDT for extensions</a:t>
                      </a:r>
                    </a:p>
                  </a:txBody>
                  <a:tcPr marL="54864" marR="54864" marT="27432" marB="27432" anchor="ctr">
                    <a:solidFill>
                      <a:srgbClr val="FFFFFF"/>
                    </a:solidFill>
                  </a:tcPr>
                </a:tc>
              </a:tr>
              <a:tr h="396240">
                <a:tc>
                  <a:txBody>
                    <a:bodyPr/>
                    <a:lstStyle/>
                    <a:p>
                      <a:r>
                        <a:rPr sz="1300" b="0">
                          <a:solidFill>
                            <a:srgbClr val="222222"/>
                          </a:solidFill>
                        </a:rPr>
                        <a:t>Period</a:t>
                      </a:r>
                    </a:p>
                  </a:txBody>
                  <a:tcPr marL="54864" marR="54864" marT="27432" marB="27432" anchor="ctr">
                    <a:solidFill>
                      <a:srgbClr val="EEF2F8"/>
                    </a:solidFill>
                  </a:tcPr>
                </a:tc>
                <a:tc>
                  <a:txBody>
                    <a:bodyPr/>
                    <a:lstStyle/>
                    <a:p>
                      <a:r>
                        <a:rPr sz="1300" b="0">
                          <a:solidFill>
                            <a:srgbClr val="222222"/>
                          </a:solidFill>
                        </a:rPr>
                        <a:t>Jan 2008 – Aug 2011 (incl. 2008 crisis)</a:t>
                      </a:r>
                    </a:p>
                  </a:txBody>
                  <a:tcPr marL="54864" marR="54864" marT="27432" marB="27432" anchor="ctr">
                    <a:solidFill>
                      <a:srgbClr val="EEF2F8"/>
                    </a:solidFill>
                  </a:tcPr>
                </a:tc>
                <a:tc>
                  <a:txBody>
                    <a:bodyPr/>
                    <a:lstStyle/>
                    <a:p>
                      <a:r>
                        <a:rPr sz="1300" b="0">
                          <a:solidFill>
                            <a:srgbClr val="222222"/>
                          </a:solidFill>
                        </a:rPr>
                        <a:t>2009-09-28 – 2011-08-15; out of sample to Sep 2026</a:t>
                      </a:r>
                    </a:p>
                  </a:txBody>
                  <a:tcPr marL="54864" marR="54864" marT="27432" marB="27432" anchor="ctr">
                    <a:solidFill>
                      <a:srgbClr val="EEF2F8"/>
                    </a:solidFill>
                  </a:tcPr>
                </a:tc>
              </a:tr>
              <a:tr h="396240">
                <a:tc>
                  <a:txBody>
                    <a:bodyPr/>
                    <a:lstStyle/>
                    <a:p>
                      <a:r>
                        <a:rPr sz="1300" b="0">
                          <a:solidFill>
                            <a:srgbClr val="222222"/>
                          </a:solidFill>
                        </a:rPr>
                        <a:t>Trading hours</a:t>
                      </a:r>
                    </a:p>
                  </a:txBody>
                  <a:tcPr marL="54864" marR="54864" marT="27432" marB="27432" anchor="ctr">
                    <a:solidFill>
                      <a:srgbClr val="FFFFFF"/>
                    </a:solidFill>
                  </a:tcPr>
                </a:tc>
                <a:tc>
                  <a:txBody>
                    <a:bodyPr/>
                    <a:lstStyle/>
                    <a:p>
                      <a:r>
                        <a:rPr sz="1300" b="0">
                          <a:solidFill>
                            <a:srgbClr val="222222"/>
                          </a:solidFill>
                        </a:rPr>
                        <a:t>almost 24 hours</a:t>
                      </a:r>
                    </a:p>
                  </a:txBody>
                  <a:tcPr marL="54864" marR="54864" marT="27432" marB="27432" anchor="ctr">
                    <a:solidFill>
                      <a:srgbClr val="FFFFFF"/>
                    </a:solidFill>
                  </a:tcPr>
                </a:tc>
                <a:tc>
                  <a:txBody>
                    <a:bodyPr/>
                    <a:lstStyle/>
                    <a:p>
                      <a:r>
                        <a:rPr sz="1300" b="0">
                          <a:solidFill>
                            <a:srgbClr val="222222"/>
                          </a:solidFill>
                        </a:rPr>
                        <a:t>09:30–16:00 New York</a:t>
                      </a:r>
                    </a:p>
                  </a:txBody>
                  <a:tcPr marL="54864" marR="54864" marT="27432" marB="27432" anchor="ctr">
                    <a:solidFill>
                      <a:srgbClr val="FFFFFF"/>
                    </a:solidFill>
                  </a:tcPr>
                </a:tc>
              </a:tr>
              <a:tr h="396240">
                <a:tc>
                  <a:txBody>
                    <a:bodyPr/>
                    <a:lstStyle/>
                    <a:p>
                      <a:r>
                        <a:rPr sz="1300" b="0">
                          <a:solidFill>
                            <a:srgbClr val="222222"/>
                          </a:solidFill>
                        </a:rPr>
                        <a:t>Classification</a:t>
                      </a:r>
                    </a:p>
                  </a:txBody>
                  <a:tcPr marL="54864" marR="54864" marT="27432" marB="27432" anchor="ctr">
                    <a:solidFill>
                      <a:srgbClr val="EEF2F8"/>
                    </a:solidFill>
                  </a:tcPr>
                </a:tc>
                <a:tc>
                  <a:txBody>
                    <a:bodyPr/>
                    <a:lstStyle/>
                    <a:p>
                      <a:r>
                        <a:rPr sz="1300" b="0">
                          <a:solidFill>
                            <a:srgbClr val="222222"/>
                          </a:solidFill>
                        </a:rPr>
                        <a:t>bulk, one-minute bars</a:t>
                      </a:r>
                    </a:p>
                  </a:txBody>
                  <a:tcPr marL="54864" marR="54864" marT="27432" marB="27432" anchor="ctr">
                    <a:solidFill>
                      <a:srgbClr val="EEF2F8"/>
                    </a:solidFill>
                  </a:tcPr>
                </a:tc>
                <a:tc>
                  <a:txBody>
                    <a:bodyPr/>
                    <a:lstStyle/>
                    <a:p>
                      <a:r>
                        <a:rPr sz="1300" b="0">
                          <a:solidFill>
                            <a:srgbClr val="222222"/>
                          </a:solidFill>
                        </a:rPr>
                        <a:t>same, plus 10-second bars and Lee-Ready</a:t>
                      </a:r>
                    </a:p>
                  </a:txBody>
                  <a:tcPr marL="54864" marR="54864" marT="27432" marB="27432" anchor="ctr">
                    <a:solidFill>
                      <a:srgbClr val="EEF2F8"/>
                    </a:solidFill>
                  </a:tcPr>
                </a:tc>
              </a:tr>
              <a:tr h="396240">
                <a:tc>
                  <a:txBody>
                    <a:bodyPr/>
                    <a:lstStyle/>
                    <a:p>
                      <a:r>
                        <a:rPr sz="1300" b="0">
                          <a:solidFill>
                            <a:srgbClr val="222222"/>
                          </a:solidFill>
                        </a:rPr>
                        <a:t>Settings</a:t>
                      </a:r>
                    </a:p>
                  </a:txBody>
                  <a:tcPr marL="54864" marR="54864" marT="27432" marB="27432" anchor="ctr">
                    <a:solidFill>
                      <a:srgbClr val="FFFFFF"/>
                    </a:solidFill>
                  </a:tcPr>
                </a:tc>
                <a:tc>
                  <a:txBody>
                    <a:bodyPr/>
                    <a:lstStyle/>
                    <a:p>
                      <a:r>
                        <a:rPr sz="1300" b="0">
                          <a:solidFill>
                            <a:srgbClr val="222222"/>
                          </a:solidFill>
                        </a:rPr>
                        <a:t>V = ADV/50, n = 50, whole-sample σ and CDF</a:t>
                      </a:r>
                    </a:p>
                  </a:txBody>
                  <a:tcPr marL="54864" marR="54864" marT="27432" marB="27432" anchor="ctr">
                    <a:solidFill>
                      <a:srgbClr val="FFFFFF"/>
                    </a:solidFill>
                  </a:tcPr>
                </a:tc>
                <a:tc>
                  <a:txBody>
                    <a:bodyPr/>
                    <a:lstStyle/>
                    <a:p>
                      <a:r>
                        <a:rPr sz="1300" b="0">
                          <a:solidFill>
                            <a:srgbClr val="222222"/>
                          </a:solidFill>
                        </a:rPr>
                        <a:t>identical</a:t>
                      </a:r>
                    </a:p>
                  </a:txBody>
                  <a:tcPr marL="54864" marR="54864" marT="27432" marB="27432" anchor="ctr">
                    <a:solidFill>
                      <a:srgbClr val="FFFFFF"/>
                    </a:solidFill>
                  </a:tcPr>
                </a:tc>
              </a:tr>
            </a:tbl>
          </a:graphicData>
        </a:graphic>
      </p:graphicFrame>
      <p:sp>
        <p:nvSpPr>
          <p:cNvPr id="6" name="TextBox 5"/>
          <p:cNvSpPr txBox="1"/>
          <p:nvPr/>
        </p:nvSpPr>
        <p:spPr>
          <a:xfrm>
            <a:off x="585216" y="4937760"/>
            <a:ext cx="10972800" cy="1463040"/>
          </a:xfrm>
          <a:prstGeom prst="rect">
            <a:avLst/>
          </a:prstGeom>
          <a:noFill/>
        </p:spPr>
        <p:txBody>
          <a:bodyPr wrap="square" anchor="t" lIns="45720" rIns="45720">
            <a:spAutoFit/>
          </a:bodyPr>
          <a:lstStyle/>
          <a:p>
            <a:pPr algn="l">
              <a:spcAft>
                <a:spcPts val="600"/>
              </a:spcAft>
            </a:pPr>
            <a:r>
              <a:rPr sz="1300" b="0">
                <a:solidFill>
                  <a:srgbClr val="595959"/>
                </a:solidFill>
              </a:rPr>
              <a:t>• Main deviations: ETF instead of futures; regular hours only; our sample starts in Sep 2009 (no 2008 crisis); 42 IVE trades at prices like $0.08 that the exchanges </a:t>
            </a:r>
            <a:r>
              <a:rPr sz="1300" b="1">
                <a:solidFill>
                  <a:srgbClr val="595959"/>
                </a:solidFill>
              </a:rPr>
              <a:t>cancelled</a:t>
            </a:r>
            <a:r>
              <a:rPr sz="1300" b="0">
                <a:solidFill>
                  <a:srgbClr val="595959"/>
                </a:solidFill>
              </a:rPr>
              <a:t> on 6 May 2010 are removed. 29% of IVE one-minute bars have no price change, and bulk classification splits them 50/50.</a:t>
            </a:r>
          </a:p>
          <a:p>
            <a:pPr algn="l">
              <a:spcAft>
                <a:spcPts val="600"/>
              </a:spcAft>
            </a:pPr>
            <a:r>
              <a:rPr sz="1300" b="0">
                <a:solidFill>
                  <a:srgbClr val="595959"/>
                </a:solidFill>
              </a:rPr>
              <a:t>• </a:t>
            </a:r>
            <a:r>
              <a:rPr sz="1300" b="1">
                <a:solidFill>
                  <a:srgbClr val="595959"/>
                </a:solidFill>
              </a:rPr>
              <a:t>±</a:t>
            </a:r>
            <a:r>
              <a:rPr sz="1300" b="0">
                <a:solidFill>
                  <a:srgbClr val="595959"/>
                </a:solidFill>
              </a:rPr>
              <a:t> on our numbers: block bootstrap over calendar months (1,000 replications), because VPIN windows overlap and volatility clusters.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1: the flash crash, paper vs ours</a:t>
            </a:r>
          </a:p>
        </p:txBody>
      </p:sp>
      <p:sp>
        <p:nvSpPr>
          <p:cNvPr id="4" name="Text Placeholder 3"/>
          <p:cNvSpPr>
            <a:spLocks noGrp="1"/>
          </p:cNvSpPr>
          <p:nvPr>
            <p:ph type="body" idx="2"/>
          </p:nvPr>
        </p:nvSpPr>
        <p:spPr/>
        <p:txBody>
          <a:bodyPr/>
          <a:lstStyle/>
          <a:p>
            <a:r>
              <a:t>Research Seminar</a:t>
            </a:r>
          </a:p>
        </p:txBody>
      </p:sp>
      <p:pic>
        <p:nvPicPr>
          <p:cNvPr id="5" name="Picture 4" descr="paper_fig4a.png"/>
          <p:cNvPicPr>
            <a:picLocks noChangeAspect="1"/>
          </p:cNvPicPr>
          <p:nvPr/>
        </p:nvPicPr>
        <p:blipFill>
          <a:blip r:embed="rId3"/>
          <a:stretch>
            <a:fillRect/>
          </a:stretch>
        </p:blipFill>
        <p:spPr>
          <a:xfrm>
            <a:off x="365760" y="2460125"/>
            <a:ext cx="3749039" cy="2577828"/>
          </a:xfrm>
          <a:prstGeom prst="rect">
            <a:avLst/>
          </a:prstGeom>
        </p:spPr>
      </p:pic>
      <p:sp>
        <p:nvSpPr>
          <p:cNvPr id="6" name="TextBox 5"/>
          <p:cNvSpPr txBox="1"/>
          <p:nvPr/>
        </p:nvSpPr>
        <p:spPr>
          <a:xfrm>
            <a:off x="365760" y="5257800"/>
            <a:ext cx="3749039" cy="365760"/>
          </a:xfrm>
          <a:prstGeom prst="rect">
            <a:avLst/>
          </a:prstGeom>
          <a:noFill/>
        </p:spPr>
        <p:txBody>
          <a:bodyPr wrap="square" anchor="t" lIns="45720" rIns="45720">
            <a:spAutoFit/>
          </a:bodyPr>
          <a:lstStyle/>
          <a:p>
            <a:pPr algn="ctr">
              <a:spcAft>
                <a:spcPts val="600"/>
              </a:spcAft>
            </a:pPr>
            <a:r>
              <a:rPr sz="1100" b="0">
                <a:solidFill>
                  <a:srgbClr val="595959"/>
                </a:solidFill>
              </a:rPr>
              <a:t>Paper, Fig. 4(a): E-mini, one-minute bars</a:t>
            </a:r>
          </a:p>
        </p:txBody>
      </p:sp>
      <p:pic>
        <p:nvPicPr>
          <p:cNvPr id="7" name="Picture 6" descr="fig4_flash_crash.png"/>
          <p:cNvPicPr>
            <a:picLocks noChangeAspect="1"/>
          </p:cNvPicPr>
          <p:nvPr/>
        </p:nvPicPr>
        <p:blipFill>
          <a:blip r:embed="rId4"/>
          <a:stretch>
            <a:fillRect/>
          </a:stretch>
        </p:blipFill>
        <p:spPr>
          <a:xfrm>
            <a:off x="4206240" y="2631486"/>
            <a:ext cx="7772400" cy="1869347"/>
          </a:xfrm>
          <a:prstGeom prst="rect">
            <a:avLst/>
          </a:prstGeom>
        </p:spPr>
      </p:pic>
      <p:sp>
        <p:nvSpPr>
          <p:cNvPr id="8" name="TextBox 7"/>
          <p:cNvSpPr txBox="1"/>
          <p:nvPr/>
        </p:nvSpPr>
        <p:spPr>
          <a:xfrm>
            <a:off x="4206240" y="4846320"/>
            <a:ext cx="7772400" cy="320040"/>
          </a:xfrm>
          <a:prstGeom prst="rect">
            <a:avLst/>
          </a:prstGeom>
          <a:noFill/>
        </p:spPr>
        <p:txBody>
          <a:bodyPr wrap="square" anchor="t" lIns="45720" rIns="45720">
            <a:spAutoFit/>
          </a:bodyPr>
          <a:lstStyle/>
          <a:p>
            <a:pPr algn="ctr">
              <a:spcAft>
                <a:spcPts val="600"/>
              </a:spcAft>
            </a:pPr>
            <a:r>
              <a:rPr sz="1100" b="0">
                <a:solidFill>
                  <a:srgbClr val="595959"/>
                </a:solidFill>
              </a:rPr>
              <a:t>Ours: IVE, 6 May 2010, three classification schemes</a:t>
            </a:r>
          </a:p>
        </p:txBody>
      </p:sp>
      <p:sp>
        <p:nvSpPr>
          <p:cNvPr id="9" name="TextBox 8"/>
          <p:cNvSpPr txBox="1"/>
          <p:nvPr/>
        </p:nvSpPr>
        <p:spPr>
          <a:xfrm>
            <a:off x="4297680" y="5212080"/>
            <a:ext cx="7589520" cy="1280160"/>
          </a:xfrm>
          <a:prstGeom prst="rect">
            <a:avLst/>
          </a:prstGeom>
          <a:noFill/>
        </p:spPr>
        <p:txBody>
          <a:bodyPr wrap="square" anchor="t" lIns="45720" rIns="45720">
            <a:spAutoFit/>
          </a:bodyPr>
          <a:lstStyle/>
          <a:p>
            <a:pPr algn="l">
              <a:spcAft>
                <a:spcPts val="300"/>
              </a:spcAft>
            </a:pPr>
            <a:r>
              <a:rPr sz="1300" b="0">
                <a:solidFill>
                  <a:srgbClr val="222222"/>
                </a:solidFill>
              </a:rPr>
              <a:t>• </a:t>
            </a:r>
            <a:r>
              <a:rPr sz="1300" b="1">
                <a:solidFill>
                  <a:srgbClr val="222222"/>
                </a:solidFill>
              </a:rPr>
              <a:t>One-minute bars:</a:t>
            </a:r>
            <a:r>
              <a:rPr sz="1300" b="0">
                <a:solidFill>
                  <a:srgbClr val="222222"/>
                </a:solidFill>
              </a:rPr>
              <a:t> CDF &gt; 0.9 from 09:40, </a:t>
            </a:r>
            <a:r>
              <a:rPr sz="1300" b="1">
                <a:solidFill>
                  <a:srgbClr val="222222"/>
                </a:solidFill>
              </a:rPr>
              <a:t>4.9 h</a:t>
            </a:r>
            <a:r>
              <a:rPr sz="1300" b="0">
                <a:solidFill>
                  <a:srgbClr val="222222"/>
                </a:solidFill>
              </a:rPr>
              <a:t> before the fall, as the paper says.</a:t>
            </a:r>
          </a:p>
          <a:p>
            <a:pPr algn="l">
              <a:spcAft>
                <a:spcPts val="300"/>
              </a:spcAft>
            </a:pPr>
            <a:r>
              <a:rPr sz="1300" b="0">
                <a:solidFill>
                  <a:srgbClr val="222222"/>
                </a:solidFill>
              </a:rPr>
              <a:t>• </a:t>
            </a:r>
            <a:r>
              <a:rPr sz="1300" b="1">
                <a:solidFill>
                  <a:srgbClr val="222222"/>
                </a:solidFill>
              </a:rPr>
              <a:t>10-second bars:</a:t>
            </a:r>
            <a:r>
              <a:rPr sz="1300" b="0">
                <a:solidFill>
                  <a:srgbClr val="222222"/>
                </a:solidFill>
              </a:rPr>
              <a:t> first above 0.9 at 14:43, during the fall. </a:t>
            </a:r>
            <a:r>
              <a:rPr sz="1300" b="1">
                <a:solidFill>
                  <a:srgbClr val="222222"/>
                </a:solidFill>
              </a:rPr>
              <a:t>Lee-Ready:</a:t>
            </a:r>
            <a:r>
              <a:rPr sz="1300" b="0">
                <a:solidFill>
                  <a:srgbClr val="222222"/>
                </a:solidFill>
              </a:rPr>
              <a:t> never (max CDF 0.85).</a:t>
            </a:r>
          </a:p>
          <a:p>
            <a:pPr algn="l">
              <a:spcAft>
                <a:spcPts val="300"/>
              </a:spcAft>
            </a:pPr>
            <a:r>
              <a:rPr sz="1300" b="0">
                <a:solidFill>
                  <a:srgbClr val="222222"/>
                </a:solidFill>
              </a:rPr>
              <a:t>• One event: no ± possible. The warning depends on the classification choice.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2: the volume clock and the stability of VPIN</a:t>
            </a:r>
          </a:p>
        </p:txBody>
      </p:sp>
      <p:sp>
        <p:nvSpPr>
          <p:cNvPr id="4" name="Text Placeholder 3"/>
          <p:cNvSpPr>
            <a:spLocks noGrp="1"/>
          </p:cNvSpPr>
          <p:nvPr>
            <p:ph type="body" idx="2"/>
          </p:nvPr>
        </p:nvSpPr>
        <p:spPr/>
        <p:txBody>
          <a:bodyPr/>
          <a:lstStyle/>
          <a:p>
            <a:r>
              <a:t>Research Seminar</a:t>
            </a:r>
          </a:p>
        </p:txBody>
      </p:sp>
      <p:sp>
        <p:nvSpPr>
          <p:cNvPr id="5" name="TextBox 4"/>
          <p:cNvSpPr txBox="1"/>
          <p:nvPr/>
        </p:nvSpPr>
        <p:spPr>
          <a:xfrm>
            <a:off x="585216" y="2103120"/>
            <a:ext cx="4206240" cy="365760"/>
          </a:xfrm>
          <a:prstGeom prst="rect">
            <a:avLst/>
          </a:prstGeom>
          <a:noFill/>
        </p:spPr>
        <p:txBody>
          <a:bodyPr wrap="square" anchor="t" lIns="45720" rIns="45720">
            <a:spAutoFit/>
          </a:bodyPr>
          <a:lstStyle/>
          <a:p>
            <a:pPr algn="l">
              <a:spcAft>
                <a:spcPts val="600"/>
              </a:spcAft>
            </a:pPr>
            <a:r>
              <a:rPr sz="1400" b="1">
                <a:solidFill>
                  <a:srgbClr val="0F2C68"/>
                </a:solidFill>
              </a:rPr>
              <a:t>Paper: E-mini, 2008–11</a:t>
            </a:r>
          </a:p>
        </p:txBody>
      </p:sp>
      <p:graphicFrame>
        <p:nvGraphicFramePr>
          <p:cNvPr id="6" name="Table 5"/>
          <p:cNvGraphicFramePr>
            <a:graphicFrameLocks noGrp="1"/>
          </p:cNvGraphicFramePr>
          <p:nvPr/>
        </p:nvGraphicFramePr>
        <p:xfrm>
          <a:off x="585216" y="2514600"/>
          <a:ext cx="4023360" cy="2331720"/>
        </p:xfrm>
        <a:graphic>
          <a:graphicData uri="http://schemas.openxmlformats.org/drawingml/2006/table">
            <a:tbl>
              <a:tblPr firstRow="1" bandRow="1">
                <a:tableStyleId>{5C22544A-7EE6-4342-B048-85BDC9FD1C3A}</a:tableStyleId>
              </a:tblPr>
              <a:tblGrid>
                <a:gridCol w="1554480"/>
                <a:gridCol w="1234440"/>
                <a:gridCol w="1234440"/>
              </a:tblGrid>
              <a:tr h="388620">
                <a:tc>
                  <a:txBody>
                    <a:bodyPr/>
                    <a:lstStyle/>
                    <a:p>
                      <a:r>
                        <a:rPr sz="1200" b="1">
                          <a:solidFill>
                            <a:srgbClr val="FFFFFF"/>
                          </a:solidFill>
                        </a:rPr>
                        <a:t>50 draws a day</a:t>
                      </a:r>
                    </a:p>
                  </a:txBody>
                  <a:tcPr marL="54864" marR="54864" marT="27432" marB="27432" anchor="ctr">
                    <a:solidFill>
                      <a:srgbClr val="0F2C68"/>
                    </a:solidFill>
                  </a:tcPr>
                </a:tc>
                <a:tc>
                  <a:txBody>
                    <a:bodyPr/>
                    <a:lstStyle/>
                    <a:p>
                      <a:r>
                        <a:rPr sz="1200" b="1">
                          <a:solidFill>
                            <a:srgbClr val="FFFFFF"/>
                          </a:solidFill>
                        </a:rPr>
                        <a:t>Clock</a:t>
                      </a:r>
                    </a:p>
                  </a:txBody>
                  <a:tcPr marL="54864" marR="54864" marT="27432" marB="27432" anchor="ctr">
                    <a:solidFill>
                      <a:srgbClr val="0F2C68"/>
                    </a:solidFill>
                  </a:tcPr>
                </a:tc>
                <a:tc>
                  <a:txBody>
                    <a:bodyPr/>
                    <a:lstStyle/>
                    <a:p>
                      <a:r>
                        <a:rPr sz="1200" b="1">
                          <a:solidFill>
                            <a:srgbClr val="FFFFFF"/>
                          </a:solidFill>
                        </a:rPr>
                        <a:t>Volume</a:t>
                      </a:r>
                    </a:p>
                  </a:txBody>
                  <a:tcPr marL="54864" marR="54864" marT="27432" marB="27432" anchor="ctr">
                    <a:solidFill>
                      <a:srgbClr val="0F2C68"/>
                    </a:solidFill>
                  </a:tcPr>
                </a:tc>
              </a:tr>
              <a:tr h="388620">
                <a:tc>
                  <a:txBody>
                    <a:bodyPr/>
                    <a:lstStyle/>
                    <a:p>
                      <a:r>
                        <a:rPr sz="1200" b="0">
                          <a:solidFill>
                            <a:srgbClr val="222222"/>
                          </a:solidFill>
                        </a:rPr>
                        <a:t>Kurt</a:t>
                      </a:r>
                    </a:p>
                  </a:txBody>
                  <a:tcPr marL="54864" marR="54864" marT="27432" marB="27432" anchor="ctr">
                    <a:solidFill>
                      <a:srgbClr val="FFFFFF"/>
                    </a:solidFill>
                  </a:tcPr>
                </a:tc>
                <a:tc>
                  <a:txBody>
                    <a:bodyPr/>
                    <a:lstStyle/>
                    <a:p>
                      <a:r>
                        <a:rPr sz="1200" b="0">
                          <a:solidFill>
                            <a:srgbClr val="222222"/>
                          </a:solidFill>
                        </a:rPr>
                        <a:t>34.25</a:t>
                      </a:r>
                    </a:p>
                  </a:txBody>
                  <a:tcPr marL="54864" marR="54864" marT="27432" marB="27432" anchor="ctr">
                    <a:solidFill>
                      <a:srgbClr val="FFFFFF"/>
                    </a:solidFill>
                  </a:tcPr>
                </a:tc>
                <a:tc>
                  <a:txBody>
                    <a:bodyPr/>
                    <a:lstStyle/>
                    <a:p>
                      <a:r>
                        <a:rPr sz="1200" b="1">
                          <a:solidFill>
                            <a:srgbClr val="FFFFFF"/>
                          </a:solidFill>
                        </a:rPr>
                        <a:t>20.52</a:t>
                      </a:r>
                    </a:p>
                  </a:txBody>
                  <a:tcPr marL="54864" marR="54864" marT="27432" marB="27432" anchor="ctr">
                    <a:solidFill>
                      <a:srgbClr val="009B64"/>
                    </a:solidFill>
                  </a:tcPr>
                </a:tc>
              </a:tr>
              <a:tr h="388620">
                <a:tc>
                  <a:txBody>
                    <a:bodyPr/>
                    <a:lstStyle/>
                    <a:p>
                      <a:r>
                        <a:rPr sz="1200" b="0">
                          <a:solidFill>
                            <a:srgbClr val="222222"/>
                          </a:solidFill>
                        </a:rPr>
                        <a:t>J-B*</a:t>
                      </a:r>
                    </a:p>
                  </a:txBody>
                  <a:tcPr marL="54864" marR="54864" marT="27432" marB="27432" anchor="ctr">
                    <a:solidFill>
                      <a:srgbClr val="EEF2F8"/>
                    </a:solidFill>
                  </a:tcPr>
                </a:tc>
                <a:tc>
                  <a:txBody>
                    <a:bodyPr/>
                    <a:lstStyle/>
                    <a:p>
                      <a:r>
                        <a:rPr sz="1200" b="0">
                          <a:solidFill>
                            <a:srgbClr val="222222"/>
                          </a:solidFill>
                        </a:rPr>
                        <a:t>40.69</a:t>
                      </a:r>
                    </a:p>
                  </a:txBody>
                  <a:tcPr marL="54864" marR="54864" marT="27432" marB="27432" anchor="ctr">
                    <a:solidFill>
                      <a:srgbClr val="EEF2F8"/>
                    </a:solidFill>
                  </a:tcPr>
                </a:tc>
                <a:tc>
                  <a:txBody>
                    <a:bodyPr/>
                    <a:lstStyle/>
                    <a:p>
                      <a:r>
                        <a:rPr sz="1200" b="1">
                          <a:solidFill>
                            <a:srgbClr val="FFFFFF"/>
                          </a:solidFill>
                        </a:rPr>
                        <a:t>12.82</a:t>
                      </a:r>
                    </a:p>
                  </a:txBody>
                  <a:tcPr marL="54864" marR="54864" marT="27432" marB="27432" anchor="ctr">
                    <a:solidFill>
                      <a:srgbClr val="009B64"/>
                    </a:solidFill>
                  </a:tcPr>
                </a:tc>
              </a:tr>
              <a:tr h="388620">
                <a:tc>
                  <a:txBody>
                    <a:bodyPr/>
                    <a:lstStyle/>
                    <a:p>
                      <a:r>
                        <a:rPr sz="1200" b="0">
                          <a:solidFill>
                            <a:srgbClr val="222222"/>
                          </a:solidFill>
                        </a:rPr>
                        <a:t>L-B*</a:t>
                      </a:r>
                    </a:p>
                  </a:txBody>
                  <a:tcPr marL="54864" marR="54864" marT="27432" marB="27432" anchor="ctr">
                    <a:solidFill>
                      <a:srgbClr val="FFFFFF"/>
                    </a:solidFill>
                  </a:tcPr>
                </a:tc>
                <a:tc>
                  <a:txBody>
                    <a:bodyPr/>
                    <a:lstStyle/>
                    <a:p>
                      <a:r>
                        <a:rPr sz="1200" b="0">
                          <a:solidFill>
                            <a:srgbClr val="222222"/>
                          </a:solidFill>
                        </a:rPr>
                        <a:t>40.73</a:t>
                      </a:r>
                    </a:p>
                  </a:txBody>
                  <a:tcPr marL="54864" marR="54864" marT="27432" marB="27432" anchor="ctr">
                    <a:solidFill>
                      <a:srgbClr val="FFFFFF"/>
                    </a:solidFill>
                  </a:tcPr>
                </a:tc>
                <a:tc>
                  <a:txBody>
                    <a:bodyPr/>
                    <a:lstStyle/>
                    <a:p>
                      <a:r>
                        <a:rPr sz="1200" b="1">
                          <a:solidFill>
                            <a:srgbClr val="FFFFFF"/>
                          </a:solidFill>
                        </a:rPr>
                        <a:t>24.84</a:t>
                      </a:r>
                    </a:p>
                  </a:txBody>
                  <a:tcPr marL="54864" marR="54864" marT="27432" marB="27432" anchor="ctr">
                    <a:solidFill>
                      <a:srgbClr val="009B64"/>
                    </a:solidFill>
                  </a:tcPr>
                </a:tc>
              </a:tr>
              <a:tr h="388620">
                <a:tc>
                  <a:txBody>
                    <a:bodyPr/>
                    <a:lstStyle/>
                    <a:p>
                      <a:r>
                        <a:rPr sz="1200" b="0">
                          <a:solidFill>
                            <a:srgbClr val="222222"/>
                          </a:solidFill>
                        </a:rPr>
                        <a:t>White*</a:t>
                      </a:r>
                    </a:p>
                  </a:txBody>
                  <a:tcPr marL="54864" marR="54864" marT="27432" marB="27432" anchor="ctr">
                    <a:solidFill>
                      <a:srgbClr val="EEF2F8"/>
                    </a:solidFill>
                  </a:tcPr>
                </a:tc>
                <a:tc>
                  <a:txBody>
                    <a:bodyPr/>
                    <a:lstStyle/>
                    <a:p>
                      <a:r>
                        <a:rPr sz="1200" b="0">
                          <a:solidFill>
                            <a:srgbClr val="222222"/>
                          </a:solidFill>
                        </a:rPr>
                        <a:t>0.10</a:t>
                      </a:r>
                    </a:p>
                  </a:txBody>
                  <a:tcPr marL="54864" marR="54864" marT="27432" marB="27432" anchor="ctr">
                    <a:solidFill>
                      <a:srgbClr val="EEF2F8"/>
                    </a:solidFill>
                  </a:tcPr>
                </a:tc>
                <a:tc>
                  <a:txBody>
                    <a:bodyPr/>
                    <a:lstStyle/>
                    <a:p>
                      <a:r>
                        <a:rPr sz="1200" b="1">
                          <a:solidFill>
                            <a:srgbClr val="FFFFFF"/>
                          </a:solidFill>
                        </a:rPr>
                        <a:t>0.04</a:t>
                      </a:r>
                    </a:p>
                  </a:txBody>
                  <a:tcPr marL="54864" marR="54864" marT="27432" marB="27432" anchor="ctr">
                    <a:solidFill>
                      <a:srgbClr val="009B64"/>
                    </a:solidFill>
                  </a:tcPr>
                </a:tc>
              </a:tr>
              <a:tr h="388620">
                <a:tc>
                  <a:txBody>
                    <a:bodyPr/>
                    <a:lstStyle/>
                    <a:p>
                      <a:r>
                        <a:rPr sz="1200" b="0">
                          <a:solidFill>
                            <a:srgbClr val="222222"/>
                          </a:solidFill>
                        </a:rPr>
                        <a:t>Max</a:t>
                      </a:r>
                    </a:p>
                  </a:txBody>
                  <a:tcPr marL="54864" marR="54864" marT="27432" marB="27432" anchor="ctr">
                    <a:solidFill>
                      <a:srgbClr val="FFFFFF"/>
                    </a:solidFill>
                  </a:tcPr>
                </a:tc>
                <a:tc>
                  <a:txBody>
                    <a:bodyPr/>
                    <a:lstStyle/>
                    <a:p>
                      <a:r>
                        <a:rPr sz="1200" b="0">
                          <a:solidFill>
                            <a:srgbClr val="222222"/>
                          </a:solidFill>
                        </a:rPr>
                        <a:t>20.83</a:t>
                      </a:r>
                    </a:p>
                  </a:txBody>
                  <a:tcPr marL="54864" marR="54864" marT="27432" marB="27432" anchor="ctr">
                    <a:solidFill>
                      <a:srgbClr val="FFFFFF"/>
                    </a:solidFill>
                  </a:tcPr>
                </a:tc>
                <a:tc>
                  <a:txBody>
                    <a:bodyPr/>
                    <a:lstStyle/>
                    <a:p>
                      <a:r>
                        <a:rPr sz="1200" b="1">
                          <a:solidFill>
                            <a:srgbClr val="FFFFFF"/>
                          </a:solidFill>
                        </a:rPr>
                        <a:t>12.26</a:t>
                      </a:r>
                    </a:p>
                  </a:txBody>
                  <a:tcPr marL="54864" marR="54864" marT="27432" marB="27432" anchor="ctr">
                    <a:solidFill>
                      <a:srgbClr val="009B64"/>
                    </a:solidFill>
                  </a:tcPr>
                </a:tc>
              </a:tr>
            </a:tbl>
          </a:graphicData>
        </a:graphic>
      </p:graphicFrame>
      <p:sp>
        <p:nvSpPr>
          <p:cNvPr id="7" name="TextBox 6"/>
          <p:cNvSpPr txBox="1"/>
          <p:nvPr/>
        </p:nvSpPr>
        <p:spPr>
          <a:xfrm>
            <a:off x="5029200" y="2103120"/>
            <a:ext cx="6858000" cy="365760"/>
          </a:xfrm>
          <a:prstGeom prst="rect">
            <a:avLst/>
          </a:prstGeom>
          <a:noFill/>
        </p:spPr>
        <p:txBody>
          <a:bodyPr wrap="square" anchor="t" lIns="45720" rIns="45720">
            <a:spAutoFit/>
          </a:bodyPr>
          <a:lstStyle/>
          <a:p>
            <a:pPr algn="l">
              <a:spcAft>
                <a:spcPts val="600"/>
              </a:spcAft>
            </a:pPr>
            <a:r>
              <a:rPr sz="1400" b="1">
                <a:solidFill>
                  <a:srgbClr val="0F2C68"/>
                </a:solidFill>
              </a:rPr>
              <a:t>Ours: IVE, 2009–11 (± s.e.)</a:t>
            </a:r>
          </a:p>
        </p:txBody>
      </p:sp>
      <p:graphicFrame>
        <p:nvGraphicFramePr>
          <p:cNvPr id="8" name="Table 7"/>
          <p:cNvGraphicFramePr>
            <a:graphicFrameLocks noGrp="1"/>
          </p:cNvGraphicFramePr>
          <p:nvPr/>
        </p:nvGraphicFramePr>
        <p:xfrm>
          <a:off x="5029200" y="2514600"/>
          <a:ext cx="6766559" cy="2331720"/>
        </p:xfrm>
        <a:graphic>
          <a:graphicData uri="http://schemas.openxmlformats.org/drawingml/2006/table">
            <a:tbl>
              <a:tblPr firstRow="1" bandRow="1">
                <a:tableStyleId>{5C22544A-7EE6-4342-B048-85BDC9FD1C3A}</a:tableStyleId>
              </a:tblPr>
              <a:tblGrid>
                <a:gridCol w="1463040"/>
                <a:gridCol w="1874519"/>
                <a:gridCol w="1783080"/>
                <a:gridCol w="1645920"/>
              </a:tblGrid>
              <a:tr h="388620">
                <a:tc>
                  <a:txBody>
                    <a:bodyPr/>
                    <a:lstStyle/>
                    <a:p>
                      <a:r>
                        <a:rPr sz="1200" b="1">
                          <a:solidFill>
                            <a:srgbClr val="FFFFFF"/>
                          </a:solidFill>
                        </a:rPr>
                        <a:t>50 draws a day</a:t>
                      </a:r>
                    </a:p>
                  </a:txBody>
                  <a:tcPr marL="54864" marR="54864" marT="27432" marB="27432" anchor="ctr">
                    <a:solidFill>
                      <a:srgbClr val="0F2C68"/>
                    </a:solidFill>
                  </a:tcPr>
                </a:tc>
                <a:tc>
                  <a:txBody>
                    <a:bodyPr/>
                    <a:lstStyle/>
                    <a:p>
                      <a:r>
                        <a:rPr sz="1200" b="1">
                          <a:solidFill>
                            <a:srgbClr val="FFFFFF"/>
                          </a:solidFill>
                        </a:rPr>
                        <a:t>Clock</a:t>
                      </a:r>
                    </a:p>
                  </a:txBody>
                  <a:tcPr marL="54864" marR="54864" marT="27432" marB="27432" anchor="ctr">
                    <a:solidFill>
                      <a:srgbClr val="0F2C68"/>
                    </a:solidFill>
                  </a:tcPr>
                </a:tc>
                <a:tc>
                  <a:txBody>
                    <a:bodyPr/>
                    <a:lstStyle/>
                    <a:p>
                      <a:r>
                        <a:rPr sz="1200" b="1">
                          <a:solidFill>
                            <a:srgbClr val="FFFFFF"/>
                          </a:solidFill>
                        </a:rPr>
                        <a:t>Volume</a:t>
                      </a:r>
                    </a:p>
                  </a:txBody>
                  <a:tcPr marL="54864" marR="54864" marT="27432" marB="27432" anchor="ctr">
                    <a:solidFill>
                      <a:srgbClr val="0F2C68"/>
                    </a:solidFill>
                  </a:tcPr>
                </a:tc>
                <a:tc>
                  <a:txBody>
                    <a:bodyPr/>
                    <a:lstStyle/>
                    <a:p>
                      <a:r>
                        <a:rPr sz="1200" b="1">
                          <a:solidFill>
                            <a:srgbClr val="FFFFFF"/>
                          </a:solidFill>
                        </a:rPr>
                        <a:t>P(volume lower)</a:t>
                      </a:r>
                    </a:p>
                  </a:txBody>
                  <a:tcPr marL="54864" marR="54864" marT="27432" marB="27432" anchor="ctr">
                    <a:solidFill>
                      <a:srgbClr val="0F2C68"/>
                    </a:solidFill>
                  </a:tcPr>
                </a:tc>
              </a:tr>
              <a:tr h="388620">
                <a:tc>
                  <a:txBody>
                    <a:bodyPr/>
                    <a:lstStyle/>
                    <a:p>
                      <a:r>
                        <a:rPr sz="1200" b="0">
                          <a:solidFill>
                            <a:srgbClr val="222222"/>
                          </a:solidFill>
                        </a:rPr>
                        <a:t>Kurt</a:t>
                      </a:r>
                    </a:p>
                  </a:txBody>
                  <a:tcPr marL="54864" marR="54864" marT="27432" marB="27432" anchor="ctr">
                    <a:solidFill>
                      <a:srgbClr val="FFFFFF"/>
                    </a:solidFill>
                  </a:tcPr>
                </a:tc>
                <a:tc>
                  <a:txBody>
                    <a:bodyPr/>
                    <a:lstStyle/>
                    <a:p>
                      <a:r>
                        <a:rPr sz="1200" b="0">
                          <a:solidFill>
                            <a:srgbClr val="222222"/>
                          </a:solidFill>
                        </a:rPr>
                        <a:t>13.12 ± 3.96</a:t>
                      </a:r>
                    </a:p>
                  </a:txBody>
                  <a:tcPr marL="54864" marR="54864" marT="27432" marB="27432" anchor="ctr">
                    <a:solidFill>
                      <a:srgbClr val="FFFFFF"/>
                    </a:solidFill>
                  </a:tcPr>
                </a:tc>
                <a:tc>
                  <a:txBody>
                    <a:bodyPr/>
                    <a:lstStyle/>
                    <a:p>
                      <a:r>
                        <a:rPr sz="1200" b="0">
                          <a:solidFill>
                            <a:srgbClr val="222222"/>
                          </a:solidFill>
                        </a:rPr>
                        <a:t>9.05 ± 1.81</a:t>
                      </a:r>
                    </a:p>
                  </a:txBody>
                  <a:tcPr marL="54864" marR="54864" marT="27432" marB="27432" anchor="ctr">
                    <a:solidFill>
                      <a:srgbClr val="FFFFFF"/>
                    </a:solidFill>
                  </a:tcPr>
                </a:tc>
                <a:tc>
                  <a:txBody>
                    <a:bodyPr/>
                    <a:lstStyle/>
                    <a:p>
                      <a:r>
                        <a:rPr sz="1200" b="0">
                          <a:solidFill>
                            <a:srgbClr val="222222"/>
                          </a:solidFill>
                        </a:rPr>
                        <a:t>0.947</a:t>
                      </a:r>
                    </a:p>
                  </a:txBody>
                  <a:tcPr marL="54864" marR="54864" marT="27432" marB="27432" anchor="ctr">
                    <a:solidFill>
                      <a:srgbClr val="FFFFFF"/>
                    </a:solidFill>
                  </a:tcPr>
                </a:tc>
              </a:tr>
              <a:tr h="388620">
                <a:tc>
                  <a:txBody>
                    <a:bodyPr/>
                    <a:lstStyle/>
                    <a:p>
                      <a:r>
                        <a:rPr sz="1200" b="0">
                          <a:solidFill>
                            <a:srgbClr val="222222"/>
                          </a:solidFill>
                        </a:rPr>
                        <a:t>J-B*</a:t>
                      </a:r>
                    </a:p>
                  </a:txBody>
                  <a:tcPr marL="54864" marR="54864" marT="27432" marB="27432" anchor="ctr">
                    <a:solidFill>
                      <a:srgbClr val="EEF2F8"/>
                    </a:solidFill>
                  </a:tcPr>
                </a:tc>
                <a:tc>
                  <a:txBody>
                    <a:bodyPr/>
                    <a:lstStyle/>
                    <a:p>
                      <a:r>
                        <a:rPr sz="1200" b="0">
                          <a:solidFill>
                            <a:srgbClr val="222222"/>
                          </a:solidFill>
                        </a:rPr>
                        <a:t>4.27 ± 3.11</a:t>
                      </a:r>
                    </a:p>
                  </a:txBody>
                  <a:tcPr marL="54864" marR="54864" marT="27432" marB="27432" anchor="ctr">
                    <a:solidFill>
                      <a:srgbClr val="EEF2F8"/>
                    </a:solidFill>
                  </a:tcPr>
                </a:tc>
                <a:tc>
                  <a:txBody>
                    <a:bodyPr/>
                    <a:lstStyle/>
                    <a:p>
                      <a:r>
                        <a:rPr sz="1200" b="0">
                          <a:solidFill>
                            <a:srgbClr val="222222"/>
                          </a:solidFill>
                        </a:rPr>
                        <a:t>1.53 ± 0.89</a:t>
                      </a:r>
                    </a:p>
                  </a:txBody>
                  <a:tcPr marL="54864" marR="54864" marT="27432" marB="27432" anchor="ctr">
                    <a:solidFill>
                      <a:srgbClr val="EEF2F8"/>
                    </a:solidFill>
                  </a:tcPr>
                </a:tc>
                <a:tc>
                  <a:txBody>
                    <a:bodyPr/>
                    <a:lstStyle/>
                    <a:p>
                      <a:r>
                        <a:rPr sz="1200" b="0">
                          <a:solidFill>
                            <a:srgbClr val="222222"/>
                          </a:solidFill>
                        </a:rPr>
                        <a:t>0.947</a:t>
                      </a:r>
                    </a:p>
                  </a:txBody>
                  <a:tcPr marL="54864" marR="54864" marT="27432" marB="27432" anchor="ctr">
                    <a:solidFill>
                      <a:srgbClr val="EEF2F8"/>
                    </a:solidFill>
                  </a:tcPr>
                </a:tc>
              </a:tr>
              <a:tr h="388620">
                <a:tc>
                  <a:txBody>
                    <a:bodyPr/>
                    <a:lstStyle/>
                    <a:p>
                      <a:r>
                        <a:rPr sz="1200" b="0">
                          <a:solidFill>
                            <a:srgbClr val="222222"/>
                          </a:solidFill>
                        </a:rPr>
                        <a:t>L-B*</a:t>
                      </a:r>
                    </a:p>
                  </a:txBody>
                  <a:tcPr marL="54864" marR="54864" marT="27432" marB="27432" anchor="ctr">
                    <a:solidFill>
                      <a:srgbClr val="FFFFFF"/>
                    </a:solidFill>
                  </a:tcPr>
                </a:tc>
                <a:tc>
                  <a:txBody>
                    <a:bodyPr/>
                    <a:lstStyle/>
                    <a:p>
                      <a:r>
                        <a:rPr sz="1200" b="0">
                          <a:solidFill>
                            <a:srgbClr val="222222"/>
                          </a:solidFill>
                        </a:rPr>
                        <a:t>23.13 ± 32.34</a:t>
                      </a:r>
                    </a:p>
                  </a:txBody>
                  <a:tcPr marL="54864" marR="54864" marT="27432" marB="27432" anchor="ctr">
                    <a:solidFill>
                      <a:srgbClr val="FFFFFF"/>
                    </a:solidFill>
                  </a:tcPr>
                </a:tc>
                <a:tc>
                  <a:txBody>
                    <a:bodyPr/>
                    <a:lstStyle/>
                    <a:p>
                      <a:r>
                        <a:rPr sz="1200" b="0">
                          <a:solidFill>
                            <a:srgbClr val="222222"/>
                          </a:solidFill>
                        </a:rPr>
                        <a:t>43.03 ± 25.23</a:t>
                      </a:r>
                    </a:p>
                  </a:txBody>
                  <a:tcPr marL="54864" marR="54864" marT="27432" marB="27432" anchor="ctr">
                    <a:solidFill>
                      <a:srgbClr val="FFFFFF"/>
                    </a:solidFill>
                  </a:tcPr>
                </a:tc>
                <a:tc>
                  <a:txBody>
                    <a:bodyPr/>
                    <a:lstStyle/>
                    <a:p>
                      <a:r>
                        <a:rPr sz="1200" b="0">
                          <a:solidFill>
                            <a:srgbClr val="222222"/>
                          </a:solidFill>
                        </a:rPr>
                        <a:t>0.313</a:t>
                      </a:r>
                    </a:p>
                  </a:txBody>
                  <a:tcPr marL="54864" marR="54864" marT="27432" marB="27432" anchor="ctr">
                    <a:solidFill>
                      <a:srgbClr val="FFFFFF"/>
                    </a:solidFill>
                  </a:tcPr>
                </a:tc>
              </a:tr>
              <a:tr h="388620">
                <a:tc>
                  <a:txBody>
                    <a:bodyPr/>
                    <a:lstStyle/>
                    <a:p>
                      <a:r>
                        <a:rPr sz="1200" b="0">
                          <a:solidFill>
                            <a:srgbClr val="222222"/>
                          </a:solidFill>
                        </a:rPr>
                        <a:t>White*</a:t>
                      </a:r>
                    </a:p>
                  </a:txBody>
                  <a:tcPr marL="54864" marR="54864" marT="27432" marB="27432" anchor="ctr">
                    <a:solidFill>
                      <a:srgbClr val="EEF2F8"/>
                    </a:solidFill>
                  </a:tcPr>
                </a:tc>
                <a:tc>
                  <a:txBody>
                    <a:bodyPr/>
                    <a:lstStyle/>
                    <a:p>
                      <a:r>
                        <a:rPr sz="1200" b="0">
                          <a:solidFill>
                            <a:srgbClr val="222222"/>
                          </a:solidFill>
                        </a:rPr>
                        <a:t>0.28 ± 0.10</a:t>
                      </a:r>
                    </a:p>
                  </a:txBody>
                  <a:tcPr marL="54864" marR="54864" marT="27432" marB="27432" anchor="ctr">
                    <a:solidFill>
                      <a:srgbClr val="EEF2F8"/>
                    </a:solidFill>
                  </a:tcPr>
                </a:tc>
                <a:tc>
                  <a:txBody>
                    <a:bodyPr/>
                    <a:lstStyle/>
                    <a:p>
                      <a:r>
                        <a:rPr sz="1200" b="0">
                          <a:solidFill>
                            <a:srgbClr val="222222"/>
                          </a:solidFill>
                        </a:rPr>
                        <a:t>0.16 ± 0.06</a:t>
                      </a:r>
                    </a:p>
                  </a:txBody>
                  <a:tcPr marL="54864" marR="54864" marT="27432" marB="27432" anchor="ctr">
                    <a:solidFill>
                      <a:srgbClr val="EEF2F8"/>
                    </a:solidFill>
                  </a:tcPr>
                </a:tc>
                <a:tc>
                  <a:txBody>
                    <a:bodyPr/>
                    <a:lstStyle/>
                    <a:p>
                      <a:r>
                        <a:rPr sz="1200" b="1">
                          <a:solidFill>
                            <a:srgbClr val="FFFFFF"/>
                          </a:solidFill>
                        </a:rPr>
                        <a:t>0.995</a:t>
                      </a:r>
                    </a:p>
                  </a:txBody>
                  <a:tcPr marL="54864" marR="54864" marT="27432" marB="27432" anchor="ctr">
                    <a:solidFill>
                      <a:srgbClr val="009B64"/>
                    </a:solidFill>
                  </a:tcPr>
                </a:tc>
              </a:tr>
              <a:tr h="388620">
                <a:tc>
                  <a:txBody>
                    <a:bodyPr/>
                    <a:lstStyle/>
                    <a:p>
                      <a:r>
                        <a:rPr sz="1200" b="0">
                          <a:solidFill>
                            <a:srgbClr val="222222"/>
                          </a:solidFill>
                        </a:rPr>
                        <a:t>Max</a:t>
                      </a:r>
                    </a:p>
                  </a:txBody>
                  <a:tcPr marL="54864" marR="54864" marT="27432" marB="27432" anchor="ctr">
                    <a:solidFill>
                      <a:srgbClr val="FFFFFF"/>
                    </a:solidFill>
                  </a:tcPr>
                </a:tc>
                <a:tc>
                  <a:txBody>
                    <a:bodyPr/>
                    <a:lstStyle/>
                    <a:p>
                      <a:r>
                        <a:rPr sz="1200" b="0">
                          <a:solidFill>
                            <a:srgbClr val="222222"/>
                          </a:solidFill>
                        </a:rPr>
                        <a:t>13.08 ± 2.29</a:t>
                      </a:r>
                    </a:p>
                  </a:txBody>
                  <a:tcPr marL="54864" marR="54864" marT="27432" marB="27432" anchor="ctr">
                    <a:solidFill>
                      <a:srgbClr val="FFFFFF"/>
                    </a:solidFill>
                  </a:tcPr>
                </a:tc>
                <a:tc>
                  <a:txBody>
                    <a:bodyPr/>
                    <a:lstStyle/>
                    <a:p>
                      <a:r>
                        <a:rPr sz="1200" b="0">
                          <a:solidFill>
                            <a:srgbClr val="222222"/>
                          </a:solidFill>
                        </a:rPr>
                        <a:t>9.86 ± 1.51</a:t>
                      </a:r>
                    </a:p>
                  </a:txBody>
                  <a:tcPr marL="54864" marR="54864" marT="27432" marB="27432" anchor="ctr">
                    <a:solidFill>
                      <a:srgbClr val="FFFFFF"/>
                    </a:solidFill>
                  </a:tcPr>
                </a:tc>
                <a:tc>
                  <a:txBody>
                    <a:bodyPr/>
                    <a:lstStyle/>
                    <a:p>
                      <a:r>
                        <a:rPr sz="1200" b="1">
                          <a:solidFill>
                            <a:srgbClr val="FFFFFF"/>
                          </a:solidFill>
                        </a:rPr>
                        <a:t>0.977</a:t>
                      </a:r>
                    </a:p>
                  </a:txBody>
                  <a:tcPr marL="54864" marR="54864" marT="27432" marB="27432" anchor="ctr">
                    <a:solidFill>
                      <a:srgbClr val="009B64"/>
                    </a:solidFill>
                  </a:tcPr>
                </a:tc>
              </a:tr>
            </a:tbl>
          </a:graphicData>
        </a:graphic>
      </p:graphicFrame>
      <p:sp>
        <p:nvSpPr>
          <p:cNvPr id="9" name="TextBox 8"/>
          <p:cNvSpPr txBox="1"/>
          <p:nvPr/>
        </p:nvSpPr>
        <p:spPr>
          <a:xfrm>
            <a:off x="585216" y="5029200"/>
            <a:ext cx="11338560" cy="1463040"/>
          </a:xfrm>
          <a:prstGeom prst="rect">
            <a:avLst/>
          </a:prstGeom>
          <a:noFill/>
        </p:spPr>
        <p:txBody>
          <a:bodyPr wrap="square" anchor="t" lIns="45720" rIns="45720">
            <a:spAutoFit/>
          </a:bodyPr>
          <a:lstStyle/>
          <a:p>
            <a:pPr algn="l">
              <a:spcAft>
                <a:spcPts val="600"/>
              </a:spcAft>
            </a:pPr>
            <a:r>
              <a:rPr sz="1300" b="0">
                <a:solidFill>
                  <a:srgbClr val="222222"/>
                </a:solidFill>
              </a:rPr>
              <a:t>• Ours: volume time is </a:t>
            </a:r>
            <a:r>
              <a:rPr sz="1300" b="1">
                <a:solidFill>
                  <a:srgbClr val="222222"/>
                </a:solidFill>
              </a:rPr>
              <a:t>significantly</a:t>
            </a:r>
            <a:r>
              <a:rPr sz="1300" b="0">
                <a:solidFill>
                  <a:srgbClr val="222222"/>
                </a:solidFill>
              </a:rPr>
              <a:t> lower on 1 of the 4 test statistics at 50 draws a day and 2 of 4 at 100; tails and White* clearly improve, autocorrelation (L-B*) does not at 50.</a:t>
            </a:r>
          </a:p>
          <a:p>
            <a:pPr algn="l">
              <a:spcAft>
                <a:spcPts val="600"/>
              </a:spcAft>
            </a:pPr>
            <a:r>
              <a:rPr sz="1300" b="0">
                <a:solidFill>
                  <a:srgbClr val="222222"/>
                </a:solidFill>
              </a:rPr>
              <a:t>• </a:t>
            </a:r>
            <a:r>
              <a:rPr sz="1300" b="1">
                <a:solidFill>
                  <a:srgbClr val="222222"/>
                </a:solidFill>
              </a:rPr>
              <a:t>Stability (Fig. 5):</a:t>
            </a:r>
            <a:r>
              <a:rPr sz="1300" b="0">
                <a:solidFill>
                  <a:srgbClr val="222222"/>
                </a:solidFill>
              </a:rPr>
              <a:t> restarting the buckets 0, 1, …, 999 bars later changes VPIN by 3.7% of its mean on IVE; the paper reports 6.5% for the E-mini.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3: does VPIN predict the next bucket's volatility?</a:t>
            </a:r>
          </a:p>
        </p:txBody>
      </p:sp>
      <p:sp>
        <p:nvSpPr>
          <p:cNvPr id="4" name="Text Placeholder 3"/>
          <p:cNvSpPr>
            <a:spLocks noGrp="1"/>
          </p:cNvSpPr>
          <p:nvPr>
            <p:ph type="body" idx="2"/>
          </p:nvPr>
        </p:nvSpPr>
        <p:spPr/>
        <p:txBody>
          <a:bodyPr/>
          <a:lstStyle/>
          <a:p>
            <a:r>
              <a:t>Research Seminar</a:t>
            </a:r>
          </a:p>
        </p:txBody>
      </p:sp>
      <p:pic>
        <p:nvPicPr>
          <p:cNvPr id="5" name="Picture 4" descr="paper_fig10.png"/>
          <p:cNvPicPr>
            <a:picLocks noChangeAspect="1"/>
          </p:cNvPicPr>
          <p:nvPr/>
        </p:nvPicPr>
        <p:blipFill>
          <a:blip r:embed="rId3"/>
          <a:stretch>
            <a:fillRect/>
          </a:stretch>
        </p:blipFill>
        <p:spPr>
          <a:xfrm>
            <a:off x="365760" y="2180953"/>
            <a:ext cx="5120640" cy="3501933"/>
          </a:xfrm>
          <a:prstGeom prst="rect">
            <a:avLst/>
          </a:prstGeom>
        </p:spPr>
      </p:pic>
      <p:sp>
        <p:nvSpPr>
          <p:cNvPr id="6" name="TextBox 5"/>
          <p:cNvSpPr txBox="1"/>
          <p:nvPr/>
        </p:nvSpPr>
        <p:spPr>
          <a:xfrm>
            <a:off x="365760" y="5715000"/>
            <a:ext cx="5120640" cy="640080"/>
          </a:xfrm>
          <a:prstGeom prst="rect">
            <a:avLst/>
          </a:prstGeom>
          <a:noFill/>
        </p:spPr>
        <p:txBody>
          <a:bodyPr wrap="square" anchor="t" lIns="45720" rIns="45720">
            <a:spAutoFit/>
          </a:bodyPr>
          <a:lstStyle/>
          <a:p>
            <a:pPr algn="ctr">
              <a:spcAft>
                <a:spcPts val="600"/>
              </a:spcAft>
            </a:pPr>
            <a:r>
              <a:rPr sz="1200" b="0">
                <a:solidFill>
                  <a:srgbClr val="595959"/>
                </a:solidFill>
              </a:rPr>
              <a:t>Paper (E-mini): 0.40 at (50, 250), 95% CI [0.392, 0.408] (iid)</a:t>
            </a:r>
          </a:p>
        </p:txBody>
      </p:sp>
      <p:pic>
        <p:nvPicPr>
          <p:cNvPr id="7" name="Picture 6" descr="fig10_correlation.png"/>
          <p:cNvPicPr>
            <a:picLocks noChangeAspect="1"/>
          </p:cNvPicPr>
          <p:nvPr/>
        </p:nvPicPr>
        <p:blipFill>
          <a:blip r:embed="rId4"/>
          <a:stretch>
            <a:fillRect/>
          </a:stretch>
        </p:blipFill>
        <p:spPr>
          <a:xfrm>
            <a:off x="5669280" y="2358513"/>
            <a:ext cx="4206240" cy="3146812"/>
          </a:xfrm>
          <a:prstGeom prst="rect">
            <a:avLst/>
          </a:prstGeom>
        </p:spPr>
      </p:pic>
      <p:sp>
        <p:nvSpPr>
          <p:cNvPr id="8" name="TextBox 7"/>
          <p:cNvSpPr txBox="1"/>
          <p:nvPr/>
        </p:nvSpPr>
        <p:spPr>
          <a:xfrm>
            <a:off x="5669280" y="5715000"/>
            <a:ext cx="4206240" cy="640080"/>
          </a:xfrm>
          <a:prstGeom prst="rect">
            <a:avLst/>
          </a:prstGeom>
          <a:noFill/>
        </p:spPr>
        <p:txBody>
          <a:bodyPr wrap="square" anchor="t" lIns="45720" rIns="45720">
            <a:spAutoFit/>
          </a:bodyPr>
          <a:lstStyle/>
          <a:p>
            <a:pPr algn="ctr">
              <a:spcAft>
                <a:spcPts val="600"/>
              </a:spcAft>
            </a:pPr>
            <a:r>
              <a:rPr sz="1200" b="0">
                <a:solidFill>
                  <a:srgbClr val="595959"/>
                </a:solidFill>
              </a:rPr>
              <a:t>Ours (IVE): 0.08 ± 0.05 at (50, 250), 95% CI [0.04, 0.22]</a:t>
            </a:r>
          </a:p>
        </p:txBody>
      </p:sp>
      <p:sp>
        <p:nvSpPr>
          <p:cNvPr id="9" name="TextBox 8"/>
          <p:cNvSpPr txBox="1"/>
          <p:nvPr/>
        </p:nvSpPr>
        <p:spPr>
          <a:xfrm>
            <a:off x="9966960" y="2240280"/>
            <a:ext cx="2057400" cy="4023360"/>
          </a:xfrm>
          <a:prstGeom prst="rect">
            <a:avLst/>
          </a:prstGeom>
          <a:noFill/>
        </p:spPr>
        <p:txBody>
          <a:bodyPr wrap="square" anchor="t" lIns="45720" rIns="45720">
            <a:spAutoFit/>
          </a:bodyPr>
          <a:lstStyle/>
          <a:p>
            <a:pPr algn="l">
              <a:spcAft>
                <a:spcPts val="600"/>
              </a:spcAft>
            </a:pPr>
            <a:r>
              <a:rPr sz="1500" b="1">
                <a:solidFill>
                  <a:srgbClr val="0F2C68"/>
                </a:solidFill>
              </a:rPr>
              <a:t>On IVE</a:t>
            </a:r>
          </a:p>
          <a:p>
            <a:pPr algn="l">
              <a:spcAft>
                <a:spcPts val="1200"/>
              </a:spcAft>
            </a:pPr>
            <a:r>
              <a:rPr sz="1300" b="0">
                <a:solidFill>
                  <a:srgbClr val="222222"/>
                </a:solidFill>
              </a:rPr>
              <a:t>Same sign; 0.40 is outside our interval.</a:t>
            </a:r>
          </a:p>
          <a:p>
            <a:pPr algn="l">
              <a:spcAft>
                <a:spcPts val="600"/>
              </a:spcAft>
            </a:pPr>
            <a:r>
              <a:rPr sz="1500" b="1">
                <a:solidFill>
                  <a:srgbClr val="0F2C68"/>
                </a:solidFill>
              </a:rPr>
              <a:t>About the ±</a:t>
            </a:r>
          </a:p>
          <a:p>
            <a:pPr algn="l">
              <a:spcAft>
                <a:spcPts val="600"/>
              </a:spcAft>
            </a:pPr>
            <a:r>
              <a:rPr sz="1300" b="0">
                <a:solidFill>
                  <a:srgbClr val="222222"/>
                </a:solidFill>
              </a:rPr>
              <a:t>An iid interval would give ours as [0.07, 0.09]: overlapping windows make it far too narrow.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high VPIN and large moves (Tables 4 and 5)</a:t>
            </a:r>
          </a:p>
        </p:txBody>
      </p:sp>
      <p:sp>
        <p:nvSpPr>
          <p:cNvPr id="4" name="Text Placeholder 3"/>
          <p:cNvSpPr>
            <a:spLocks noGrp="1"/>
          </p:cNvSpPr>
          <p:nvPr>
            <p:ph type="body" idx="2"/>
          </p:nvPr>
        </p:nvSpPr>
        <p:spPr/>
        <p:txBody>
          <a:bodyPr/>
          <a:lstStyle/>
          <a:p>
            <a:r>
              <a:t>Research Seminar</a:t>
            </a:r>
          </a:p>
        </p:txBody>
      </p:sp>
      <p:pic>
        <p:nvPicPr>
          <p:cNvPr id="5" name="Picture 4" descr="table4a_conditional.png"/>
          <p:cNvPicPr>
            <a:picLocks noChangeAspect="1"/>
          </p:cNvPicPr>
          <p:nvPr/>
        </p:nvPicPr>
        <p:blipFill>
          <a:blip r:embed="rId3"/>
          <a:stretch>
            <a:fillRect/>
          </a:stretch>
        </p:blipFill>
        <p:spPr>
          <a:xfrm>
            <a:off x="274320" y="2533953"/>
            <a:ext cx="7863840" cy="3618893"/>
          </a:xfrm>
          <a:prstGeom prst="rect">
            <a:avLst/>
          </a:prstGeom>
        </p:spPr>
      </p:pic>
      <p:sp>
        <p:nvSpPr>
          <p:cNvPr id="6" name="TextBox 5"/>
          <p:cNvSpPr txBox="1"/>
          <p:nvPr/>
        </p:nvSpPr>
        <p:spPr>
          <a:xfrm>
            <a:off x="8229600" y="2148840"/>
            <a:ext cx="3749039" cy="1828800"/>
          </a:xfrm>
          <a:prstGeom prst="rect">
            <a:avLst/>
          </a:prstGeom>
          <a:noFill/>
        </p:spPr>
        <p:txBody>
          <a:bodyPr wrap="square" anchor="t" lIns="45720" rIns="45720">
            <a:spAutoFit/>
          </a:bodyPr>
          <a:lstStyle/>
          <a:p>
            <a:pPr algn="l">
              <a:spcAft>
                <a:spcPts val="400"/>
              </a:spcAft>
            </a:pPr>
            <a:r>
              <a:rPr sz="1400" b="1">
                <a:solidFill>
                  <a:srgbClr val="0F2C68"/>
                </a:solidFill>
              </a:rPr>
              <a:t>Paper reports (E-mini)</a:t>
            </a:r>
          </a:p>
          <a:p>
            <a:pPr algn="l">
              <a:spcAft>
                <a:spcPts val="400"/>
              </a:spcAft>
            </a:pPr>
            <a:r>
              <a:rPr sz="1200" b="0">
                <a:solidFill>
                  <a:srgbClr val="222222"/>
                </a:solidFill>
              </a:rPr>
              <a:t>• Bottom-quartile VPIN → next |return| &lt; 0.25%: &gt; 90%</a:t>
            </a:r>
          </a:p>
          <a:p>
            <a:pPr algn="l">
              <a:spcAft>
                <a:spcPts val="400"/>
              </a:spcAft>
            </a:pPr>
            <a:r>
              <a:rPr sz="1200" b="0">
                <a:solidFill>
                  <a:srgbClr val="222222"/>
                </a:solidFill>
              </a:rPr>
              <a:t>• P(VPIN top quartile | move &gt; 0.75%): &gt; 84%</a:t>
            </a:r>
          </a:p>
          <a:p>
            <a:pPr algn="l">
              <a:spcAft>
                <a:spcPts val="400"/>
              </a:spcAft>
            </a:pPr>
            <a:r>
              <a:rPr sz="1200" b="0">
                <a:solidFill>
                  <a:srgbClr val="222222"/>
                </a:solidFill>
              </a:rPr>
              <a:t>• Big move while VPIN stays high, (10, 350): 78.6%</a:t>
            </a:r>
          </a:p>
        </p:txBody>
      </p:sp>
      <p:sp>
        <p:nvSpPr>
          <p:cNvPr id="7" name="TextBox 6"/>
          <p:cNvSpPr txBox="1"/>
          <p:nvPr/>
        </p:nvSpPr>
        <p:spPr>
          <a:xfrm>
            <a:off x="8229600" y="4069080"/>
            <a:ext cx="3749039" cy="2377440"/>
          </a:xfrm>
          <a:prstGeom prst="rect">
            <a:avLst/>
          </a:prstGeom>
          <a:noFill/>
        </p:spPr>
        <p:txBody>
          <a:bodyPr wrap="square" anchor="t" lIns="45720" rIns="45720">
            <a:spAutoFit/>
          </a:bodyPr>
          <a:lstStyle/>
          <a:p>
            <a:pPr algn="l">
              <a:spcAft>
                <a:spcPts val="400"/>
              </a:spcAft>
            </a:pPr>
            <a:r>
              <a:rPr sz="1400" b="1">
                <a:solidFill>
                  <a:srgbClr val="0F2C68"/>
                </a:solidFill>
              </a:rPr>
              <a:t>On IVE (± s.e.)</a:t>
            </a:r>
          </a:p>
          <a:p>
            <a:pPr algn="l">
              <a:spcAft>
                <a:spcPts val="400"/>
              </a:spcAft>
            </a:pPr>
            <a:r>
              <a:rPr sz="1200" b="0">
                <a:solidFill>
                  <a:srgbClr val="222222"/>
                </a:solidFill>
              </a:rPr>
              <a:t>• Bottom quartile → &lt; 0.25%: </a:t>
            </a:r>
            <a:r>
              <a:rPr sz="1200" b="1">
                <a:solidFill>
                  <a:srgbClr val="222222"/>
                </a:solidFill>
              </a:rPr>
              <a:t>96.1% ± 0.5%</a:t>
            </a:r>
          </a:p>
          <a:p>
            <a:pPr algn="l">
              <a:spcAft>
                <a:spcPts val="400"/>
              </a:spcAft>
            </a:pPr>
            <a:r>
              <a:rPr sz="1200" b="0">
                <a:solidFill>
                  <a:srgbClr val="222222"/>
                </a:solidFill>
              </a:rPr>
              <a:t>• P(top quartile | move &gt; 0.75%): </a:t>
            </a:r>
            <a:r>
              <a:rPr sz="1200" b="1">
                <a:solidFill>
                  <a:srgbClr val="222222"/>
                </a:solidFill>
              </a:rPr>
              <a:t>51% ± 13%</a:t>
            </a:r>
          </a:p>
          <a:p>
            <a:pPr algn="l">
              <a:spcAft>
                <a:spcPts val="400"/>
              </a:spcAft>
            </a:pPr>
            <a:r>
              <a:rPr sz="1200" b="0">
                <a:solidFill>
                  <a:srgbClr val="222222"/>
                </a:solidFill>
              </a:rPr>
              <a:t>• Big move while VPIN stays high, (10, 350): </a:t>
            </a:r>
            <a:r>
              <a:rPr sz="1200" b="1">
                <a:solidFill>
                  <a:srgbClr val="222222"/>
                </a:solidFill>
              </a:rPr>
              <a:t>60% ± 12%</a:t>
            </a:r>
            <a:r>
              <a:rPr sz="1200" b="0">
                <a:solidFill>
                  <a:srgbClr val="222222"/>
                </a:solidFill>
              </a:rPr>
              <a:t>, 95% CI [37%, 85%]</a:t>
            </a:r>
          </a:p>
          <a:p>
            <a:pPr algn="l">
              <a:spcAft>
                <a:spcPts val="400"/>
              </a:spcAft>
            </a:pPr>
            <a:r>
              <a:rPr sz="1200" b="1">
                <a:solidFill>
                  <a:srgbClr val="0F2C68"/>
                </a:solidFill>
              </a:rPr>
              <a:t>• Low VPIN = calm reproduces; the warning value is weaker or uncertain.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Reproduction scorecard</a:t>
            </a:r>
          </a:p>
        </p:txBody>
      </p:sp>
      <p:sp>
        <p:nvSpPr>
          <p:cNvPr id="4" name="Text Placeholder 3"/>
          <p:cNvSpPr>
            <a:spLocks noGrp="1"/>
          </p:cNvSpPr>
          <p:nvPr>
            <p:ph type="body" idx="2"/>
          </p:nvPr>
        </p:nvSpPr>
        <p:spPr/>
        <p:txBody>
          <a:bodyPr/>
          <a:lstStyle/>
          <a:p>
            <a:r>
              <a:t>Research Seminar</a:t>
            </a:r>
          </a:p>
        </p:txBody>
      </p:sp>
      <p:sp>
        <p:nvSpPr>
          <p:cNvPr id="5" name="TextBox 4"/>
          <p:cNvSpPr txBox="1"/>
          <p:nvPr/>
        </p:nvSpPr>
        <p:spPr>
          <a:xfrm>
            <a:off x="365760" y="2011680"/>
            <a:ext cx="7040880" cy="320040"/>
          </a:xfrm>
          <a:prstGeom prst="rect">
            <a:avLst/>
          </a:prstGeom>
          <a:noFill/>
        </p:spPr>
        <p:txBody>
          <a:bodyPr wrap="square" anchor="t" lIns="45720" rIns="45720">
            <a:spAutoFit/>
          </a:bodyPr>
          <a:lstStyle/>
          <a:p>
            <a:pPr algn="l">
              <a:spcAft>
                <a:spcPts val="600"/>
              </a:spcAft>
            </a:pPr>
            <a:r>
              <a:rPr sz="1300" b="1">
                <a:solidFill>
                  <a:srgbClr val="0F2C68"/>
                </a:solidFill>
              </a:rPr>
              <a:t>Paper reports: E-mini, 2008–11</a:t>
            </a:r>
          </a:p>
        </p:txBody>
      </p:sp>
      <p:graphicFrame>
        <p:nvGraphicFramePr>
          <p:cNvPr id="6" name="Table 5"/>
          <p:cNvGraphicFramePr>
            <a:graphicFrameLocks noGrp="1"/>
          </p:cNvGraphicFramePr>
          <p:nvPr/>
        </p:nvGraphicFramePr>
        <p:xfrm>
          <a:off x="365760" y="2377440"/>
          <a:ext cx="7040880" cy="4114800"/>
        </p:xfrm>
        <a:graphic>
          <a:graphicData uri="http://schemas.openxmlformats.org/drawingml/2006/table">
            <a:tbl>
              <a:tblPr firstRow="1" bandRow="1">
                <a:tableStyleId>{5C22544A-7EE6-4342-B048-85BDC9FD1C3A}</a:tableStyleId>
              </a:tblPr>
              <a:tblGrid>
                <a:gridCol w="320040"/>
                <a:gridCol w="5257800"/>
                <a:gridCol w="1463040"/>
              </a:tblGrid>
              <a:tr h="374072">
                <a:tc>
                  <a:txBody>
                    <a:bodyPr/>
                    <a:lstStyle/>
                    <a:p>
                      <a:r>
                        <a:rPr sz="1000" b="1">
                          <a:solidFill>
                            <a:srgbClr val="FFFFFF"/>
                          </a:solidFill>
                        </a:rPr>
                        <a:t>#</a:t>
                      </a:r>
                    </a:p>
                  </a:txBody>
                  <a:tcPr marL="54864" marR="54864" marT="27432" marB="27432" anchor="ctr">
                    <a:solidFill>
                      <a:srgbClr val="0F2C68"/>
                    </a:solidFill>
                  </a:tcPr>
                </a:tc>
                <a:tc>
                  <a:txBody>
                    <a:bodyPr/>
                    <a:lstStyle/>
                    <a:p>
                      <a:r>
                        <a:rPr sz="1000" b="1">
                          <a:solidFill>
                            <a:srgbClr val="FFFFFF"/>
                          </a:solidFill>
                        </a:rPr>
                        <a:t>Claim</a:t>
                      </a:r>
                    </a:p>
                  </a:txBody>
                  <a:tcPr marL="54864" marR="54864" marT="27432" marB="27432" anchor="ctr">
                    <a:solidFill>
                      <a:srgbClr val="0F2C68"/>
                    </a:solidFill>
                  </a:tcPr>
                </a:tc>
                <a:tc>
                  <a:txBody>
                    <a:bodyPr/>
                    <a:lstStyle/>
                    <a:p>
                      <a:r>
                        <a:rPr sz="1000" b="1">
                          <a:solidFill>
                            <a:srgbClr val="FFFFFF"/>
                          </a:solidFill>
                        </a:rPr>
                        <a:t>Reported</a:t>
                      </a:r>
                    </a:p>
                  </a:txBody>
                  <a:tcPr marL="54864" marR="54864" marT="27432" marB="27432" anchor="ctr">
                    <a:solidFill>
                      <a:srgbClr val="0F2C68"/>
                    </a:solidFill>
                  </a:tcPr>
                </a:tc>
              </a:tr>
              <a:tr h="374072">
                <a:tc>
                  <a:txBody>
                    <a:bodyPr/>
                    <a:lstStyle/>
                    <a:p>
                      <a:r>
                        <a:rPr sz="1000" b="0">
                          <a:solidFill>
                            <a:srgbClr val="222222"/>
                          </a:solidFill>
                        </a:rPr>
                        <a:t>1</a:t>
                      </a:r>
                    </a:p>
                  </a:txBody>
                  <a:tcPr marL="54864" marR="54864" marT="27432" marB="27432" anchor="ctr">
                    <a:solidFill>
                      <a:srgbClr val="FFFFFF"/>
                    </a:solidFill>
                  </a:tcPr>
                </a:tc>
                <a:tc>
                  <a:txBody>
                    <a:bodyPr/>
                    <a:lstStyle/>
                    <a:p>
                      <a:r>
                        <a:rPr sz="1000" b="0">
                          <a:solidFill>
                            <a:srgbClr val="222222"/>
                          </a:solidFill>
                        </a:rPr>
                        <a:t>VPIN does not depend on where the bucket sequence starts (std / mean across 1,000 starts)</a:t>
                      </a:r>
                    </a:p>
                  </a:txBody>
                  <a:tcPr marL="54864" marR="54864" marT="27432" marB="27432" anchor="ctr">
                    <a:solidFill>
                      <a:srgbClr val="FFFFFF"/>
                    </a:solidFill>
                  </a:tcPr>
                </a:tc>
                <a:tc>
                  <a:txBody>
                    <a:bodyPr/>
                    <a:lstStyle/>
                    <a:p>
                      <a:r>
                        <a:rPr sz="1000" b="0">
                          <a:solidFill>
                            <a:srgbClr val="222222"/>
                          </a:solidFill>
                        </a:rPr>
                        <a:t>6.5%</a:t>
                      </a:r>
                    </a:p>
                  </a:txBody>
                  <a:tcPr marL="54864" marR="54864" marT="27432" marB="27432" anchor="ctr">
                    <a:solidFill>
                      <a:srgbClr val="FFFFFF"/>
                    </a:solidFill>
                  </a:tcPr>
                </a:tc>
              </a:tr>
              <a:tr h="374072">
                <a:tc>
                  <a:txBody>
                    <a:bodyPr/>
                    <a:lstStyle/>
                    <a:p>
                      <a:r>
                        <a:rPr sz="1000" b="0">
                          <a:solidFill>
                            <a:srgbClr val="222222"/>
                          </a:solidFill>
                        </a:rPr>
                        <a:t>2</a:t>
                      </a:r>
                    </a:p>
                  </a:txBody>
                  <a:tcPr marL="54864" marR="54864" marT="27432" marB="27432" anchor="ctr">
                    <a:solidFill>
                      <a:srgbClr val="EEF2F8"/>
                    </a:solidFill>
                  </a:tcPr>
                </a:tc>
                <a:tc>
                  <a:txBody>
                    <a:bodyPr/>
                    <a:lstStyle/>
                    <a:p>
                      <a:r>
                        <a:rPr sz="1000" b="0">
                          <a:solidFill>
                            <a:srgbClr val="222222"/>
                          </a:solidFill>
                        </a:rPr>
                        <a:t>Volume time is closer to normal than clock time: Kurt, J-B*, L-B*, White* lower</a:t>
                      </a:r>
                    </a:p>
                  </a:txBody>
                  <a:tcPr marL="54864" marR="54864" marT="27432" marB="27432" anchor="ctr">
                    <a:solidFill>
                      <a:srgbClr val="EEF2F8"/>
                    </a:solidFill>
                  </a:tcPr>
                </a:tc>
                <a:tc>
                  <a:txBody>
                    <a:bodyPr/>
                    <a:lstStyle/>
                    <a:p>
                      <a:r>
                        <a:rPr sz="1000" b="0">
                          <a:solidFill>
                            <a:srgbClr val="222222"/>
                          </a:solidFill>
                        </a:rPr>
                        <a:t>4 of 4 at 50 and at 100 draws a day</a:t>
                      </a:r>
                    </a:p>
                  </a:txBody>
                  <a:tcPr marL="54864" marR="54864" marT="27432" marB="27432" anchor="ctr">
                    <a:solidFill>
                      <a:srgbClr val="EEF2F8"/>
                    </a:solidFill>
                  </a:tcPr>
                </a:tc>
              </a:tr>
              <a:tr h="374072">
                <a:tc>
                  <a:txBody>
                    <a:bodyPr/>
                    <a:lstStyle/>
                    <a:p>
                      <a:r>
                        <a:rPr sz="1000" b="0">
                          <a:solidFill>
                            <a:srgbClr val="222222"/>
                          </a:solidFill>
                        </a:rPr>
                        <a:t>3</a:t>
                      </a:r>
                    </a:p>
                  </a:txBody>
                  <a:tcPr marL="54864" marR="54864" marT="27432" marB="27432" anchor="ctr">
                    <a:solidFill>
                      <a:srgbClr val="FFFFFF"/>
                    </a:solidFill>
                  </a:tcPr>
                </a:tc>
                <a:tc>
                  <a:txBody>
                    <a:bodyPr/>
                    <a:lstStyle/>
                    <a:p>
                      <a:r>
                        <a:rPr sz="1000" b="0">
                          <a:solidFill>
                            <a:srgbClr val="222222"/>
                          </a:solidFill>
                        </a:rPr>
                        <a:t>CDF(VPIN) &gt; 0.9 at least 2 h before the flash crash: BVC, one-minute bars</a:t>
                      </a:r>
                    </a:p>
                  </a:txBody>
                  <a:tcPr marL="54864" marR="54864" marT="27432" marB="27432" anchor="ctr">
                    <a:solidFill>
                      <a:srgbClr val="FFFFFF"/>
                    </a:solidFill>
                  </a:tcPr>
                </a:tc>
                <a:tc>
                  <a:txBody>
                    <a:bodyPr/>
                    <a:lstStyle/>
                    <a:p>
                      <a:r>
                        <a:rPr sz="1000" b="0">
                          <a:solidFill>
                            <a:srgbClr val="222222"/>
                          </a:solidFill>
                        </a:rPr>
                        <a:t>≥ 2 h</a:t>
                      </a:r>
                    </a:p>
                  </a:txBody>
                  <a:tcPr marL="54864" marR="54864" marT="27432" marB="27432" anchor="ctr">
                    <a:solidFill>
                      <a:srgbClr val="FFFFFF"/>
                    </a:solidFill>
                  </a:tcPr>
                </a:tc>
              </a:tr>
              <a:tr h="374072">
                <a:tc>
                  <a:txBody>
                    <a:bodyPr/>
                    <a:lstStyle/>
                    <a:p>
                      <a:r>
                        <a:rPr sz="1000" b="0">
                          <a:solidFill>
                            <a:srgbClr val="222222"/>
                          </a:solidFill>
                        </a:rPr>
                        <a:t>4</a:t>
                      </a:r>
                    </a:p>
                  </a:txBody>
                  <a:tcPr marL="54864" marR="54864" marT="27432" marB="27432" anchor="ctr">
                    <a:solidFill>
                      <a:srgbClr val="EEF2F8"/>
                    </a:solidFill>
                  </a:tcPr>
                </a:tc>
                <a:tc>
                  <a:txBody>
                    <a:bodyPr/>
                    <a:lstStyle/>
                    <a:p>
                      <a:r>
                        <a:rPr sz="1000" b="0">
                          <a:solidFill>
                            <a:srgbClr val="222222"/>
                          </a:solidFill>
                        </a:rPr>
                        <a:t>... BVC, 10-second bars</a:t>
                      </a:r>
                    </a:p>
                  </a:txBody>
                  <a:tcPr marL="54864" marR="54864" marT="27432" marB="27432" anchor="ctr">
                    <a:solidFill>
                      <a:srgbClr val="EEF2F8"/>
                    </a:solidFill>
                  </a:tcPr>
                </a:tc>
                <a:tc>
                  <a:txBody>
                    <a:bodyPr/>
                    <a:lstStyle/>
                    <a:p>
                      <a:r>
                        <a:rPr sz="1000" b="0">
                          <a:solidFill>
                            <a:srgbClr val="222222"/>
                          </a:solidFill>
                        </a:rPr>
                        <a:t>≥ 2 h</a:t>
                      </a:r>
                    </a:p>
                  </a:txBody>
                  <a:tcPr marL="54864" marR="54864" marT="27432" marB="27432" anchor="ctr">
                    <a:solidFill>
                      <a:srgbClr val="EEF2F8"/>
                    </a:solidFill>
                  </a:tcPr>
                </a:tc>
              </a:tr>
              <a:tr h="374072">
                <a:tc>
                  <a:txBody>
                    <a:bodyPr/>
                    <a:lstStyle/>
                    <a:p>
                      <a:r>
                        <a:rPr sz="1000" b="0">
                          <a:solidFill>
                            <a:srgbClr val="222222"/>
                          </a:solidFill>
                        </a:rPr>
                        <a:t>5</a:t>
                      </a:r>
                    </a:p>
                  </a:txBody>
                  <a:tcPr marL="54864" marR="54864" marT="27432" marB="27432" anchor="ctr">
                    <a:solidFill>
                      <a:srgbClr val="FFFFFF"/>
                    </a:solidFill>
                  </a:tcPr>
                </a:tc>
                <a:tc>
                  <a:txBody>
                    <a:bodyPr/>
                    <a:lstStyle/>
                    <a:p>
                      <a:r>
                        <a:rPr sz="1000" b="0">
                          <a:solidFill>
                            <a:srgbClr val="222222"/>
                          </a:solidFill>
                        </a:rPr>
                        <a:t>... Lee-Ready, trade by trade</a:t>
                      </a:r>
                    </a:p>
                  </a:txBody>
                  <a:tcPr marL="54864" marR="54864" marT="27432" marB="27432" anchor="ctr">
                    <a:solidFill>
                      <a:srgbClr val="FFFFFF"/>
                    </a:solidFill>
                  </a:tcPr>
                </a:tc>
                <a:tc>
                  <a:txBody>
                    <a:bodyPr/>
                    <a:lstStyle/>
                    <a:p>
                      <a:r>
                        <a:rPr sz="1000" b="0">
                          <a:solidFill>
                            <a:srgbClr val="222222"/>
                          </a:solidFill>
                        </a:rPr>
                        <a:t>≥ 2 h</a:t>
                      </a:r>
                    </a:p>
                  </a:txBody>
                  <a:tcPr marL="54864" marR="54864" marT="27432" marB="27432" anchor="ctr">
                    <a:solidFill>
                      <a:srgbClr val="FFFFFF"/>
                    </a:solidFill>
                  </a:tcPr>
                </a:tc>
              </a:tr>
              <a:tr h="374072">
                <a:tc>
                  <a:txBody>
                    <a:bodyPr/>
                    <a:lstStyle/>
                    <a:p>
                      <a:r>
                        <a:rPr sz="1000" b="0">
                          <a:solidFill>
                            <a:srgbClr val="222222"/>
                          </a:solidFill>
                        </a:rPr>
                        <a:t>6</a:t>
                      </a:r>
                    </a:p>
                  </a:txBody>
                  <a:tcPr marL="54864" marR="54864" marT="27432" marB="27432" anchor="ctr">
                    <a:solidFill>
                      <a:srgbClr val="EEF2F8"/>
                    </a:solidFill>
                  </a:tcPr>
                </a:tc>
                <a:tc>
                  <a:txBody>
                    <a:bodyPr/>
                    <a:lstStyle/>
                    <a:p>
                      <a:r>
                        <a:rPr sz="1000" b="0">
                          <a:solidFill>
                            <a:srgbClr val="222222"/>
                          </a:solidFill>
                        </a:rPr>
                        <a:t>Low VPIN (bottom quartile) → next |return| &lt; 0.25%</a:t>
                      </a:r>
                    </a:p>
                  </a:txBody>
                  <a:tcPr marL="54864" marR="54864" marT="27432" marB="27432" anchor="ctr">
                    <a:solidFill>
                      <a:srgbClr val="EEF2F8"/>
                    </a:solidFill>
                  </a:tcPr>
                </a:tc>
                <a:tc>
                  <a:txBody>
                    <a:bodyPr/>
                    <a:lstStyle/>
                    <a:p>
                      <a:r>
                        <a:rPr sz="1000" b="0">
                          <a:solidFill>
                            <a:srgbClr val="222222"/>
                          </a:solidFill>
                        </a:rPr>
                        <a:t>&gt; 90%</a:t>
                      </a:r>
                    </a:p>
                  </a:txBody>
                  <a:tcPr marL="54864" marR="54864" marT="27432" marB="27432" anchor="ctr">
                    <a:solidFill>
                      <a:srgbClr val="EEF2F8"/>
                    </a:solidFill>
                  </a:tcPr>
                </a:tc>
              </a:tr>
              <a:tr h="374072">
                <a:tc>
                  <a:txBody>
                    <a:bodyPr/>
                    <a:lstStyle/>
                    <a:p>
                      <a:r>
                        <a:rPr sz="1000" b="0">
                          <a:solidFill>
                            <a:srgbClr val="222222"/>
                          </a:solidFill>
                        </a:rPr>
                        <a:t>7</a:t>
                      </a:r>
                    </a:p>
                  </a:txBody>
                  <a:tcPr marL="54864" marR="54864" marT="27432" marB="27432" anchor="ctr">
                    <a:solidFill>
                      <a:srgbClr val="FFFFFF"/>
                    </a:solidFill>
                  </a:tcPr>
                </a:tc>
                <a:tc>
                  <a:txBody>
                    <a:bodyPr/>
                    <a:lstStyle/>
                    <a:p>
                      <a:r>
                        <a:rPr sz="1000" b="0">
                          <a:solidFill>
                            <a:srgbClr val="222222"/>
                          </a:solidFill>
                        </a:rPr>
                        <a:t>Corr(ln VPIN, next |return|) at (50, 250)</a:t>
                      </a:r>
                    </a:p>
                  </a:txBody>
                  <a:tcPr marL="54864" marR="54864" marT="27432" marB="27432" anchor="ctr">
                    <a:solidFill>
                      <a:srgbClr val="FFFFFF"/>
                    </a:solidFill>
                  </a:tcPr>
                </a:tc>
                <a:tc>
                  <a:txBody>
                    <a:bodyPr/>
                    <a:lstStyle/>
                    <a:p>
                      <a:r>
                        <a:rPr sz="1000" b="0">
                          <a:solidFill>
                            <a:srgbClr val="222222"/>
                          </a:solidFill>
                        </a:rPr>
                        <a:t>0.40 [0.392, 0.408]</a:t>
                      </a:r>
                    </a:p>
                  </a:txBody>
                  <a:tcPr marL="54864" marR="54864" marT="27432" marB="27432" anchor="ctr">
                    <a:solidFill>
                      <a:srgbClr val="FFFFFF"/>
                    </a:solidFill>
                  </a:tcPr>
                </a:tc>
              </a:tr>
              <a:tr h="374072">
                <a:tc>
                  <a:txBody>
                    <a:bodyPr/>
                    <a:lstStyle/>
                    <a:p>
                      <a:r>
                        <a:rPr sz="1000" b="0">
                          <a:solidFill>
                            <a:srgbClr val="222222"/>
                          </a:solidFill>
                        </a:rPr>
                        <a:t>8</a:t>
                      </a:r>
                    </a:p>
                  </a:txBody>
                  <a:tcPr marL="54864" marR="54864" marT="27432" marB="27432" anchor="ctr">
                    <a:solidFill>
                      <a:srgbClr val="EEF2F8"/>
                    </a:solidFill>
                  </a:tcPr>
                </a:tc>
                <a:tc>
                  <a:txBody>
                    <a:bodyPr/>
                    <a:lstStyle/>
                    <a:p>
                      <a:r>
                        <a:rPr sz="1000" b="0">
                          <a:solidFill>
                            <a:srgbClr val="222222"/>
                          </a:solidFill>
                        </a:rPr>
                        <a:t>P(VPIN in top quartile | next |return| &gt; 0.75%) at (50, 250)</a:t>
                      </a:r>
                    </a:p>
                  </a:txBody>
                  <a:tcPr marL="54864" marR="54864" marT="27432" marB="27432" anchor="ctr">
                    <a:solidFill>
                      <a:srgbClr val="EEF2F8"/>
                    </a:solidFill>
                  </a:tcPr>
                </a:tc>
                <a:tc>
                  <a:txBody>
                    <a:bodyPr/>
                    <a:lstStyle/>
                    <a:p>
                      <a:r>
                        <a:rPr sz="1000" b="0">
                          <a:solidFill>
                            <a:srgbClr val="222222"/>
                          </a:solidFill>
                        </a:rPr>
                        <a:t>&gt; 84%</a:t>
                      </a:r>
                    </a:p>
                  </a:txBody>
                  <a:tcPr marL="54864" marR="54864" marT="27432" marB="27432" anchor="ctr">
                    <a:solidFill>
                      <a:srgbClr val="EEF2F8"/>
                    </a:solidFill>
                  </a:tcPr>
                </a:tc>
              </a:tr>
              <a:tr h="374072">
                <a:tc>
                  <a:txBody>
                    <a:bodyPr/>
                    <a:lstStyle/>
                    <a:p>
                      <a:r>
                        <a:rPr sz="1000" b="0">
                          <a:solidFill>
                            <a:srgbClr val="222222"/>
                          </a:solidFill>
                        </a:rPr>
                        <a:t>9</a:t>
                      </a:r>
                    </a:p>
                  </a:txBody>
                  <a:tcPr marL="54864" marR="54864" marT="27432" marB="27432" anchor="ctr">
                    <a:solidFill>
                      <a:srgbClr val="FFFFFF"/>
                    </a:solidFill>
                  </a:tcPr>
                </a:tc>
                <a:tc>
                  <a:txBody>
                    <a:bodyPr/>
                    <a:lstStyle/>
                    <a:p>
                      <a:r>
                        <a:rPr sz="1000" b="0">
                          <a:solidFill>
                            <a:srgbClr val="222222"/>
                          </a:solidFill>
                        </a:rPr>
                        <a:t>P(move &gt; 0.75% while VPIN stays in the top quartile) at (50, 250)</a:t>
                      </a:r>
                    </a:p>
                  </a:txBody>
                  <a:tcPr marL="54864" marR="54864" marT="27432" marB="27432" anchor="ctr">
                    <a:solidFill>
                      <a:srgbClr val="FFFFFF"/>
                    </a:solidFill>
                  </a:tcPr>
                </a:tc>
                <a:tc>
                  <a:txBody>
                    <a:bodyPr/>
                    <a:lstStyle/>
                    <a:p>
                      <a:r>
                        <a:rPr sz="1000" b="0">
                          <a:solidFill>
                            <a:srgbClr val="222222"/>
                          </a:solidFill>
                        </a:rPr>
                        <a:t>51.8%</a:t>
                      </a:r>
                    </a:p>
                  </a:txBody>
                  <a:tcPr marL="54864" marR="54864" marT="27432" marB="27432" anchor="ctr">
                    <a:solidFill>
                      <a:srgbClr val="FFFFFF"/>
                    </a:solidFill>
                  </a:tcPr>
                </a:tc>
              </a:tr>
              <a:tr h="374080">
                <a:tc>
                  <a:txBody>
                    <a:bodyPr/>
                    <a:lstStyle/>
                    <a:p>
                      <a:r>
                        <a:rPr sz="1000" b="0">
                          <a:solidFill>
                            <a:srgbClr val="222222"/>
                          </a:solidFill>
                        </a:rPr>
                        <a:t>10</a:t>
                      </a:r>
                    </a:p>
                  </a:txBody>
                  <a:tcPr marL="54864" marR="54864" marT="27432" marB="27432" anchor="ctr">
                    <a:solidFill>
                      <a:srgbClr val="EEF2F8"/>
                    </a:solidFill>
                  </a:tcPr>
                </a:tc>
                <a:tc>
                  <a:txBody>
                    <a:bodyPr/>
                    <a:lstStyle/>
                    <a:p>
                      <a:r>
                        <a:rPr sz="1000" b="0">
                          <a:solidFill>
                            <a:srgbClr val="222222"/>
                          </a:solidFill>
                        </a:rPr>
                        <a:t>... at (10, 350)</a:t>
                      </a:r>
                    </a:p>
                  </a:txBody>
                  <a:tcPr marL="54864" marR="54864" marT="27432" marB="27432" anchor="ctr">
                    <a:solidFill>
                      <a:srgbClr val="EEF2F8"/>
                    </a:solidFill>
                  </a:tcPr>
                </a:tc>
                <a:tc>
                  <a:txBody>
                    <a:bodyPr/>
                    <a:lstStyle/>
                    <a:p>
                      <a:r>
                        <a:rPr sz="1000" b="0">
                          <a:solidFill>
                            <a:srgbClr val="222222"/>
                          </a:solidFill>
                        </a:rPr>
                        <a:t>78.6%</a:t>
                      </a:r>
                    </a:p>
                  </a:txBody>
                  <a:tcPr marL="54864" marR="54864" marT="27432" marB="27432" anchor="ctr">
                    <a:solidFill>
                      <a:srgbClr val="EEF2F8"/>
                    </a:solidFill>
                  </a:tcPr>
                </a:tc>
              </a:tr>
            </a:tbl>
          </a:graphicData>
        </a:graphic>
      </p:graphicFrame>
      <p:sp>
        <p:nvSpPr>
          <p:cNvPr id="7" name="TextBox 6"/>
          <p:cNvSpPr txBox="1"/>
          <p:nvPr/>
        </p:nvSpPr>
        <p:spPr>
          <a:xfrm>
            <a:off x="7543800" y="2011680"/>
            <a:ext cx="4343400" cy="320040"/>
          </a:xfrm>
          <a:prstGeom prst="rect">
            <a:avLst/>
          </a:prstGeom>
          <a:noFill/>
        </p:spPr>
        <p:txBody>
          <a:bodyPr wrap="square" anchor="t" lIns="45720" rIns="45720">
            <a:spAutoFit/>
          </a:bodyPr>
          <a:lstStyle/>
          <a:p>
            <a:pPr algn="l">
              <a:spcAft>
                <a:spcPts val="600"/>
              </a:spcAft>
            </a:pPr>
            <a:r>
              <a:rPr sz="1300" b="1">
                <a:solidFill>
                  <a:srgbClr val="0F2C68"/>
                </a:solidFill>
              </a:rPr>
              <a:t>Ours: IVE, 2009–11</a:t>
            </a:r>
          </a:p>
        </p:txBody>
      </p:sp>
      <p:graphicFrame>
        <p:nvGraphicFramePr>
          <p:cNvPr id="8" name="Table 7"/>
          <p:cNvGraphicFramePr>
            <a:graphicFrameLocks noGrp="1"/>
          </p:cNvGraphicFramePr>
          <p:nvPr/>
        </p:nvGraphicFramePr>
        <p:xfrm>
          <a:off x="7543800" y="2377440"/>
          <a:ext cx="4343400" cy="4114800"/>
        </p:xfrm>
        <a:graphic>
          <a:graphicData uri="http://schemas.openxmlformats.org/drawingml/2006/table">
            <a:tbl>
              <a:tblPr firstRow="1" bandRow="1">
                <a:tableStyleId>{5C22544A-7EE6-4342-B048-85BDC9FD1C3A}</a:tableStyleId>
              </a:tblPr>
              <a:tblGrid>
                <a:gridCol w="320040"/>
                <a:gridCol w="1463040"/>
                <a:gridCol w="1188720"/>
                <a:gridCol w="1371600"/>
              </a:tblGrid>
              <a:tr h="374072">
                <a:tc>
                  <a:txBody>
                    <a:bodyPr/>
                    <a:lstStyle/>
                    <a:p>
                      <a:r>
                        <a:rPr sz="1000" b="1">
                          <a:solidFill>
                            <a:srgbClr val="FFFFFF"/>
                          </a:solidFill>
                        </a:rPr>
                        <a:t>#</a:t>
                      </a:r>
                    </a:p>
                  </a:txBody>
                  <a:tcPr marL="54864" marR="54864" marT="27432" marB="27432" anchor="ctr">
                    <a:solidFill>
                      <a:srgbClr val="0F2C68"/>
                    </a:solidFill>
                  </a:tcPr>
                </a:tc>
                <a:tc>
                  <a:txBody>
                    <a:bodyPr/>
                    <a:lstStyle/>
                    <a:p>
                      <a:r>
                        <a:rPr sz="1000" b="1">
                          <a:solidFill>
                            <a:srgbClr val="FFFFFF"/>
                          </a:solidFill>
                        </a:rPr>
                        <a:t>Ours (± s.e.)</a:t>
                      </a:r>
                    </a:p>
                  </a:txBody>
                  <a:tcPr marL="54864" marR="54864" marT="27432" marB="27432" anchor="ctr">
                    <a:solidFill>
                      <a:srgbClr val="0F2C68"/>
                    </a:solidFill>
                  </a:tcPr>
                </a:tc>
                <a:tc>
                  <a:txBody>
                    <a:bodyPr/>
                    <a:lstStyle/>
                    <a:p>
                      <a:r>
                        <a:rPr sz="1000" b="1">
                          <a:solidFill>
                            <a:srgbClr val="FFFFFF"/>
                          </a:solidFill>
                        </a:rPr>
                        <a:t>95% interval</a:t>
                      </a:r>
                    </a:p>
                  </a:txBody>
                  <a:tcPr marL="54864" marR="54864" marT="27432" marB="27432" anchor="ctr">
                    <a:solidFill>
                      <a:srgbClr val="0F2C68"/>
                    </a:solidFill>
                  </a:tcPr>
                </a:tc>
                <a:tc>
                  <a:txBody>
                    <a:bodyPr/>
                    <a:lstStyle/>
                    <a:p>
                      <a:r>
                        <a:rPr sz="1000" b="1">
                          <a:solidFill>
                            <a:srgbClr val="FFFFFF"/>
                          </a:solidFill>
                        </a:rPr>
                        <a:t>Verdict</a:t>
                      </a:r>
                    </a:p>
                  </a:txBody>
                  <a:tcPr marL="54864" marR="54864" marT="27432" marB="27432" anchor="ctr">
                    <a:solidFill>
                      <a:srgbClr val="0F2C68"/>
                    </a:solidFill>
                  </a:tcPr>
                </a:tc>
              </a:tr>
              <a:tr h="374072">
                <a:tc>
                  <a:txBody>
                    <a:bodyPr/>
                    <a:lstStyle/>
                    <a:p>
                      <a:r>
                        <a:rPr sz="1000" b="0">
                          <a:solidFill>
                            <a:srgbClr val="222222"/>
                          </a:solidFill>
                        </a:rPr>
                        <a:t>1</a:t>
                      </a:r>
                    </a:p>
                  </a:txBody>
                  <a:tcPr marL="54864" marR="54864" marT="27432" marB="27432" anchor="ctr">
                    <a:solidFill>
                      <a:srgbClr val="FFFFFF"/>
                    </a:solidFill>
                  </a:tcPr>
                </a:tc>
                <a:tc>
                  <a:txBody>
                    <a:bodyPr/>
                    <a:lstStyle/>
                    <a:p>
                      <a:r>
                        <a:rPr sz="1000" b="0">
                          <a:solidFill>
                            <a:srgbClr val="222222"/>
                          </a:solidFill>
                        </a:rPr>
                        <a:t>3.7%</a:t>
                      </a:r>
                    </a:p>
                  </a:txBody>
                  <a:tcPr marL="54864" marR="54864" marT="27432" marB="27432" anchor="ctr">
                    <a:solidFill>
                      <a:srgbClr val="FFFFFF"/>
                    </a:solidFill>
                  </a:tcPr>
                </a:tc>
                <a:tc>
                  <a:txBody>
                    <a:bodyPr/>
                    <a:lstStyle/>
                    <a:p>
                      <a:r>
                        <a:rPr sz="1000" b="0">
                          <a:solidFill>
                            <a:srgbClr val="222222"/>
                          </a:solidFill>
                        </a:rPr>
                        <a:t>–</a:t>
                      </a:r>
                    </a:p>
                  </a:txBody>
                  <a:tcPr marL="54864" marR="54864" marT="27432" marB="27432" anchor="ctr">
                    <a:solidFill>
                      <a:srgbClr val="FFFFFF"/>
                    </a:solidFill>
                  </a:tcPr>
                </a:tc>
                <a:tc>
                  <a:txBody>
                    <a:bodyPr/>
                    <a:lstStyle/>
                    <a:p>
                      <a:r>
                        <a:rPr sz="1000" b="1">
                          <a:solidFill>
                            <a:srgbClr val="FFFFFF"/>
                          </a:solidFill>
                        </a:rPr>
                        <a:t>reproduced</a:t>
                      </a:r>
                    </a:p>
                  </a:txBody>
                  <a:tcPr marL="54864" marR="54864" marT="27432" marB="27432" anchor="ctr">
                    <a:solidFill>
                      <a:srgbClr val="009B64"/>
                    </a:solidFill>
                  </a:tcPr>
                </a:tc>
              </a:tr>
              <a:tr h="374072">
                <a:tc>
                  <a:txBody>
                    <a:bodyPr/>
                    <a:lstStyle/>
                    <a:p>
                      <a:r>
                        <a:rPr sz="1000" b="0">
                          <a:solidFill>
                            <a:srgbClr val="222222"/>
                          </a:solidFill>
                        </a:rPr>
                        <a:t>2</a:t>
                      </a:r>
                    </a:p>
                  </a:txBody>
                  <a:tcPr marL="54864" marR="54864" marT="27432" marB="27432" anchor="ctr">
                    <a:solidFill>
                      <a:srgbClr val="EEF2F8"/>
                    </a:solidFill>
                  </a:tcPr>
                </a:tc>
                <a:tc>
                  <a:txBody>
                    <a:bodyPr/>
                    <a:lstStyle/>
                    <a:p>
                      <a:r>
                        <a:rPr sz="1000" b="0">
                          <a:solidFill>
                            <a:srgbClr val="222222"/>
                          </a:solidFill>
                        </a:rPr>
                        <a:t>1 of 4 / 2 of 4 significant</a:t>
                      </a:r>
                    </a:p>
                  </a:txBody>
                  <a:tcPr marL="54864" marR="54864" marT="27432" marB="27432" anchor="ctr">
                    <a:solidFill>
                      <a:srgbClr val="EEF2F8"/>
                    </a:solidFill>
                  </a:tcPr>
                </a:tc>
                <a:tc>
                  <a:txBody>
                    <a:bodyPr/>
                    <a:lstStyle/>
                    <a:p>
                      <a:r>
                        <a:rPr sz="1000" b="0">
                          <a:solidFill>
                            <a:srgbClr val="222222"/>
                          </a:solidFill>
                        </a:rPr>
                        <a:t>P ≥ 0.95</a:t>
                      </a:r>
                    </a:p>
                  </a:txBody>
                  <a:tcPr marL="54864" marR="54864" marT="27432" marB="27432" anchor="ctr">
                    <a:solidFill>
                      <a:srgbClr val="EEF2F8"/>
                    </a:solidFill>
                  </a:tcPr>
                </a:tc>
                <a:tc>
                  <a:txBody>
                    <a:bodyPr/>
                    <a:lstStyle/>
                    <a:p>
                      <a:r>
                        <a:rPr sz="1000" b="1">
                          <a:solidFill>
                            <a:srgbClr val="FFFFFF"/>
                          </a:solidFill>
                        </a:rPr>
                        <a:t>partly</a:t>
                      </a:r>
                    </a:p>
                  </a:txBody>
                  <a:tcPr marL="54864" marR="54864" marT="27432" marB="27432" anchor="ctr">
                    <a:solidFill>
                      <a:srgbClr val="EB8C3C"/>
                    </a:solidFill>
                  </a:tcPr>
                </a:tc>
              </a:tr>
              <a:tr h="374072">
                <a:tc>
                  <a:txBody>
                    <a:bodyPr/>
                    <a:lstStyle/>
                    <a:p>
                      <a:r>
                        <a:rPr sz="1000" b="0">
                          <a:solidFill>
                            <a:srgbClr val="222222"/>
                          </a:solidFill>
                        </a:rPr>
                        <a:t>3</a:t>
                      </a:r>
                    </a:p>
                  </a:txBody>
                  <a:tcPr marL="54864" marR="54864" marT="27432" marB="27432" anchor="ctr">
                    <a:solidFill>
                      <a:srgbClr val="FFFFFF"/>
                    </a:solidFill>
                  </a:tcPr>
                </a:tc>
                <a:tc>
                  <a:txBody>
                    <a:bodyPr/>
                    <a:lstStyle/>
                    <a:p>
                      <a:r>
                        <a:rPr sz="1000" b="0">
                          <a:solidFill>
                            <a:srgbClr val="222222"/>
                          </a:solidFill>
                        </a:rPr>
                        <a:t>4.9 h</a:t>
                      </a:r>
                    </a:p>
                  </a:txBody>
                  <a:tcPr marL="54864" marR="54864" marT="27432" marB="27432" anchor="ctr">
                    <a:solidFill>
                      <a:srgbClr val="FFFFFF"/>
                    </a:solidFill>
                  </a:tcPr>
                </a:tc>
                <a:tc>
                  <a:txBody>
                    <a:bodyPr/>
                    <a:lstStyle/>
                    <a:p>
                      <a:r>
                        <a:rPr sz="1000" b="0">
                          <a:solidFill>
                            <a:srgbClr val="222222"/>
                          </a:solidFill>
                        </a:rPr>
                        <a:t>–</a:t>
                      </a:r>
                    </a:p>
                  </a:txBody>
                  <a:tcPr marL="54864" marR="54864" marT="27432" marB="27432" anchor="ctr">
                    <a:solidFill>
                      <a:srgbClr val="FFFFFF"/>
                    </a:solidFill>
                  </a:tcPr>
                </a:tc>
                <a:tc>
                  <a:txBody>
                    <a:bodyPr/>
                    <a:lstStyle/>
                    <a:p>
                      <a:r>
                        <a:rPr sz="1000" b="1">
                          <a:solidFill>
                            <a:srgbClr val="FFFFFF"/>
                          </a:solidFill>
                        </a:rPr>
                        <a:t>reproduced</a:t>
                      </a:r>
                    </a:p>
                  </a:txBody>
                  <a:tcPr marL="54864" marR="54864" marT="27432" marB="27432" anchor="ctr">
                    <a:solidFill>
                      <a:srgbClr val="009B64"/>
                    </a:solidFill>
                  </a:tcPr>
                </a:tc>
              </a:tr>
              <a:tr h="374072">
                <a:tc>
                  <a:txBody>
                    <a:bodyPr/>
                    <a:lstStyle/>
                    <a:p>
                      <a:r>
                        <a:rPr sz="1000" b="0">
                          <a:solidFill>
                            <a:srgbClr val="222222"/>
                          </a:solidFill>
                        </a:rPr>
                        <a:t>4</a:t>
                      </a:r>
                    </a:p>
                  </a:txBody>
                  <a:tcPr marL="54864" marR="54864" marT="27432" marB="27432" anchor="ctr">
                    <a:solidFill>
                      <a:srgbClr val="EEF2F8"/>
                    </a:solidFill>
                  </a:tcPr>
                </a:tc>
                <a:tc>
                  <a:txBody>
                    <a:bodyPr/>
                    <a:lstStyle/>
                    <a:p>
                      <a:r>
                        <a:rPr sz="1000" b="0">
                          <a:solidFill>
                            <a:srgbClr val="222222"/>
                          </a:solidFill>
                        </a:rPr>
                        <a:t>only during the fall</a:t>
                      </a:r>
                    </a:p>
                  </a:txBody>
                  <a:tcPr marL="54864" marR="54864" marT="27432" marB="27432" anchor="ctr">
                    <a:solidFill>
                      <a:srgbClr val="EEF2F8"/>
                    </a:solidFill>
                  </a:tcPr>
                </a:tc>
                <a:tc>
                  <a:txBody>
                    <a:bodyPr/>
                    <a:lstStyle/>
                    <a:p>
                      <a:r>
                        <a:rPr sz="1000" b="0">
                          <a:solidFill>
                            <a:srgbClr val="222222"/>
                          </a:solidFill>
                        </a:rPr>
                        <a:t>–</a:t>
                      </a:r>
                    </a:p>
                  </a:txBody>
                  <a:tcPr marL="54864" marR="54864" marT="27432" marB="27432" anchor="ctr">
                    <a:solidFill>
                      <a:srgbClr val="EEF2F8"/>
                    </a:solidFill>
                  </a:tcPr>
                </a:tc>
                <a:tc>
                  <a:txBody>
                    <a:bodyPr/>
                    <a:lstStyle/>
                    <a:p>
                      <a:r>
                        <a:rPr sz="1000" b="1">
                          <a:solidFill>
                            <a:srgbClr val="FFFFFF"/>
                          </a:solidFill>
                        </a:rPr>
                        <a:t>not reproduced</a:t>
                      </a:r>
                    </a:p>
                  </a:txBody>
                  <a:tcPr marL="54864" marR="54864" marT="27432" marB="27432" anchor="ctr">
                    <a:solidFill>
                      <a:srgbClr val="C0392B"/>
                    </a:solidFill>
                  </a:tcPr>
                </a:tc>
              </a:tr>
              <a:tr h="374072">
                <a:tc>
                  <a:txBody>
                    <a:bodyPr/>
                    <a:lstStyle/>
                    <a:p>
                      <a:r>
                        <a:rPr sz="1000" b="0">
                          <a:solidFill>
                            <a:srgbClr val="222222"/>
                          </a:solidFill>
                        </a:rPr>
                        <a:t>5</a:t>
                      </a:r>
                    </a:p>
                  </a:txBody>
                  <a:tcPr marL="54864" marR="54864" marT="27432" marB="27432" anchor="ctr">
                    <a:solidFill>
                      <a:srgbClr val="FFFFFF"/>
                    </a:solidFill>
                  </a:tcPr>
                </a:tc>
                <a:tc>
                  <a:txBody>
                    <a:bodyPr/>
                    <a:lstStyle/>
                    <a:p>
                      <a:r>
                        <a:rPr sz="1000" b="0">
                          <a:solidFill>
                            <a:srgbClr val="222222"/>
                          </a:solidFill>
                        </a:rPr>
                        <a:t>never (max CDF 0.85)</a:t>
                      </a:r>
                    </a:p>
                  </a:txBody>
                  <a:tcPr marL="54864" marR="54864" marT="27432" marB="27432" anchor="ctr">
                    <a:solidFill>
                      <a:srgbClr val="FFFFFF"/>
                    </a:solidFill>
                  </a:tcPr>
                </a:tc>
                <a:tc>
                  <a:txBody>
                    <a:bodyPr/>
                    <a:lstStyle/>
                    <a:p>
                      <a:r>
                        <a:rPr sz="1000" b="0">
                          <a:solidFill>
                            <a:srgbClr val="222222"/>
                          </a:solidFill>
                        </a:rPr>
                        <a:t>–</a:t>
                      </a:r>
                    </a:p>
                  </a:txBody>
                  <a:tcPr marL="54864" marR="54864" marT="27432" marB="27432" anchor="ctr">
                    <a:solidFill>
                      <a:srgbClr val="FFFFFF"/>
                    </a:solidFill>
                  </a:tcPr>
                </a:tc>
                <a:tc>
                  <a:txBody>
                    <a:bodyPr/>
                    <a:lstStyle/>
                    <a:p>
                      <a:r>
                        <a:rPr sz="1000" b="1">
                          <a:solidFill>
                            <a:srgbClr val="FFFFFF"/>
                          </a:solidFill>
                        </a:rPr>
                        <a:t>not reproduced</a:t>
                      </a:r>
                    </a:p>
                  </a:txBody>
                  <a:tcPr marL="54864" marR="54864" marT="27432" marB="27432" anchor="ctr">
                    <a:solidFill>
                      <a:srgbClr val="C0392B"/>
                    </a:solidFill>
                  </a:tcPr>
                </a:tc>
              </a:tr>
              <a:tr h="374072">
                <a:tc>
                  <a:txBody>
                    <a:bodyPr/>
                    <a:lstStyle/>
                    <a:p>
                      <a:r>
                        <a:rPr sz="1000" b="0">
                          <a:solidFill>
                            <a:srgbClr val="222222"/>
                          </a:solidFill>
                        </a:rPr>
                        <a:t>6</a:t>
                      </a:r>
                    </a:p>
                  </a:txBody>
                  <a:tcPr marL="54864" marR="54864" marT="27432" marB="27432" anchor="ctr">
                    <a:solidFill>
                      <a:srgbClr val="EEF2F8"/>
                    </a:solidFill>
                  </a:tcPr>
                </a:tc>
                <a:tc>
                  <a:txBody>
                    <a:bodyPr/>
                    <a:lstStyle/>
                    <a:p>
                      <a:r>
                        <a:rPr sz="1000" b="0">
                          <a:solidFill>
                            <a:srgbClr val="222222"/>
                          </a:solidFill>
                        </a:rPr>
                        <a:t>96.1% ± 0.5%</a:t>
                      </a:r>
                    </a:p>
                  </a:txBody>
                  <a:tcPr marL="54864" marR="54864" marT="27432" marB="27432" anchor="ctr">
                    <a:solidFill>
                      <a:srgbClr val="EEF2F8"/>
                    </a:solidFill>
                  </a:tcPr>
                </a:tc>
                <a:tc>
                  <a:txBody>
                    <a:bodyPr/>
                    <a:lstStyle/>
                    <a:p>
                      <a:r>
                        <a:rPr sz="1000" b="0">
                          <a:solidFill>
                            <a:srgbClr val="222222"/>
                          </a:solidFill>
                        </a:rPr>
                        <a:t>[95.0%, 97.2%]</a:t>
                      </a:r>
                    </a:p>
                  </a:txBody>
                  <a:tcPr marL="54864" marR="54864" marT="27432" marB="27432" anchor="ctr">
                    <a:solidFill>
                      <a:srgbClr val="EEF2F8"/>
                    </a:solidFill>
                  </a:tcPr>
                </a:tc>
                <a:tc>
                  <a:txBody>
                    <a:bodyPr/>
                    <a:lstStyle/>
                    <a:p>
                      <a:r>
                        <a:rPr sz="1000" b="1">
                          <a:solidFill>
                            <a:srgbClr val="FFFFFF"/>
                          </a:solidFill>
                        </a:rPr>
                        <a:t>reproduced</a:t>
                      </a:r>
                    </a:p>
                  </a:txBody>
                  <a:tcPr marL="54864" marR="54864" marT="27432" marB="27432" anchor="ctr">
                    <a:solidFill>
                      <a:srgbClr val="009B64"/>
                    </a:solidFill>
                  </a:tcPr>
                </a:tc>
              </a:tr>
              <a:tr h="374072">
                <a:tc>
                  <a:txBody>
                    <a:bodyPr/>
                    <a:lstStyle/>
                    <a:p>
                      <a:r>
                        <a:rPr sz="1000" b="0">
                          <a:solidFill>
                            <a:srgbClr val="222222"/>
                          </a:solidFill>
                        </a:rPr>
                        <a:t>7</a:t>
                      </a:r>
                    </a:p>
                  </a:txBody>
                  <a:tcPr marL="54864" marR="54864" marT="27432" marB="27432" anchor="ctr">
                    <a:solidFill>
                      <a:srgbClr val="FFFFFF"/>
                    </a:solidFill>
                  </a:tcPr>
                </a:tc>
                <a:tc>
                  <a:txBody>
                    <a:bodyPr/>
                    <a:lstStyle/>
                    <a:p>
                      <a:r>
                        <a:rPr sz="1000" b="0">
                          <a:solidFill>
                            <a:srgbClr val="222222"/>
                          </a:solidFill>
                        </a:rPr>
                        <a:t>0.08 ± 0.05</a:t>
                      </a:r>
                    </a:p>
                  </a:txBody>
                  <a:tcPr marL="54864" marR="54864" marT="27432" marB="27432" anchor="ctr">
                    <a:solidFill>
                      <a:srgbClr val="FFFFFF"/>
                    </a:solidFill>
                  </a:tcPr>
                </a:tc>
                <a:tc>
                  <a:txBody>
                    <a:bodyPr/>
                    <a:lstStyle/>
                    <a:p>
                      <a:r>
                        <a:rPr sz="1000" b="0">
                          <a:solidFill>
                            <a:srgbClr val="222222"/>
                          </a:solidFill>
                        </a:rPr>
                        <a:t>[0.04, 0.22]</a:t>
                      </a:r>
                    </a:p>
                  </a:txBody>
                  <a:tcPr marL="54864" marR="54864" marT="27432" marB="27432" anchor="ctr">
                    <a:solidFill>
                      <a:srgbClr val="FFFFFF"/>
                    </a:solidFill>
                  </a:tcPr>
                </a:tc>
                <a:tc>
                  <a:txBody>
                    <a:bodyPr/>
                    <a:lstStyle/>
                    <a:p>
                      <a:r>
                        <a:rPr sz="1000" b="1">
                          <a:solidFill>
                            <a:srgbClr val="FFFFFF"/>
                          </a:solidFill>
                        </a:rPr>
                        <a:t>weaker</a:t>
                      </a:r>
                    </a:p>
                  </a:txBody>
                  <a:tcPr marL="54864" marR="54864" marT="27432" marB="27432" anchor="ctr">
                    <a:solidFill>
                      <a:srgbClr val="EB8C3C"/>
                    </a:solidFill>
                  </a:tcPr>
                </a:tc>
              </a:tr>
              <a:tr h="374072">
                <a:tc>
                  <a:txBody>
                    <a:bodyPr/>
                    <a:lstStyle/>
                    <a:p>
                      <a:r>
                        <a:rPr sz="1000" b="0">
                          <a:solidFill>
                            <a:srgbClr val="222222"/>
                          </a:solidFill>
                        </a:rPr>
                        <a:t>8</a:t>
                      </a:r>
                    </a:p>
                  </a:txBody>
                  <a:tcPr marL="54864" marR="54864" marT="27432" marB="27432" anchor="ctr">
                    <a:solidFill>
                      <a:srgbClr val="EEF2F8"/>
                    </a:solidFill>
                  </a:tcPr>
                </a:tc>
                <a:tc>
                  <a:txBody>
                    <a:bodyPr/>
                    <a:lstStyle/>
                    <a:p>
                      <a:r>
                        <a:rPr sz="1000" b="0">
                          <a:solidFill>
                            <a:srgbClr val="222222"/>
                          </a:solidFill>
                        </a:rPr>
                        <a:t>51% ± 13%</a:t>
                      </a:r>
                    </a:p>
                  </a:txBody>
                  <a:tcPr marL="54864" marR="54864" marT="27432" marB="27432" anchor="ctr">
                    <a:solidFill>
                      <a:srgbClr val="EEF2F8"/>
                    </a:solidFill>
                  </a:tcPr>
                </a:tc>
                <a:tc>
                  <a:txBody>
                    <a:bodyPr/>
                    <a:lstStyle/>
                    <a:p>
                      <a:r>
                        <a:rPr sz="1000" b="0">
                          <a:solidFill>
                            <a:srgbClr val="222222"/>
                          </a:solidFill>
                        </a:rPr>
                        <a:t>[19%, 71%]</a:t>
                      </a:r>
                    </a:p>
                  </a:txBody>
                  <a:tcPr marL="54864" marR="54864" marT="27432" marB="27432" anchor="ctr">
                    <a:solidFill>
                      <a:srgbClr val="EEF2F8"/>
                    </a:solidFill>
                  </a:tcPr>
                </a:tc>
                <a:tc>
                  <a:txBody>
                    <a:bodyPr/>
                    <a:lstStyle/>
                    <a:p>
                      <a:r>
                        <a:rPr sz="1000" b="1">
                          <a:solidFill>
                            <a:srgbClr val="FFFFFF"/>
                          </a:solidFill>
                        </a:rPr>
                        <a:t>weaker</a:t>
                      </a:r>
                    </a:p>
                  </a:txBody>
                  <a:tcPr marL="54864" marR="54864" marT="27432" marB="27432" anchor="ctr">
                    <a:solidFill>
                      <a:srgbClr val="EB8C3C"/>
                    </a:solidFill>
                  </a:tcPr>
                </a:tc>
              </a:tr>
              <a:tr h="374072">
                <a:tc>
                  <a:txBody>
                    <a:bodyPr/>
                    <a:lstStyle/>
                    <a:p>
                      <a:r>
                        <a:rPr sz="1000" b="0">
                          <a:solidFill>
                            <a:srgbClr val="222222"/>
                          </a:solidFill>
                        </a:rPr>
                        <a:t>9</a:t>
                      </a:r>
                    </a:p>
                  </a:txBody>
                  <a:tcPr marL="54864" marR="54864" marT="27432" marB="27432" anchor="ctr">
                    <a:solidFill>
                      <a:srgbClr val="FFFFFF"/>
                    </a:solidFill>
                  </a:tcPr>
                </a:tc>
                <a:tc>
                  <a:txBody>
                    <a:bodyPr/>
                    <a:lstStyle/>
                    <a:p>
                      <a:r>
                        <a:rPr sz="1000" b="0">
                          <a:solidFill>
                            <a:srgbClr val="222222"/>
                          </a:solidFill>
                        </a:rPr>
                        <a:t>34% ± 4%</a:t>
                      </a:r>
                    </a:p>
                  </a:txBody>
                  <a:tcPr marL="54864" marR="54864" marT="27432" marB="27432" anchor="ctr">
                    <a:solidFill>
                      <a:srgbClr val="FFFFFF"/>
                    </a:solidFill>
                  </a:tcPr>
                </a:tc>
                <a:tc>
                  <a:txBody>
                    <a:bodyPr/>
                    <a:lstStyle/>
                    <a:p>
                      <a:r>
                        <a:rPr sz="1000" b="0">
                          <a:solidFill>
                            <a:srgbClr val="222222"/>
                          </a:solidFill>
                        </a:rPr>
                        <a:t>[26%, 43%]</a:t>
                      </a:r>
                    </a:p>
                  </a:txBody>
                  <a:tcPr marL="54864" marR="54864" marT="27432" marB="27432" anchor="ctr">
                    <a:solidFill>
                      <a:srgbClr val="FFFFFF"/>
                    </a:solidFill>
                  </a:tcPr>
                </a:tc>
                <a:tc>
                  <a:txBody>
                    <a:bodyPr/>
                    <a:lstStyle/>
                    <a:p>
                      <a:r>
                        <a:rPr sz="1000" b="1">
                          <a:solidFill>
                            <a:srgbClr val="FFFFFF"/>
                          </a:solidFill>
                        </a:rPr>
                        <a:t>weaker</a:t>
                      </a:r>
                    </a:p>
                  </a:txBody>
                  <a:tcPr marL="54864" marR="54864" marT="27432" marB="27432" anchor="ctr">
                    <a:solidFill>
                      <a:srgbClr val="EB8C3C"/>
                    </a:solidFill>
                  </a:tcPr>
                </a:tc>
              </a:tr>
              <a:tr h="374080">
                <a:tc>
                  <a:txBody>
                    <a:bodyPr/>
                    <a:lstStyle/>
                    <a:p>
                      <a:r>
                        <a:rPr sz="1000" b="0">
                          <a:solidFill>
                            <a:srgbClr val="222222"/>
                          </a:solidFill>
                        </a:rPr>
                        <a:t>10</a:t>
                      </a:r>
                    </a:p>
                  </a:txBody>
                  <a:tcPr marL="54864" marR="54864" marT="27432" marB="27432" anchor="ctr">
                    <a:solidFill>
                      <a:srgbClr val="EEF2F8"/>
                    </a:solidFill>
                  </a:tcPr>
                </a:tc>
                <a:tc>
                  <a:txBody>
                    <a:bodyPr/>
                    <a:lstStyle/>
                    <a:p>
                      <a:r>
                        <a:rPr sz="1000" b="0">
                          <a:solidFill>
                            <a:srgbClr val="222222"/>
                          </a:solidFill>
                        </a:rPr>
                        <a:t>60% ± 12%</a:t>
                      </a:r>
                    </a:p>
                  </a:txBody>
                  <a:tcPr marL="54864" marR="54864" marT="27432" marB="27432" anchor="ctr">
                    <a:solidFill>
                      <a:srgbClr val="EEF2F8"/>
                    </a:solidFill>
                  </a:tcPr>
                </a:tc>
                <a:tc>
                  <a:txBody>
                    <a:bodyPr/>
                    <a:lstStyle/>
                    <a:p>
                      <a:r>
                        <a:rPr sz="1000" b="0">
                          <a:solidFill>
                            <a:srgbClr val="222222"/>
                          </a:solidFill>
                        </a:rPr>
                        <a:t>[37%, 85%]</a:t>
                      </a:r>
                    </a:p>
                  </a:txBody>
                  <a:tcPr marL="54864" marR="54864" marT="27432" marB="27432" anchor="ctr">
                    <a:solidFill>
                      <a:srgbClr val="EEF2F8"/>
                    </a:solidFill>
                  </a:tcPr>
                </a:tc>
                <a:tc>
                  <a:txBody>
                    <a:bodyPr/>
                    <a:lstStyle/>
                    <a:p>
                      <a:r>
                        <a:rPr sz="1000" b="1">
                          <a:solidFill>
                            <a:srgbClr val="FFFFFF"/>
                          </a:solidFill>
                        </a:rPr>
                        <a:t>inconclusive</a:t>
                      </a:r>
                    </a:p>
                  </a:txBody>
                  <a:tcPr marL="54864" marR="54864" marT="27432" marB="27432" anchor="ctr">
                    <a:solidFill>
                      <a:srgbClr val="59595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could these results be overfit?</a:t>
            </a:r>
          </a:p>
        </p:txBody>
      </p:sp>
      <p:sp>
        <p:nvSpPr>
          <p:cNvPr id="4" name="Text Placeholder 3"/>
          <p:cNvSpPr>
            <a:spLocks noGrp="1"/>
          </p:cNvSpPr>
          <p:nvPr>
            <p:ph type="body" idx="2"/>
          </p:nvPr>
        </p:nvSpPr>
        <p:spPr/>
        <p:txBody>
          <a:bodyPr/>
          <a:lstStyle/>
          <a:p>
            <a:r>
              <a:t>Research Seminar</a:t>
            </a:r>
          </a:p>
        </p:txBody>
      </p:sp>
      <p:sp>
        <p:nvSpPr>
          <p:cNvPr id="5" name="TextBox 4"/>
          <p:cNvSpPr txBox="1"/>
          <p:nvPr/>
        </p:nvSpPr>
        <p:spPr>
          <a:xfrm>
            <a:off x="585216" y="2194560"/>
            <a:ext cx="5760720" cy="4206240"/>
          </a:xfrm>
          <a:prstGeom prst="rect">
            <a:avLst/>
          </a:prstGeom>
          <a:noFill/>
        </p:spPr>
        <p:txBody>
          <a:bodyPr wrap="square" anchor="t" lIns="45720" rIns="45720">
            <a:spAutoFit/>
          </a:bodyPr>
          <a:lstStyle/>
          <a:p>
            <a:pPr algn="l">
              <a:spcAft>
                <a:spcPts val="600"/>
              </a:spcAft>
            </a:pPr>
            <a:r>
              <a:rPr sz="1600" b="1">
                <a:solidFill>
                  <a:srgbClr val="0F2C68"/>
                </a:solidFill>
              </a:rPr>
              <a:t>In the paper</a:t>
            </a:r>
          </a:p>
          <a:p>
            <a:pPr algn="l">
              <a:spcAft>
                <a:spcPts val="600"/>
              </a:spcAft>
            </a:pPr>
            <a:r>
              <a:rPr sz="1400" b="0">
                <a:solidFill>
                  <a:srgbClr val="222222"/>
                </a:solidFill>
              </a:rPr>
              <a:t>• The CDF of VPIN is built from the </a:t>
            </a:r>
            <a:r>
              <a:rPr sz="1400" b="1">
                <a:solidFill>
                  <a:srgbClr val="222222"/>
                </a:solidFill>
              </a:rPr>
              <a:t>whole sample</a:t>
            </a:r>
            <a:r>
              <a:rPr sz="1400" b="0">
                <a:solidFill>
                  <a:srgbClr val="222222"/>
                </a:solidFill>
              </a:rPr>
              <a:t>, future included.</a:t>
            </a:r>
          </a:p>
          <a:p>
            <a:pPr algn="l">
              <a:spcAft>
                <a:spcPts val="600"/>
              </a:spcAft>
            </a:pPr>
            <a:r>
              <a:rPr sz="1400" b="0">
                <a:solidFill>
                  <a:srgbClr val="222222"/>
                </a:solidFill>
              </a:rPr>
              <a:t>• Bucket size and window are picked by </a:t>
            </a:r>
            <a:r>
              <a:rPr sz="1400" b="1">
                <a:solidFill>
                  <a:srgbClr val="222222"/>
                </a:solidFill>
              </a:rPr>
              <a:t>scanning grids</a:t>
            </a:r>
            <a:r>
              <a:rPr sz="1400" b="0">
                <a:solidFill>
                  <a:srgbClr val="222222"/>
                </a:solidFill>
              </a:rPr>
              <a:t> on the same data (Figs. 10, 12, 14); Table 5 reports the best cell.</a:t>
            </a:r>
          </a:p>
          <a:p>
            <a:pPr algn="l">
              <a:spcAft>
                <a:spcPts val="600"/>
              </a:spcAft>
            </a:pPr>
            <a:r>
              <a:rPr sz="1400" b="0">
                <a:solidFill>
                  <a:srgbClr val="222222"/>
                </a:solidFill>
              </a:rPr>
              <a:t>• </a:t>
            </a:r>
            <a:r>
              <a:rPr sz="1400" b="1">
                <a:solidFill>
                  <a:srgbClr val="222222"/>
                </a:solidFill>
              </a:rPr>
              <a:t>No out-of-sample</a:t>
            </a:r>
            <a:r>
              <a:rPr sz="1400" b="0">
                <a:solidFill>
                  <a:srgbClr val="222222"/>
                </a:solidFill>
              </a:rPr>
              <a:t> period; its ± assumes independent buckets. One flash crash = one observation.</a:t>
            </a:r>
          </a:p>
          <a:p>
            <a:pPr algn="l">
              <a:spcAft>
                <a:spcPts val="600"/>
              </a:spcAft>
            </a:pPr>
            <a:r>
              <a:rPr sz="1600" b="1">
                <a:solidFill>
                  <a:srgbClr val="0F2C68"/>
                </a:solidFill>
              </a:rPr>
              <a:t>Our check</a:t>
            </a:r>
          </a:p>
          <a:p>
            <a:pPr algn="l">
              <a:spcAft>
                <a:spcPts val="600"/>
              </a:spcAft>
            </a:pPr>
            <a:r>
              <a:rPr sz="1400" b="0">
                <a:solidFill>
                  <a:srgbClr val="222222"/>
                </a:solidFill>
              </a:rPr>
              <a:t>• Real-time VPIN: σ, V and CDF from </a:t>
            </a:r>
            <a:r>
              <a:rPr sz="1400" b="1">
                <a:solidFill>
                  <a:srgbClr val="222222"/>
                </a:solidFill>
              </a:rPr>
              <a:t>past data only</a:t>
            </a:r>
            <a:r>
              <a:rPr sz="1400" b="0">
                <a:solidFill>
                  <a:srgbClr val="222222"/>
                </a:solidFill>
              </a:rPr>
              <a:t>; parameters frozen in 2009–11, tested on 2011–26.</a:t>
            </a:r>
          </a:p>
          <a:p>
            <a:pPr algn="l">
              <a:spcAft>
                <a:spcPts val="600"/>
              </a:spcAft>
            </a:pPr>
            <a:r>
              <a:rPr sz="1400" b="0">
                <a:solidFill>
                  <a:srgbClr val="222222"/>
                </a:solidFill>
              </a:rPr>
              <a:t>• Best in-sample true-positive pair (20, 500): </a:t>
            </a:r>
            <a:r>
              <a:rPr sz="1400" b="1">
                <a:solidFill>
                  <a:srgbClr val="222222"/>
                </a:solidFill>
              </a:rPr>
              <a:t>92% ± 5% → 45% ± 3%</a:t>
            </a:r>
            <a:r>
              <a:rPr sz="1400" b="0">
                <a:solidFill>
                  <a:srgbClr val="222222"/>
                </a:solidFill>
              </a:rPr>
              <a:t> out of sample (bottom quartile: 47% ± 4%).</a:t>
            </a:r>
          </a:p>
        </p:txBody>
      </p:sp>
      <p:pic>
        <p:nvPicPr>
          <p:cNvPr id="6" name="Picture 5" descr="is_vs_oos.png"/>
          <p:cNvPicPr>
            <a:picLocks noChangeAspect="1"/>
          </p:cNvPicPr>
          <p:nvPr/>
        </p:nvPicPr>
        <p:blipFill>
          <a:blip r:embed="rId3"/>
          <a:stretch>
            <a:fillRect/>
          </a:stretch>
        </p:blipFill>
        <p:spPr>
          <a:xfrm>
            <a:off x="6492240" y="2526676"/>
            <a:ext cx="5394960" cy="335912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Extension 1: is bulk classification right? A ground-truth test</a:t>
            </a:r>
          </a:p>
        </p:txBody>
      </p:sp>
      <p:sp>
        <p:nvSpPr>
          <p:cNvPr id="4" name="Text Placeholder 3"/>
          <p:cNvSpPr>
            <a:spLocks noGrp="1"/>
          </p:cNvSpPr>
          <p:nvPr>
            <p:ph type="body" idx="2"/>
          </p:nvPr>
        </p:nvSpPr>
        <p:spPr/>
        <p:txBody>
          <a:bodyPr/>
          <a:lstStyle/>
          <a:p>
            <a:r>
              <a:t>Research Seminar</a:t>
            </a:r>
          </a:p>
        </p:txBody>
      </p:sp>
      <p:pic>
        <p:nvPicPr>
          <p:cNvPr id="5" name="Picture 4" descr="e1_btc_vpin_true_vs_bvc.png"/>
          <p:cNvPicPr>
            <a:picLocks noChangeAspect="1"/>
          </p:cNvPicPr>
          <p:nvPr/>
        </p:nvPicPr>
        <p:blipFill>
          <a:blip r:embed="rId3"/>
          <a:stretch>
            <a:fillRect/>
          </a:stretch>
        </p:blipFill>
        <p:spPr>
          <a:xfrm>
            <a:off x="365760" y="2166247"/>
            <a:ext cx="7315200" cy="2479785"/>
          </a:xfrm>
          <a:prstGeom prst="rect">
            <a:avLst/>
          </a:prstGeom>
        </p:spPr>
      </p:pic>
      <p:sp>
        <p:nvSpPr>
          <p:cNvPr id="6" name="TextBox 5"/>
          <p:cNvSpPr txBox="1"/>
          <p:nvPr/>
        </p:nvSpPr>
        <p:spPr>
          <a:xfrm>
            <a:off x="585216" y="4754880"/>
            <a:ext cx="7132320" cy="1737360"/>
          </a:xfrm>
          <a:prstGeom prst="rect">
            <a:avLst/>
          </a:prstGeom>
          <a:noFill/>
        </p:spPr>
        <p:txBody>
          <a:bodyPr wrap="square" anchor="t" lIns="45720" rIns="45720">
            <a:spAutoFit/>
          </a:bodyPr>
          <a:lstStyle/>
          <a:p>
            <a:pPr algn="l">
              <a:spcAft>
                <a:spcPts val="600"/>
              </a:spcAft>
            </a:pPr>
            <a:r>
              <a:rPr sz="1400" b="0">
                <a:solidFill>
                  <a:srgbClr val="222222"/>
                </a:solidFill>
              </a:rPr>
              <a:t>• Bars: BVC gets the sign right for </a:t>
            </a:r>
            <a:r>
              <a:rPr sz="1400" b="1">
                <a:solidFill>
                  <a:srgbClr val="222222"/>
                </a:solidFill>
              </a:rPr>
              <a:t>82.1% ± 0.2%</a:t>
            </a:r>
            <a:r>
              <a:rPr sz="1400" b="0">
                <a:solidFill>
                  <a:srgbClr val="222222"/>
                </a:solidFill>
              </a:rPr>
              <a:t> of volume.</a:t>
            </a:r>
          </a:p>
          <a:p>
            <a:pPr algn="l">
              <a:spcAft>
                <a:spcPts val="600"/>
              </a:spcAft>
            </a:pPr>
            <a:r>
              <a:rPr sz="1400" b="0">
                <a:solidFill>
                  <a:srgbClr val="222222"/>
                </a:solidFill>
              </a:rPr>
              <a:t>• Buckets: BVC inflates |imbalance| </a:t>
            </a:r>
            <a:r>
              <a:rPr sz="1400" b="1">
                <a:solidFill>
                  <a:srgbClr val="222222"/>
                </a:solidFill>
              </a:rPr>
              <a:t>2.2×</a:t>
            </a:r>
            <a:r>
              <a:rPr sz="1400" b="0">
                <a:solidFill>
                  <a:srgbClr val="222222"/>
                </a:solidFill>
              </a:rPr>
              <a:t>; the two VPINs correlate only </a:t>
            </a:r>
            <a:r>
              <a:rPr sz="1400" b="1">
                <a:solidFill>
                  <a:srgbClr val="222222"/>
                </a:solidFill>
              </a:rPr>
              <a:t>0.39 ± 0.04</a:t>
            </a:r>
            <a:r>
              <a:rPr sz="1400" b="0">
                <a:solidFill>
                  <a:srgbClr val="222222"/>
                </a:solidFill>
              </a:rPr>
              <a:t>.</a:t>
            </a:r>
          </a:p>
        </p:txBody>
      </p:sp>
      <p:sp>
        <p:nvSpPr>
          <p:cNvPr id="7" name="TextBox 6"/>
          <p:cNvSpPr txBox="1"/>
          <p:nvPr/>
        </p:nvSpPr>
        <p:spPr>
          <a:xfrm>
            <a:off x="7955279" y="2240280"/>
            <a:ext cx="4023360" cy="4206240"/>
          </a:xfrm>
          <a:prstGeom prst="rect">
            <a:avLst/>
          </a:prstGeom>
          <a:noFill/>
        </p:spPr>
        <p:txBody>
          <a:bodyPr wrap="square" anchor="t" lIns="45720" rIns="45720">
            <a:spAutoFit/>
          </a:bodyPr>
          <a:lstStyle/>
          <a:p>
            <a:pPr algn="l">
              <a:spcAft>
                <a:spcPts val="800"/>
              </a:spcAft>
            </a:pPr>
            <a:r>
              <a:rPr sz="1500" b="1">
                <a:solidFill>
                  <a:srgbClr val="0F2C68"/>
                </a:solidFill>
              </a:rPr>
              <a:t>On 5 days with every trade</a:t>
            </a:r>
          </a:p>
          <a:p>
            <a:pPr algn="l">
              <a:spcAft>
                <a:spcPts val="800"/>
              </a:spcAft>
            </a:pPr>
            <a:r>
              <a:rPr sz="1400" b="0">
                <a:solidFill>
                  <a:srgbClr val="222222"/>
                </a:solidFill>
              </a:rPr>
              <a:t>• Tick rule: </a:t>
            </a:r>
            <a:r>
              <a:rPr sz="1400" b="1">
                <a:solidFill>
                  <a:srgbClr val="222222"/>
                </a:solidFill>
              </a:rPr>
              <a:t>93%–97%</a:t>
            </a:r>
            <a:r>
              <a:rPr sz="1400" b="0">
                <a:solidFill>
                  <a:srgbClr val="222222"/>
                </a:solidFill>
              </a:rPr>
              <a:t> of volume classified right.</a:t>
            </a:r>
          </a:p>
          <a:p>
            <a:pPr algn="l">
              <a:spcAft>
                <a:spcPts val="800"/>
              </a:spcAft>
            </a:pPr>
            <a:r>
              <a:rPr sz="1400" b="0">
                <a:solidFill>
                  <a:srgbClr val="222222"/>
                </a:solidFill>
              </a:rPr>
              <a:t>• Bucket imbalance vs truth: tick rule </a:t>
            </a:r>
            <a:r>
              <a:rPr sz="1400" b="1">
                <a:solidFill>
                  <a:srgbClr val="222222"/>
                </a:solidFill>
              </a:rPr>
              <a:t>≥ 0.99</a:t>
            </a:r>
            <a:r>
              <a:rPr sz="1400" b="0">
                <a:solidFill>
                  <a:srgbClr val="222222"/>
                </a:solidFill>
              </a:rPr>
              <a:t>, BVC </a:t>
            </a:r>
            <a:r>
              <a:rPr sz="1400" b="1">
                <a:solidFill>
                  <a:srgbClr val="222222"/>
                </a:solidFill>
              </a:rPr>
              <a:t>0.51–0.74</a:t>
            </a:r>
            <a:r>
              <a:rPr sz="1400" b="0">
                <a:solidFill>
                  <a:srgbClr val="222222"/>
                </a:solidFill>
              </a:rPr>
              <a:t> (1-min bars).</a:t>
            </a:r>
          </a:p>
          <a:p>
            <a:pPr algn="l">
              <a:spcAft>
                <a:spcPts val="800"/>
              </a:spcAft>
            </a:pPr>
            <a:r>
              <a:rPr sz="1200" b="0">
                <a:solidFill>
                  <a:srgbClr val="595959"/>
                </a:solidFill>
              </a:rPr>
              <a:t>• Ranges are across the 5 days. Caveat: Binance aggregates the fills of one order, which helps the tick rule.</a:t>
            </a:r>
          </a:p>
          <a:p>
            <a:pPr algn="l">
              <a:spcAft>
                <a:spcPts val="800"/>
              </a:spcAft>
            </a:pPr>
            <a:r>
              <a:rPr sz="1400" b="1">
                <a:solidFill>
                  <a:srgbClr val="0F2C68"/>
                </a:solidFill>
              </a:rPr>
              <a:t>• The paper's claim that bulk beats trade-by-trade classification does not hold 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Extension 2: is VPIN more than volatility?</a:t>
            </a:r>
          </a:p>
        </p:txBody>
      </p:sp>
      <p:sp>
        <p:nvSpPr>
          <p:cNvPr id="4" name="Text Placeholder 3"/>
          <p:cNvSpPr>
            <a:spLocks noGrp="1"/>
          </p:cNvSpPr>
          <p:nvPr>
            <p:ph type="body" idx="2"/>
          </p:nvPr>
        </p:nvSpPr>
        <p:spPr/>
        <p:txBody>
          <a:bodyPr/>
          <a:lstStyle/>
          <a:p>
            <a:r>
              <a:t>Research Seminar</a:t>
            </a:r>
          </a:p>
        </p:txBody>
      </p:sp>
      <p:graphicFrame>
        <p:nvGraphicFramePr>
          <p:cNvPr id="5" name="Table 4"/>
          <p:cNvGraphicFramePr>
            <a:graphicFrameLocks noGrp="1"/>
          </p:cNvGraphicFramePr>
          <p:nvPr/>
        </p:nvGraphicFramePr>
        <p:xfrm>
          <a:off x="585216" y="2240280"/>
          <a:ext cx="11018520" cy="1645920"/>
        </p:xfrm>
        <a:graphic>
          <a:graphicData uri="http://schemas.openxmlformats.org/drawingml/2006/table">
            <a:tbl>
              <a:tblPr firstRow="1" bandRow="1">
                <a:tableStyleId>{5C22544A-7EE6-4342-B048-85BDC9FD1C3A}</a:tableStyleId>
              </a:tblPr>
              <a:tblGrid>
                <a:gridCol w="3931920"/>
                <a:gridCol w="1920240"/>
                <a:gridCol w="2240280"/>
                <a:gridCol w="1600200"/>
                <a:gridCol w="1325880"/>
              </a:tblGrid>
              <a:tr h="411480">
                <a:tc>
                  <a:txBody>
                    <a:bodyPr/>
                    <a:lstStyle/>
                    <a:p>
                      <a:r>
                        <a:rPr sz="1300" b="1">
                          <a:solidFill>
                            <a:srgbClr val="FFFFFF"/>
                          </a:solidFill>
                        </a:rPr>
                        <a:t>BTCUSDT 2020–26, 50 buckets/day, n = 50</a:t>
                      </a:r>
                    </a:p>
                  </a:txBody>
                  <a:tcPr marL="54864" marR="54864" marT="27432" marB="27432" anchor="ctr">
                    <a:solidFill>
                      <a:srgbClr val="0F2C68"/>
                    </a:solidFill>
                  </a:tcPr>
                </a:tc>
                <a:tc>
                  <a:txBody>
                    <a:bodyPr/>
                    <a:lstStyle/>
                    <a:p>
                      <a:r>
                        <a:rPr sz="1300" b="1">
                          <a:solidFill>
                            <a:srgbClr val="FFFFFF"/>
                          </a:solidFill>
                        </a:rPr>
                        <a:t>Corr with next |return|</a:t>
                      </a:r>
                    </a:p>
                  </a:txBody>
                  <a:tcPr marL="54864" marR="54864" marT="27432" marB="27432" anchor="ctr">
                    <a:solidFill>
                      <a:srgbClr val="0F2C68"/>
                    </a:solidFill>
                  </a:tcPr>
                </a:tc>
                <a:tc>
                  <a:txBody>
                    <a:bodyPr/>
                    <a:lstStyle/>
                    <a:p>
                      <a:r>
                        <a:rPr sz="1300" b="1">
                          <a:solidFill>
                            <a:srgbClr val="FFFFFF"/>
                          </a:solidFill>
                        </a:rPr>
                        <a:t>P(top quartile | move &gt; 0.75%)</a:t>
                      </a:r>
                    </a:p>
                  </a:txBody>
                  <a:tcPr marL="54864" marR="54864" marT="27432" marB="27432" anchor="ctr">
                    <a:solidFill>
                      <a:srgbClr val="0F2C68"/>
                    </a:solidFill>
                  </a:tcPr>
                </a:tc>
                <a:tc>
                  <a:txBody>
                    <a:bodyPr/>
                    <a:lstStyle/>
                    <a:p>
                      <a:r>
                        <a:rPr sz="1300" b="1">
                          <a:solidFill>
                            <a:srgbClr val="FFFFFF"/>
                          </a:solidFill>
                        </a:rPr>
                        <a:t>Time in top quartile</a:t>
                      </a:r>
                    </a:p>
                  </a:txBody>
                  <a:tcPr marL="54864" marR="54864" marT="27432" marB="27432" anchor="ctr">
                    <a:solidFill>
                      <a:srgbClr val="0F2C68"/>
                    </a:solidFill>
                  </a:tcPr>
                </a:tc>
                <a:tc>
                  <a:txBody>
                    <a:bodyPr/>
                    <a:lstStyle/>
                    <a:p>
                      <a:r>
                        <a:rPr sz="1300" b="1">
                          <a:solidFill>
                            <a:srgbClr val="FFFFFF"/>
                          </a:solidFill>
                        </a:rPr>
                        <a:t>Lift</a:t>
                      </a:r>
                    </a:p>
                  </a:txBody>
                  <a:tcPr marL="54864" marR="54864" marT="27432" marB="27432" anchor="ctr">
                    <a:solidFill>
                      <a:srgbClr val="0F2C68"/>
                    </a:solidFill>
                  </a:tcPr>
                </a:tc>
              </a:tr>
              <a:tr h="411480">
                <a:tc>
                  <a:txBody>
                    <a:bodyPr/>
                    <a:lstStyle/>
                    <a:p>
                      <a:r>
                        <a:rPr sz="1300" b="0">
                          <a:solidFill>
                            <a:srgbClr val="222222"/>
                          </a:solidFill>
                        </a:rPr>
                        <a:t>VPIN (bulk classified)</a:t>
                      </a:r>
                    </a:p>
                  </a:txBody>
                  <a:tcPr marL="54864" marR="54864" marT="27432" marB="27432" anchor="ctr">
                    <a:solidFill>
                      <a:srgbClr val="FFFFFF"/>
                    </a:solidFill>
                  </a:tcPr>
                </a:tc>
                <a:tc>
                  <a:txBody>
                    <a:bodyPr/>
                    <a:lstStyle/>
                    <a:p>
                      <a:r>
                        <a:rPr sz="1300" b="0">
                          <a:solidFill>
                            <a:srgbClr val="222222"/>
                          </a:solidFill>
                        </a:rPr>
                        <a:t>0.13 ± 0.02</a:t>
                      </a:r>
                    </a:p>
                  </a:txBody>
                  <a:tcPr marL="54864" marR="54864" marT="27432" marB="27432" anchor="ctr">
                    <a:solidFill>
                      <a:srgbClr val="FFFFFF"/>
                    </a:solidFill>
                  </a:tcPr>
                </a:tc>
                <a:tc>
                  <a:txBody>
                    <a:bodyPr/>
                    <a:lstStyle/>
                    <a:p>
                      <a:r>
                        <a:rPr sz="1300" b="0">
                          <a:solidFill>
                            <a:srgbClr val="222222"/>
                          </a:solidFill>
                        </a:rPr>
                        <a:t>41% ± 3%</a:t>
                      </a:r>
                    </a:p>
                  </a:txBody>
                  <a:tcPr marL="54864" marR="54864" marT="27432" marB="27432" anchor="ctr">
                    <a:solidFill>
                      <a:srgbClr val="FFFFFF"/>
                    </a:solidFill>
                  </a:tcPr>
                </a:tc>
                <a:tc>
                  <a:txBody>
                    <a:bodyPr/>
                    <a:lstStyle/>
                    <a:p>
                      <a:r>
                        <a:rPr sz="1300" b="0">
                          <a:solidFill>
                            <a:srgbClr val="222222"/>
                          </a:solidFill>
                        </a:rPr>
                        <a:t>27%</a:t>
                      </a:r>
                    </a:p>
                  </a:txBody>
                  <a:tcPr marL="54864" marR="54864" marT="27432" marB="27432" anchor="ctr">
                    <a:solidFill>
                      <a:srgbClr val="FFFFFF"/>
                    </a:solidFill>
                  </a:tcPr>
                </a:tc>
                <a:tc>
                  <a:txBody>
                    <a:bodyPr/>
                    <a:lstStyle/>
                    <a:p>
                      <a:r>
                        <a:rPr sz="1300" b="0">
                          <a:solidFill>
                            <a:srgbClr val="222222"/>
                          </a:solidFill>
                        </a:rPr>
                        <a:t>1.53 ± 0.08</a:t>
                      </a:r>
                    </a:p>
                  </a:txBody>
                  <a:tcPr marL="54864" marR="54864" marT="27432" marB="27432" anchor="ctr">
                    <a:solidFill>
                      <a:srgbClr val="FFFFFF"/>
                    </a:solidFill>
                  </a:tcPr>
                </a:tc>
              </a:tr>
              <a:tr h="411480">
                <a:tc>
                  <a:txBody>
                    <a:bodyPr/>
                    <a:lstStyle/>
                    <a:p>
                      <a:r>
                        <a:rPr sz="1300" b="0">
                          <a:solidFill>
                            <a:srgbClr val="222222"/>
                          </a:solidFill>
                        </a:rPr>
                        <a:t>VPIN (true labels)</a:t>
                      </a:r>
                    </a:p>
                  </a:txBody>
                  <a:tcPr marL="54864" marR="54864" marT="27432" marB="27432" anchor="ctr">
                    <a:solidFill>
                      <a:srgbClr val="EEF2F8"/>
                    </a:solidFill>
                  </a:tcPr>
                </a:tc>
                <a:tc>
                  <a:txBody>
                    <a:bodyPr/>
                    <a:lstStyle/>
                    <a:p>
                      <a:r>
                        <a:rPr sz="1300" b="0">
                          <a:solidFill>
                            <a:srgbClr val="222222"/>
                          </a:solidFill>
                        </a:rPr>
                        <a:t>-0.12 ± 0.02</a:t>
                      </a:r>
                    </a:p>
                  </a:txBody>
                  <a:tcPr marL="54864" marR="54864" marT="27432" marB="27432" anchor="ctr">
                    <a:solidFill>
                      <a:srgbClr val="EEF2F8"/>
                    </a:solidFill>
                  </a:tcPr>
                </a:tc>
                <a:tc>
                  <a:txBody>
                    <a:bodyPr/>
                    <a:lstStyle/>
                    <a:p>
                      <a:r>
                        <a:rPr sz="1300" b="0">
                          <a:solidFill>
                            <a:srgbClr val="222222"/>
                          </a:solidFill>
                        </a:rPr>
                        <a:t>17% ± 3%</a:t>
                      </a:r>
                    </a:p>
                  </a:txBody>
                  <a:tcPr marL="54864" marR="54864" marT="27432" marB="27432" anchor="ctr">
                    <a:solidFill>
                      <a:srgbClr val="EEF2F8"/>
                    </a:solidFill>
                  </a:tcPr>
                </a:tc>
                <a:tc>
                  <a:txBody>
                    <a:bodyPr/>
                    <a:lstStyle/>
                    <a:p>
                      <a:r>
                        <a:rPr sz="1300" b="0">
                          <a:solidFill>
                            <a:srgbClr val="222222"/>
                          </a:solidFill>
                        </a:rPr>
                        <a:t>29%</a:t>
                      </a:r>
                    </a:p>
                  </a:txBody>
                  <a:tcPr marL="54864" marR="54864" marT="27432" marB="27432" anchor="ctr">
                    <a:solidFill>
                      <a:srgbClr val="EEF2F8"/>
                    </a:solidFill>
                  </a:tcPr>
                </a:tc>
                <a:tc>
                  <a:txBody>
                    <a:bodyPr/>
                    <a:lstStyle/>
                    <a:p>
                      <a:r>
                        <a:rPr sz="1300" b="0">
                          <a:solidFill>
                            <a:srgbClr val="222222"/>
                          </a:solidFill>
                        </a:rPr>
                        <a:t>0.61 ± 0.08</a:t>
                      </a:r>
                    </a:p>
                  </a:txBody>
                  <a:tcPr marL="54864" marR="54864" marT="27432" marB="27432" anchor="ctr">
                    <a:solidFill>
                      <a:srgbClr val="EEF2F8"/>
                    </a:solidFill>
                  </a:tcPr>
                </a:tc>
              </a:tr>
              <a:tr h="411480">
                <a:tc>
                  <a:txBody>
                    <a:bodyPr/>
                    <a:lstStyle/>
                    <a:p>
                      <a:r>
                        <a:rPr sz="1300" b="0">
                          <a:solidFill>
                            <a:srgbClr val="222222"/>
                          </a:solidFill>
                        </a:rPr>
                        <a:t>RV (trailing volatility)</a:t>
                      </a:r>
                    </a:p>
                  </a:txBody>
                  <a:tcPr marL="54864" marR="54864" marT="27432" marB="27432" anchor="ctr">
                    <a:solidFill>
                      <a:srgbClr val="FFFFFF"/>
                    </a:solidFill>
                  </a:tcPr>
                </a:tc>
                <a:tc>
                  <a:txBody>
                    <a:bodyPr/>
                    <a:lstStyle/>
                    <a:p>
                      <a:r>
                        <a:rPr sz="1300" b="0">
                          <a:solidFill>
                            <a:srgbClr val="222222"/>
                          </a:solidFill>
                        </a:rPr>
                        <a:t>0.36 ± 0.03</a:t>
                      </a:r>
                    </a:p>
                  </a:txBody>
                  <a:tcPr marL="54864" marR="54864" marT="27432" marB="27432" anchor="ctr">
                    <a:solidFill>
                      <a:srgbClr val="FFFFFF"/>
                    </a:solidFill>
                  </a:tcPr>
                </a:tc>
                <a:tc>
                  <a:txBody>
                    <a:bodyPr/>
                    <a:lstStyle/>
                    <a:p>
                      <a:r>
                        <a:rPr sz="1300" b="0">
                          <a:solidFill>
                            <a:srgbClr val="222222"/>
                          </a:solidFill>
                        </a:rPr>
                        <a:t>40% ± 7%</a:t>
                      </a:r>
                    </a:p>
                  </a:txBody>
                  <a:tcPr marL="54864" marR="54864" marT="27432" marB="27432" anchor="ctr">
                    <a:solidFill>
                      <a:srgbClr val="FFFFFF"/>
                    </a:solidFill>
                  </a:tcPr>
                </a:tc>
                <a:tc>
                  <a:txBody>
                    <a:bodyPr/>
                    <a:lstStyle/>
                    <a:p>
                      <a:r>
                        <a:rPr sz="1300" b="0">
                          <a:solidFill>
                            <a:srgbClr val="222222"/>
                          </a:solidFill>
                        </a:rPr>
                        <a:t>12%</a:t>
                      </a:r>
                    </a:p>
                  </a:txBody>
                  <a:tcPr marL="54864" marR="54864" marT="27432" marB="27432" anchor="ctr">
                    <a:solidFill>
                      <a:srgbClr val="FFFFFF"/>
                    </a:solidFill>
                  </a:tcPr>
                </a:tc>
                <a:tc>
                  <a:txBody>
                    <a:bodyPr/>
                    <a:lstStyle/>
                    <a:p>
                      <a:r>
                        <a:rPr sz="1300" b="0">
                          <a:solidFill>
                            <a:srgbClr val="222222"/>
                          </a:solidFill>
                        </a:rPr>
                        <a:t>3.31 ± 0.28</a:t>
                      </a:r>
                    </a:p>
                  </a:txBody>
                  <a:tcPr marL="54864" marR="54864" marT="27432" marB="27432" anchor="ctr">
                    <a:solidFill>
                      <a:srgbClr val="FFFFFF"/>
                    </a:solidFill>
                  </a:tcPr>
                </a:tc>
              </a:tr>
            </a:tbl>
          </a:graphicData>
        </a:graphic>
      </p:graphicFrame>
      <p:sp>
        <p:nvSpPr>
          <p:cNvPr id="6" name="TextBox 5"/>
          <p:cNvSpPr txBox="1"/>
          <p:nvPr/>
        </p:nvSpPr>
        <p:spPr>
          <a:xfrm>
            <a:off x="585216" y="4160520"/>
            <a:ext cx="10972800" cy="2286000"/>
          </a:xfrm>
          <a:prstGeom prst="rect">
            <a:avLst/>
          </a:prstGeom>
          <a:noFill/>
        </p:spPr>
        <p:txBody>
          <a:bodyPr wrap="square" anchor="t" lIns="45720" rIns="45720">
            <a:spAutoFit/>
          </a:bodyPr>
          <a:lstStyle/>
          <a:p>
            <a:pPr algn="l">
              <a:spcAft>
                <a:spcPts val="800"/>
              </a:spcAft>
            </a:pPr>
            <a:r>
              <a:rPr sz="1400" b="0">
                <a:solidFill>
                  <a:srgbClr val="222222"/>
                </a:solidFill>
              </a:rPr>
              <a:t>• VPIN from </a:t>
            </a:r>
            <a:r>
              <a:rPr sz="1400" b="1">
                <a:solidFill>
                  <a:srgbClr val="222222"/>
                </a:solidFill>
              </a:rPr>
              <a:t>true labels</a:t>
            </a:r>
            <a:r>
              <a:rPr sz="1400" b="0">
                <a:solidFill>
                  <a:srgbClr val="222222"/>
                </a:solidFill>
              </a:rPr>
              <a:t> is negatively related to the next move; bulk-classified VPIN is positive; </a:t>
            </a:r>
            <a:r>
              <a:rPr sz="1400" b="1">
                <a:solidFill>
                  <a:srgbClr val="222222"/>
                </a:solidFill>
              </a:rPr>
              <a:t>trailing volatility wins</a:t>
            </a:r>
            <a:r>
              <a:rPr sz="1400" b="0">
                <a:solidFill>
                  <a:srgbClr val="222222"/>
                </a:solidFill>
              </a:rPr>
              <a:t>.</a:t>
            </a:r>
          </a:p>
          <a:p>
            <a:pPr algn="l">
              <a:spcAft>
                <a:spcPts val="800"/>
              </a:spcAft>
            </a:pPr>
            <a:r>
              <a:rPr sz="1400" b="0">
                <a:solidFill>
                  <a:srgbClr val="222222"/>
                </a:solidFill>
              </a:rPr>
              <a:t>• BVC imbalance moves with the bucket's own |return| (0.44 ± 0.01 vs 0.29 ± 0.02 for the truth): BVC builds volatility into VPIN.</a:t>
            </a:r>
          </a:p>
          <a:p>
            <a:pPr algn="l">
              <a:spcAft>
                <a:spcPts val="800"/>
              </a:spcAft>
            </a:pPr>
            <a:r>
              <a:rPr sz="1400" b="0">
                <a:solidFill>
                  <a:srgbClr val="222222"/>
                </a:solidFill>
              </a:rPr>
              <a:t>• Regression with volatility and trade-intensity controls: VPIN adds ΔR² = </a:t>
            </a:r>
            <a:r>
              <a:rPr sz="1400" b="1">
                <a:solidFill>
                  <a:srgbClr val="222222"/>
                </a:solidFill>
              </a:rPr>
              <a:t>0.0010 ± 0.0005</a:t>
            </a:r>
            <a:r>
              <a:rPr sz="1400" b="0">
                <a:solidFill>
                  <a:srgbClr val="222222"/>
                </a:solidFill>
              </a:rPr>
              <a:t> on BTC, </a:t>
            </a:r>
            <a:r>
              <a:rPr sz="1400" b="1">
                <a:solidFill>
                  <a:srgbClr val="222222"/>
                </a:solidFill>
              </a:rPr>
              <a:t>0.0025 ± 0.0011</a:t>
            </a:r>
            <a:r>
              <a:rPr sz="1400" b="0">
                <a:solidFill>
                  <a:srgbClr val="222222"/>
                </a:solidFill>
              </a:rPr>
              <a:t> on IVE out of sample.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real-time VPIN out of sample, year by year</a:t>
            </a:r>
          </a:p>
        </p:txBody>
      </p:sp>
      <p:sp>
        <p:nvSpPr>
          <p:cNvPr id="4" name="Text Placeholder 3"/>
          <p:cNvSpPr>
            <a:spLocks noGrp="1"/>
          </p:cNvSpPr>
          <p:nvPr>
            <p:ph type="body" idx="2"/>
          </p:nvPr>
        </p:nvSpPr>
        <p:spPr/>
        <p:txBody>
          <a:bodyPr/>
          <a:lstStyle/>
          <a:p>
            <a:r>
              <a:t>Research Seminar</a:t>
            </a:r>
          </a:p>
        </p:txBody>
      </p:sp>
      <p:pic>
        <p:nvPicPr>
          <p:cNvPr id="5" name="Picture 4" descr="e2_ive_by_year.png"/>
          <p:cNvPicPr>
            <a:picLocks noChangeAspect="1"/>
          </p:cNvPicPr>
          <p:nvPr/>
        </p:nvPicPr>
        <p:blipFill>
          <a:blip r:embed="rId3"/>
          <a:stretch>
            <a:fillRect/>
          </a:stretch>
        </p:blipFill>
        <p:spPr>
          <a:xfrm>
            <a:off x="519795" y="2148840"/>
            <a:ext cx="11121929" cy="3566160"/>
          </a:xfrm>
          <a:prstGeom prst="rect">
            <a:avLst/>
          </a:prstGeom>
        </p:spPr>
      </p:pic>
      <p:sp>
        <p:nvSpPr>
          <p:cNvPr id="6" name="TextBox 5"/>
          <p:cNvSpPr txBox="1"/>
          <p:nvPr/>
        </p:nvSpPr>
        <p:spPr>
          <a:xfrm>
            <a:off x="585216" y="5715000"/>
            <a:ext cx="10972800" cy="822960"/>
          </a:xfrm>
          <a:prstGeom prst="rect">
            <a:avLst/>
          </a:prstGeom>
          <a:noFill/>
        </p:spPr>
        <p:txBody>
          <a:bodyPr wrap="square" anchor="t" lIns="45720" rIns="45720">
            <a:spAutoFit/>
          </a:bodyPr>
          <a:lstStyle/>
          <a:p>
            <a:pPr algn="l">
              <a:spcAft>
                <a:spcPts val="600"/>
              </a:spcAft>
            </a:pPr>
            <a:r>
              <a:rPr sz="1400" b="0">
                <a:solidFill>
                  <a:srgbClr val="222222"/>
                </a:solidFill>
              </a:rPr>
              <a:t>• Paper's (50, 250), 2011–26: corr VPIN </a:t>
            </a:r>
            <a:r>
              <a:rPr sz="1400" b="1">
                <a:solidFill>
                  <a:srgbClr val="222222"/>
                </a:solidFill>
              </a:rPr>
              <a:t>0.09 ± 0.03</a:t>
            </a:r>
            <a:r>
              <a:rPr sz="1400" b="0">
                <a:solidFill>
                  <a:srgbClr val="222222"/>
                </a:solidFill>
              </a:rPr>
              <a:t> vs trailing volatility </a:t>
            </a:r>
            <a:r>
              <a:rPr sz="1400" b="1">
                <a:solidFill>
                  <a:srgbClr val="222222"/>
                </a:solidFill>
              </a:rPr>
              <a:t>0.24 ± 0.02</a:t>
            </a:r>
            <a:r>
              <a:rPr sz="1400" b="0">
                <a:solidFill>
                  <a:srgbClr val="222222"/>
                </a:solidFill>
              </a:rPr>
              <a:t>; lift </a:t>
            </a:r>
            <a:r>
              <a:rPr sz="1400" b="1">
                <a:solidFill>
                  <a:srgbClr val="222222"/>
                </a:solidFill>
              </a:rPr>
              <a:t>1.57 ± 0.20</a:t>
            </a:r>
            <a:r>
              <a:rPr sz="1400" b="0">
                <a:solidFill>
                  <a:srgbClr val="222222"/>
                </a:solidFill>
              </a:rPr>
              <a:t> vs </a:t>
            </a:r>
            <a:r>
              <a:rPr sz="1400" b="1">
                <a:solidFill>
                  <a:srgbClr val="222222"/>
                </a:solidFill>
              </a:rPr>
              <a:t>2.76 ± 0.28</a:t>
            </a:r>
            <a:r>
              <a:rPr sz="1400" b="0">
                <a:solidFill>
                  <a:srgbClr val="222222"/>
                </a:solidFill>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crashes after the paper</a:t>
            </a:r>
          </a:p>
        </p:txBody>
      </p:sp>
      <p:sp>
        <p:nvSpPr>
          <p:cNvPr id="4" name="Text Placeholder 3"/>
          <p:cNvSpPr>
            <a:spLocks noGrp="1"/>
          </p:cNvSpPr>
          <p:nvPr>
            <p:ph type="body" idx="2"/>
          </p:nvPr>
        </p:nvSpPr>
        <p:spPr/>
        <p:txBody>
          <a:bodyPr/>
          <a:lstStyle/>
          <a:p>
            <a:r>
              <a:t>Research Seminar</a:t>
            </a:r>
          </a:p>
        </p:txBody>
      </p:sp>
      <p:graphicFrame>
        <p:nvGraphicFramePr>
          <p:cNvPr id="5" name="Table 4"/>
          <p:cNvGraphicFramePr>
            <a:graphicFrameLocks noGrp="1"/>
          </p:cNvGraphicFramePr>
          <p:nvPr/>
        </p:nvGraphicFramePr>
        <p:xfrm>
          <a:off x="585216" y="2194560"/>
          <a:ext cx="6949440" cy="3566160"/>
        </p:xfrm>
        <a:graphic>
          <a:graphicData uri="http://schemas.openxmlformats.org/drawingml/2006/table">
            <a:tbl>
              <a:tblPr firstRow="1" bandRow="1">
                <a:tableStyleId>{5C22544A-7EE6-4342-B048-85BDC9FD1C3A}</a:tableStyleId>
              </a:tblPr>
              <a:tblGrid>
                <a:gridCol w="914400"/>
                <a:gridCol w="1371600"/>
                <a:gridCol w="1371600"/>
                <a:gridCol w="1051560"/>
                <a:gridCol w="1234440"/>
                <a:gridCol w="1005840"/>
              </a:tblGrid>
              <a:tr h="396240">
                <a:tc>
                  <a:txBody>
                    <a:bodyPr/>
                    <a:lstStyle/>
                    <a:p>
                      <a:r>
                        <a:rPr sz="1300" b="1">
                          <a:solidFill>
                            <a:srgbClr val="FFFFFF"/>
                          </a:solidFill>
                        </a:rPr>
                        <a:t>Market</a:t>
                      </a:r>
                    </a:p>
                  </a:txBody>
                  <a:tcPr marL="54864" marR="54864" marT="27432" marB="27432" anchor="ctr">
                    <a:solidFill>
                      <a:srgbClr val="0F2C68"/>
                    </a:solidFill>
                  </a:tcPr>
                </a:tc>
                <a:tc>
                  <a:txBody>
                    <a:bodyPr/>
                    <a:lstStyle/>
                    <a:p>
                      <a:r>
                        <a:rPr sz="1300" b="1">
                          <a:solidFill>
                            <a:srgbClr val="FFFFFF"/>
                          </a:solidFill>
                        </a:rPr>
                        <a:t>Day</a:t>
                      </a:r>
                    </a:p>
                  </a:txBody>
                  <a:tcPr marL="54864" marR="54864" marT="27432" marB="27432" anchor="ctr">
                    <a:solidFill>
                      <a:srgbClr val="0F2C68"/>
                    </a:solidFill>
                  </a:tcPr>
                </a:tc>
                <a:tc>
                  <a:txBody>
                    <a:bodyPr/>
                    <a:lstStyle/>
                    <a:p>
                      <a:r>
                        <a:rPr sz="1300" b="1">
                          <a:solidFill>
                            <a:srgbClr val="FFFFFF"/>
                          </a:solidFill>
                        </a:rPr>
                        <a:t>Largest 1-hour fall</a:t>
                      </a:r>
                    </a:p>
                  </a:txBody>
                  <a:tcPr marL="54864" marR="54864" marT="27432" marB="27432" anchor="ctr">
                    <a:solidFill>
                      <a:srgbClr val="0F2C68"/>
                    </a:solidFill>
                  </a:tcPr>
                </a:tc>
                <a:tc>
                  <a:txBody>
                    <a:bodyPr/>
                    <a:lstStyle/>
                    <a:p>
                      <a:r>
                        <a:rPr sz="1300" b="1">
                          <a:solidFill>
                            <a:srgbClr val="FFFFFF"/>
                          </a:solidFill>
                        </a:rPr>
                        <a:t>VPIN alarm</a:t>
                      </a:r>
                    </a:p>
                  </a:txBody>
                  <a:tcPr marL="54864" marR="54864" marT="27432" marB="27432" anchor="ctr">
                    <a:solidFill>
                      <a:srgbClr val="0F2C68"/>
                    </a:solidFill>
                  </a:tcPr>
                </a:tc>
                <a:tc>
                  <a:txBody>
                    <a:bodyPr/>
                    <a:lstStyle/>
                    <a:p>
                      <a:r>
                        <a:rPr sz="1300" b="1">
                          <a:solidFill>
                            <a:srgbClr val="FFFFFF"/>
                          </a:solidFill>
                        </a:rPr>
                        <a:t>VPIN alarm, true labels</a:t>
                      </a:r>
                    </a:p>
                  </a:txBody>
                  <a:tcPr marL="54864" marR="54864" marT="27432" marB="27432" anchor="ctr">
                    <a:solidFill>
                      <a:srgbClr val="0F2C68"/>
                    </a:solidFill>
                  </a:tcPr>
                </a:tc>
                <a:tc>
                  <a:txBody>
                    <a:bodyPr/>
                    <a:lstStyle/>
                    <a:p>
                      <a:r>
                        <a:rPr sz="1300" b="1">
                          <a:solidFill>
                            <a:srgbClr val="FFFFFF"/>
                          </a:solidFill>
                        </a:rPr>
                        <a:t>Volatility alarm</a:t>
                      </a:r>
                    </a:p>
                  </a:txBody>
                  <a:tcPr marL="54864" marR="54864" marT="27432" marB="27432" anchor="ctr">
                    <a:solidFill>
                      <a:srgbClr val="0F2C68"/>
                    </a:solidFill>
                  </a:tcPr>
                </a:tc>
              </a:tr>
              <a:tr h="396240">
                <a:tc>
                  <a:txBody>
                    <a:bodyPr/>
                    <a:lstStyle/>
                    <a:p>
                      <a:r>
                        <a:rPr sz="1300" b="0">
                          <a:solidFill>
                            <a:srgbClr val="222222"/>
                          </a:solidFill>
                        </a:rPr>
                        <a:t>BTC</a:t>
                      </a:r>
                    </a:p>
                  </a:txBody>
                  <a:tcPr marL="54864" marR="54864" marT="27432" marB="27432" anchor="ctr">
                    <a:solidFill>
                      <a:srgbClr val="FFFFFF"/>
                    </a:solidFill>
                  </a:tcPr>
                </a:tc>
                <a:tc>
                  <a:txBody>
                    <a:bodyPr/>
                    <a:lstStyle/>
                    <a:p>
                      <a:r>
                        <a:rPr sz="1300" b="0">
                          <a:solidFill>
                            <a:srgbClr val="222222"/>
                          </a:solidFill>
                        </a:rPr>
                        <a:t>2021-05-19</a:t>
                      </a:r>
                    </a:p>
                  </a:txBody>
                  <a:tcPr marL="54864" marR="54864" marT="27432" marB="27432" anchor="ctr">
                    <a:solidFill>
                      <a:srgbClr val="FFFFFF"/>
                    </a:solidFill>
                  </a:tcPr>
                </a:tc>
                <a:tc>
                  <a:txBody>
                    <a:bodyPr/>
                    <a:lstStyle/>
                    <a:p>
                      <a:r>
                        <a:rPr sz="1300" b="0">
                          <a:solidFill>
                            <a:srgbClr val="222222"/>
                          </a:solidFill>
                        </a:rPr>
                        <a:t>-22.9%</a:t>
                      </a:r>
                    </a:p>
                  </a:txBody>
                  <a:tcPr marL="54864" marR="54864" marT="27432" marB="27432" anchor="ctr">
                    <a:solidFill>
                      <a:srgbClr val="FFFFFF"/>
                    </a:solidFill>
                  </a:tcPr>
                </a:tc>
                <a:tc>
                  <a:txBody>
                    <a:bodyPr/>
                    <a:lstStyle/>
                    <a:p>
                      <a:r>
                        <a:rPr sz="1300" b="1">
                          <a:solidFill>
                            <a:srgbClr val="FFFFFF"/>
                          </a:solidFill>
                        </a:rPr>
                        <a:t>on</a:t>
                      </a:r>
                    </a:p>
                  </a:txBody>
                  <a:tcPr marL="54864" marR="54864" marT="27432" marB="27432" anchor="ctr">
                    <a:solidFill>
                      <a:srgbClr val="009B64"/>
                    </a:solidFill>
                  </a:tcPr>
                </a:tc>
                <a:tc>
                  <a:txBody>
                    <a:bodyPr/>
                    <a:lstStyle/>
                    <a:p>
                      <a:r>
                        <a:rPr sz="1300" b="1">
                          <a:solidFill>
                            <a:srgbClr val="FFFFFF"/>
                          </a:solidFill>
                        </a:rPr>
                        <a:t>off</a:t>
                      </a:r>
                    </a:p>
                  </a:txBody>
                  <a:tcPr marL="54864" marR="54864" marT="27432" marB="27432" anchor="ctr">
                    <a:solidFill>
                      <a:srgbClr val="595959"/>
                    </a:solidFill>
                  </a:tcPr>
                </a:tc>
                <a:tc>
                  <a:txBody>
                    <a:bodyPr/>
                    <a:lstStyle/>
                    <a:p>
                      <a:r>
                        <a:rPr sz="1300" b="1">
                          <a:solidFill>
                            <a:srgbClr val="FFFFFF"/>
                          </a:solidFill>
                        </a:rPr>
                        <a:t>off</a:t>
                      </a:r>
                    </a:p>
                  </a:txBody>
                  <a:tcPr marL="54864" marR="54864" marT="27432" marB="27432" anchor="ctr">
                    <a:solidFill>
                      <a:srgbClr val="595959"/>
                    </a:solidFill>
                  </a:tcPr>
                </a:tc>
              </a:tr>
              <a:tr h="396240">
                <a:tc>
                  <a:txBody>
                    <a:bodyPr/>
                    <a:lstStyle/>
                    <a:p>
                      <a:r>
                        <a:rPr sz="1300" b="0">
                          <a:solidFill>
                            <a:srgbClr val="222222"/>
                          </a:solidFill>
                        </a:rPr>
                        <a:t>BTC</a:t>
                      </a:r>
                    </a:p>
                  </a:txBody>
                  <a:tcPr marL="54864" marR="54864" marT="27432" marB="27432" anchor="ctr">
                    <a:solidFill>
                      <a:srgbClr val="EEF2F8"/>
                    </a:solidFill>
                  </a:tcPr>
                </a:tc>
                <a:tc>
                  <a:txBody>
                    <a:bodyPr/>
                    <a:lstStyle/>
                    <a:p>
                      <a:r>
                        <a:rPr sz="1300" b="0">
                          <a:solidFill>
                            <a:srgbClr val="222222"/>
                          </a:solidFill>
                        </a:rPr>
                        <a:t>2024-08-05</a:t>
                      </a:r>
                    </a:p>
                  </a:txBody>
                  <a:tcPr marL="54864" marR="54864" marT="27432" marB="27432" anchor="ctr">
                    <a:solidFill>
                      <a:srgbClr val="EEF2F8"/>
                    </a:solidFill>
                  </a:tcPr>
                </a:tc>
                <a:tc>
                  <a:txBody>
                    <a:bodyPr/>
                    <a:lstStyle/>
                    <a:p>
                      <a:r>
                        <a:rPr sz="1300" b="0">
                          <a:solidFill>
                            <a:srgbClr val="222222"/>
                          </a:solidFill>
                        </a:rPr>
                        <a:t>-8.9%</a:t>
                      </a:r>
                    </a:p>
                  </a:txBody>
                  <a:tcPr marL="54864" marR="54864" marT="27432" marB="27432" anchor="ctr">
                    <a:solidFill>
                      <a:srgbClr val="EEF2F8"/>
                    </a:solidFill>
                  </a:tcPr>
                </a:tc>
                <a:tc>
                  <a:txBody>
                    <a:bodyPr/>
                    <a:lstStyle/>
                    <a:p>
                      <a:r>
                        <a:rPr sz="1300" b="1">
                          <a:solidFill>
                            <a:srgbClr val="FFFFFF"/>
                          </a:solidFill>
                        </a:rPr>
                        <a:t>off</a:t>
                      </a:r>
                    </a:p>
                  </a:txBody>
                  <a:tcPr marL="54864" marR="54864" marT="27432" marB="27432" anchor="ctr">
                    <a:solidFill>
                      <a:srgbClr val="595959"/>
                    </a:solidFill>
                  </a:tcPr>
                </a:tc>
                <a:tc>
                  <a:txBody>
                    <a:bodyPr/>
                    <a:lstStyle/>
                    <a:p>
                      <a:r>
                        <a:rPr sz="1300" b="1">
                          <a:solidFill>
                            <a:srgbClr val="FFFFFF"/>
                          </a:solidFill>
                        </a:rPr>
                        <a:t>off</a:t>
                      </a:r>
                    </a:p>
                  </a:txBody>
                  <a:tcPr marL="54864" marR="54864" marT="27432" marB="27432" anchor="ctr">
                    <a:solidFill>
                      <a:srgbClr val="595959"/>
                    </a:solidFill>
                  </a:tcPr>
                </a:tc>
                <a:tc>
                  <a:txBody>
                    <a:bodyPr/>
                    <a:lstStyle/>
                    <a:p>
                      <a:r>
                        <a:rPr sz="1300" b="1">
                          <a:solidFill>
                            <a:srgbClr val="FFFFFF"/>
                          </a:solidFill>
                        </a:rPr>
                        <a:t>off</a:t>
                      </a:r>
                    </a:p>
                  </a:txBody>
                  <a:tcPr marL="54864" marR="54864" marT="27432" marB="27432" anchor="ctr">
                    <a:solidFill>
                      <a:srgbClr val="595959"/>
                    </a:solidFill>
                  </a:tcPr>
                </a:tc>
              </a:tr>
              <a:tr h="396240">
                <a:tc>
                  <a:txBody>
                    <a:bodyPr/>
                    <a:lstStyle/>
                    <a:p>
                      <a:r>
                        <a:rPr sz="1300" b="0">
                          <a:solidFill>
                            <a:srgbClr val="222222"/>
                          </a:solidFill>
                        </a:rPr>
                        <a:t>BTC</a:t>
                      </a:r>
                    </a:p>
                  </a:txBody>
                  <a:tcPr marL="54864" marR="54864" marT="27432" marB="27432" anchor="ctr">
                    <a:solidFill>
                      <a:srgbClr val="FFFFFF"/>
                    </a:solidFill>
                  </a:tcPr>
                </a:tc>
                <a:tc>
                  <a:txBody>
                    <a:bodyPr/>
                    <a:lstStyle/>
                    <a:p>
                      <a:r>
                        <a:rPr sz="1300" b="0">
                          <a:solidFill>
                            <a:srgbClr val="222222"/>
                          </a:solidFill>
                        </a:rPr>
                        <a:t>2025-10-10</a:t>
                      </a:r>
                    </a:p>
                  </a:txBody>
                  <a:tcPr marL="54864" marR="54864" marT="27432" marB="27432" anchor="ctr">
                    <a:solidFill>
                      <a:srgbClr val="FFFFFF"/>
                    </a:solidFill>
                  </a:tcPr>
                </a:tc>
                <a:tc>
                  <a:txBody>
                    <a:bodyPr/>
                    <a:lstStyle/>
                    <a:p>
                      <a:r>
                        <a:rPr sz="1300" b="0">
                          <a:solidFill>
                            <a:srgbClr val="222222"/>
                          </a:solidFill>
                        </a:rPr>
                        <a:t>-11.6%</a:t>
                      </a:r>
                    </a:p>
                  </a:txBody>
                  <a:tcPr marL="54864" marR="54864" marT="27432" marB="27432" anchor="ctr">
                    <a:solidFill>
                      <a:srgbClr val="FFFFFF"/>
                    </a:solidFill>
                  </a:tcPr>
                </a:tc>
                <a:tc>
                  <a:txBody>
                    <a:bodyPr/>
                    <a:lstStyle/>
                    <a:p>
                      <a:r>
                        <a:rPr sz="1300" b="1">
                          <a:solidFill>
                            <a:srgbClr val="FFFFFF"/>
                          </a:solidFill>
                        </a:rPr>
                        <a:t>off</a:t>
                      </a:r>
                    </a:p>
                  </a:txBody>
                  <a:tcPr marL="54864" marR="54864" marT="27432" marB="27432" anchor="ctr">
                    <a:solidFill>
                      <a:srgbClr val="595959"/>
                    </a:solidFill>
                  </a:tcPr>
                </a:tc>
                <a:tc>
                  <a:txBody>
                    <a:bodyPr/>
                    <a:lstStyle/>
                    <a:p>
                      <a:r>
                        <a:rPr sz="1300" b="1">
                          <a:solidFill>
                            <a:srgbClr val="FFFFFF"/>
                          </a:solidFill>
                        </a:rPr>
                        <a:t>on</a:t>
                      </a:r>
                    </a:p>
                  </a:txBody>
                  <a:tcPr marL="54864" marR="54864" marT="27432" marB="27432" anchor="ctr">
                    <a:solidFill>
                      <a:srgbClr val="009B64"/>
                    </a:solidFill>
                  </a:tcPr>
                </a:tc>
                <a:tc>
                  <a:txBody>
                    <a:bodyPr/>
                    <a:lstStyle/>
                    <a:p>
                      <a:r>
                        <a:rPr sz="1300" b="1">
                          <a:solidFill>
                            <a:srgbClr val="FFFFFF"/>
                          </a:solidFill>
                        </a:rPr>
                        <a:t>off</a:t>
                      </a:r>
                    </a:p>
                  </a:txBody>
                  <a:tcPr marL="54864" marR="54864" marT="27432" marB="27432" anchor="ctr">
                    <a:solidFill>
                      <a:srgbClr val="595959"/>
                    </a:solidFill>
                  </a:tcPr>
                </a:tc>
              </a:tr>
              <a:tr h="396240">
                <a:tc>
                  <a:txBody>
                    <a:bodyPr/>
                    <a:lstStyle/>
                    <a:p>
                      <a:r>
                        <a:rPr sz="1300" b="0">
                          <a:solidFill>
                            <a:srgbClr val="222222"/>
                          </a:solidFill>
                        </a:rPr>
                        <a:t>IVE</a:t>
                      </a:r>
                    </a:p>
                  </a:txBody>
                  <a:tcPr marL="54864" marR="54864" marT="27432" marB="27432" anchor="ctr">
                    <a:solidFill>
                      <a:srgbClr val="EEF2F8"/>
                    </a:solidFill>
                  </a:tcPr>
                </a:tc>
                <a:tc>
                  <a:txBody>
                    <a:bodyPr/>
                    <a:lstStyle/>
                    <a:p>
                      <a:r>
                        <a:rPr sz="1300" b="0">
                          <a:solidFill>
                            <a:srgbClr val="222222"/>
                          </a:solidFill>
                        </a:rPr>
                        <a:t>2011-08-08</a:t>
                      </a:r>
                    </a:p>
                  </a:txBody>
                  <a:tcPr marL="54864" marR="54864" marT="27432" marB="27432" anchor="ctr">
                    <a:solidFill>
                      <a:srgbClr val="EEF2F8"/>
                    </a:solidFill>
                  </a:tcPr>
                </a:tc>
                <a:tc>
                  <a:txBody>
                    <a:bodyPr/>
                    <a:lstStyle/>
                    <a:p>
                      <a:r>
                        <a:rPr sz="1300" b="0">
                          <a:solidFill>
                            <a:srgbClr val="222222"/>
                          </a:solidFill>
                        </a:rPr>
                        <a:t>-3.2%</a:t>
                      </a:r>
                    </a:p>
                  </a:txBody>
                  <a:tcPr marL="54864" marR="54864" marT="27432" marB="27432" anchor="ctr">
                    <a:solidFill>
                      <a:srgbClr val="EEF2F8"/>
                    </a:solidFill>
                  </a:tcPr>
                </a:tc>
                <a:tc>
                  <a:txBody>
                    <a:bodyPr/>
                    <a:lstStyle/>
                    <a:p>
                      <a:r>
                        <a:rPr sz="1300" b="1">
                          <a:solidFill>
                            <a:srgbClr val="FFFFFF"/>
                          </a:solidFill>
                        </a:rPr>
                        <a:t>on</a:t>
                      </a:r>
                    </a:p>
                  </a:txBody>
                  <a:tcPr marL="54864" marR="54864" marT="27432" marB="27432" anchor="ctr">
                    <a:solidFill>
                      <a:srgbClr val="009B64"/>
                    </a:solidFill>
                  </a:tcPr>
                </a:tc>
                <a:tc>
                  <a:txBody>
                    <a:bodyPr/>
                    <a:lstStyle/>
                    <a:p>
                      <a:r>
                        <a:rPr sz="1300" b="0">
                          <a:solidFill>
                            <a:srgbClr val="222222"/>
                          </a:solidFill>
                        </a:rPr>
                        <a:t>–</a:t>
                      </a:r>
                    </a:p>
                  </a:txBody>
                  <a:tcPr marL="54864" marR="54864" marT="27432" marB="27432" anchor="ctr">
                    <a:solidFill>
                      <a:srgbClr val="EEF2F8"/>
                    </a:solidFill>
                  </a:tcPr>
                </a:tc>
                <a:tc>
                  <a:txBody>
                    <a:bodyPr/>
                    <a:lstStyle/>
                    <a:p>
                      <a:r>
                        <a:rPr sz="1300" b="1">
                          <a:solidFill>
                            <a:srgbClr val="FFFFFF"/>
                          </a:solidFill>
                        </a:rPr>
                        <a:t>on</a:t>
                      </a:r>
                    </a:p>
                  </a:txBody>
                  <a:tcPr marL="54864" marR="54864" marT="27432" marB="27432" anchor="ctr">
                    <a:solidFill>
                      <a:srgbClr val="009B64"/>
                    </a:solidFill>
                  </a:tcPr>
                </a:tc>
              </a:tr>
              <a:tr h="396240">
                <a:tc>
                  <a:txBody>
                    <a:bodyPr/>
                    <a:lstStyle/>
                    <a:p>
                      <a:r>
                        <a:rPr sz="1300" b="0">
                          <a:solidFill>
                            <a:srgbClr val="222222"/>
                          </a:solidFill>
                        </a:rPr>
                        <a:t>IVE</a:t>
                      </a:r>
                    </a:p>
                  </a:txBody>
                  <a:tcPr marL="54864" marR="54864" marT="27432" marB="27432" anchor="ctr">
                    <a:solidFill>
                      <a:srgbClr val="FFFFFF"/>
                    </a:solidFill>
                  </a:tcPr>
                </a:tc>
                <a:tc>
                  <a:txBody>
                    <a:bodyPr/>
                    <a:lstStyle/>
                    <a:p>
                      <a:r>
                        <a:rPr sz="1300" b="0">
                          <a:solidFill>
                            <a:srgbClr val="222222"/>
                          </a:solidFill>
                        </a:rPr>
                        <a:t>2015-08-24</a:t>
                      </a:r>
                    </a:p>
                  </a:txBody>
                  <a:tcPr marL="54864" marR="54864" marT="27432" marB="27432" anchor="ctr">
                    <a:solidFill>
                      <a:srgbClr val="FFFFFF"/>
                    </a:solidFill>
                  </a:tcPr>
                </a:tc>
                <a:tc>
                  <a:txBody>
                    <a:bodyPr/>
                    <a:lstStyle/>
                    <a:p>
                      <a:r>
                        <a:rPr sz="1300" b="0">
                          <a:solidFill>
                            <a:srgbClr val="222222"/>
                          </a:solidFill>
                        </a:rPr>
                        <a:t>-5.1%</a:t>
                      </a:r>
                    </a:p>
                  </a:txBody>
                  <a:tcPr marL="54864" marR="54864" marT="27432" marB="27432" anchor="ctr">
                    <a:solidFill>
                      <a:srgbClr val="FFFFFF"/>
                    </a:solidFill>
                  </a:tcPr>
                </a:tc>
                <a:tc>
                  <a:txBody>
                    <a:bodyPr/>
                    <a:lstStyle/>
                    <a:p>
                      <a:r>
                        <a:rPr sz="1300" b="1">
                          <a:solidFill>
                            <a:srgbClr val="FFFFFF"/>
                          </a:solidFill>
                        </a:rPr>
                        <a:t>on</a:t>
                      </a:r>
                    </a:p>
                  </a:txBody>
                  <a:tcPr marL="54864" marR="54864" marT="27432" marB="27432" anchor="ctr">
                    <a:solidFill>
                      <a:srgbClr val="009B64"/>
                    </a:solidFill>
                  </a:tcPr>
                </a:tc>
                <a:tc>
                  <a:txBody>
                    <a:bodyPr/>
                    <a:lstStyle/>
                    <a:p>
                      <a:r>
                        <a:rPr sz="1300" b="0">
                          <a:solidFill>
                            <a:srgbClr val="222222"/>
                          </a:solidFill>
                        </a:rPr>
                        <a:t>–</a:t>
                      </a:r>
                    </a:p>
                  </a:txBody>
                  <a:tcPr marL="54864" marR="54864" marT="27432" marB="27432" anchor="ctr">
                    <a:solidFill>
                      <a:srgbClr val="FFFFFF"/>
                    </a:solidFill>
                  </a:tcPr>
                </a:tc>
                <a:tc>
                  <a:txBody>
                    <a:bodyPr/>
                    <a:lstStyle/>
                    <a:p>
                      <a:r>
                        <a:rPr sz="1300" b="1">
                          <a:solidFill>
                            <a:srgbClr val="FFFFFF"/>
                          </a:solidFill>
                        </a:rPr>
                        <a:t>on</a:t>
                      </a:r>
                    </a:p>
                  </a:txBody>
                  <a:tcPr marL="54864" marR="54864" marT="27432" marB="27432" anchor="ctr">
                    <a:solidFill>
                      <a:srgbClr val="009B64"/>
                    </a:solidFill>
                  </a:tcPr>
                </a:tc>
              </a:tr>
              <a:tr h="396240">
                <a:tc>
                  <a:txBody>
                    <a:bodyPr/>
                    <a:lstStyle/>
                    <a:p>
                      <a:r>
                        <a:rPr sz="1300" b="0">
                          <a:solidFill>
                            <a:srgbClr val="222222"/>
                          </a:solidFill>
                        </a:rPr>
                        <a:t>IVE</a:t>
                      </a:r>
                    </a:p>
                  </a:txBody>
                  <a:tcPr marL="54864" marR="54864" marT="27432" marB="27432" anchor="ctr">
                    <a:solidFill>
                      <a:srgbClr val="EEF2F8"/>
                    </a:solidFill>
                  </a:tcPr>
                </a:tc>
                <a:tc>
                  <a:txBody>
                    <a:bodyPr/>
                    <a:lstStyle/>
                    <a:p>
                      <a:r>
                        <a:rPr sz="1300" b="0">
                          <a:solidFill>
                            <a:srgbClr val="222222"/>
                          </a:solidFill>
                        </a:rPr>
                        <a:t>2018-02-05</a:t>
                      </a:r>
                    </a:p>
                  </a:txBody>
                  <a:tcPr marL="54864" marR="54864" marT="27432" marB="27432" anchor="ctr">
                    <a:solidFill>
                      <a:srgbClr val="EEF2F8"/>
                    </a:solidFill>
                  </a:tcPr>
                </a:tc>
                <a:tc>
                  <a:txBody>
                    <a:bodyPr/>
                    <a:lstStyle/>
                    <a:p>
                      <a:r>
                        <a:rPr sz="1300" b="0">
                          <a:solidFill>
                            <a:srgbClr val="222222"/>
                          </a:solidFill>
                        </a:rPr>
                        <a:t>-2.7%</a:t>
                      </a:r>
                    </a:p>
                  </a:txBody>
                  <a:tcPr marL="54864" marR="54864" marT="27432" marB="27432" anchor="ctr">
                    <a:solidFill>
                      <a:srgbClr val="EEF2F8"/>
                    </a:solidFill>
                  </a:tcPr>
                </a:tc>
                <a:tc>
                  <a:txBody>
                    <a:bodyPr/>
                    <a:lstStyle/>
                    <a:p>
                      <a:r>
                        <a:rPr sz="1300" b="1">
                          <a:solidFill>
                            <a:srgbClr val="FFFFFF"/>
                          </a:solidFill>
                        </a:rPr>
                        <a:t>on</a:t>
                      </a:r>
                    </a:p>
                  </a:txBody>
                  <a:tcPr marL="54864" marR="54864" marT="27432" marB="27432" anchor="ctr">
                    <a:solidFill>
                      <a:srgbClr val="009B64"/>
                    </a:solidFill>
                  </a:tcPr>
                </a:tc>
                <a:tc>
                  <a:txBody>
                    <a:bodyPr/>
                    <a:lstStyle/>
                    <a:p>
                      <a:r>
                        <a:rPr sz="1300" b="0">
                          <a:solidFill>
                            <a:srgbClr val="222222"/>
                          </a:solidFill>
                        </a:rPr>
                        <a:t>–</a:t>
                      </a:r>
                    </a:p>
                  </a:txBody>
                  <a:tcPr marL="54864" marR="54864" marT="27432" marB="27432" anchor="ctr">
                    <a:solidFill>
                      <a:srgbClr val="EEF2F8"/>
                    </a:solidFill>
                  </a:tcPr>
                </a:tc>
                <a:tc>
                  <a:txBody>
                    <a:bodyPr/>
                    <a:lstStyle/>
                    <a:p>
                      <a:r>
                        <a:rPr sz="1300" b="1">
                          <a:solidFill>
                            <a:srgbClr val="FFFFFF"/>
                          </a:solidFill>
                        </a:rPr>
                        <a:t>off</a:t>
                      </a:r>
                    </a:p>
                  </a:txBody>
                  <a:tcPr marL="54864" marR="54864" marT="27432" marB="27432" anchor="ctr">
                    <a:solidFill>
                      <a:srgbClr val="595959"/>
                    </a:solidFill>
                  </a:tcPr>
                </a:tc>
              </a:tr>
              <a:tr h="396240">
                <a:tc>
                  <a:txBody>
                    <a:bodyPr/>
                    <a:lstStyle/>
                    <a:p>
                      <a:r>
                        <a:rPr sz="1300" b="0">
                          <a:solidFill>
                            <a:srgbClr val="222222"/>
                          </a:solidFill>
                        </a:rPr>
                        <a:t>IVE</a:t>
                      </a:r>
                    </a:p>
                  </a:txBody>
                  <a:tcPr marL="54864" marR="54864" marT="27432" marB="27432" anchor="ctr">
                    <a:solidFill>
                      <a:srgbClr val="FFFFFF"/>
                    </a:solidFill>
                  </a:tcPr>
                </a:tc>
                <a:tc>
                  <a:txBody>
                    <a:bodyPr/>
                    <a:lstStyle/>
                    <a:p>
                      <a:r>
                        <a:rPr sz="1300" b="0">
                          <a:solidFill>
                            <a:srgbClr val="222222"/>
                          </a:solidFill>
                        </a:rPr>
                        <a:t>2020-03-16</a:t>
                      </a:r>
                    </a:p>
                  </a:txBody>
                  <a:tcPr marL="54864" marR="54864" marT="27432" marB="27432" anchor="ctr">
                    <a:solidFill>
                      <a:srgbClr val="FFFFFF"/>
                    </a:solidFill>
                  </a:tcPr>
                </a:tc>
                <a:tc>
                  <a:txBody>
                    <a:bodyPr/>
                    <a:lstStyle/>
                    <a:p>
                      <a:r>
                        <a:rPr sz="1300" b="0">
                          <a:solidFill>
                            <a:srgbClr val="222222"/>
                          </a:solidFill>
                        </a:rPr>
                        <a:t>-4.6%</a:t>
                      </a:r>
                    </a:p>
                  </a:txBody>
                  <a:tcPr marL="54864" marR="54864" marT="27432" marB="27432" anchor="ctr">
                    <a:solidFill>
                      <a:srgbClr val="FFFFFF"/>
                    </a:solidFill>
                  </a:tcPr>
                </a:tc>
                <a:tc>
                  <a:txBody>
                    <a:bodyPr/>
                    <a:lstStyle/>
                    <a:p>
                      <a:r>
                        <a:rPr sz="1300" b="1">
                          <a:solidFill>
                            <a:srgbClr val="FFFFFF"/>
                          </a:solidFill>
                        </a:rPr>
                        <a:t>on</a:t>
                      </a:r>
                    </a:p>
                  </a:txBody>
                  <a:tcPr marL="54864" marR="54864" marT="27432" marB="27432" anchor="ctr">
                    <a:solidFill>
                      <a:srgbClr val="009B64"/>
                    </a:solidFill>
                  </a:tcPr>
                </a:tc>
                <a:tc>
                  <a:txBody>
                    <a:bodyPr/>
                    <a:lstStyle/>
                    <a:p>
                      <a:r>
                        <a:rPr sz="1300" b="0">
                          <a:solidFill>
                            <a:srgbClr val="222222"/>
                          </a:solidFill>
                        </a:rPr>
                        <a:t>–</a:t>
                      </a:r>
                    </a:p>
                  </a:txBody>
                  <a:tcPr marL="54864" marR="54864" marT="27432" marB="27432" anchor="ctr">
                    <a:solidFill>
                      <a:srgbClr val="FFFFFF"/>
                    </a:solidFill>
                  </a:tcPr>
                </a:tc>
                <a:tc>
                  <a:txBody>
                    <a:bodyPr/>
                    <a:lstStyle/>
                    <a:p>
                      <a:r>
                        <a:rPr sz="1300" b="1">
                          <a:solidFill>
                            <a:srgbClr val="FFFFFF"/>
                          </a:solidFill>
                        </a:rPr>
                        <a:t>on</a:t>
                      </a:r>
                    </a:p>
                  </a:txBody>
                  <a:tcPr marL="54864" marR="54864" marT="27432" marB="27432" anchor="ctr">
                    <a:solidFill>
                      <a:srgbClr val="009B64"/>
                    </a:solidFill>
                  </a:tcPr>
                </a:tc>
              </a:tr>
              <a:tr h="396240">
                <a:tc>
                  <a:txBody>
                    <a:bodyPr/>
                    <a:lstStyle/>
                    <a:p>
                      <a:r>
                        <a:rPr sz="1300" b="0">
                          <a:solidFill>
                            <a:srgbClr val="222222"/>
                          </a:solidFill>
                        </a:rPr>
                        <a:t>IVE</a:t>
                      </a:r>
                    </a:p>
                  </a:txBody>
                  <a:tcPr marL="54864" marR="54864" marT="27432" marB="27432" anchor="ctr">
                    <a:solidFill>
                      <a:srgbClr val="EEF2F8"/>
                    </a:solidFill>
                  </a:tcPr>
                </a:tc>
                <a:tc>
                  <a:txBody>
                    <a:bodyPr/>
                    <a:lstStyle/>
                    <a:p>
                      <a:r>
                        <a:rPr sz="1300" b="0">
                          <a:solidFill>
                            <a:srgbClr val="222222"/>
                          </a:solidFill>
                        </a:rPr>
                        <a:t>2024-08-05</a:t>
                      </a:r>
                    </a:p>
                  </a:txBody>
                  <a:tcPr marL="54864" marR="54864" marT="27432" marB="27432" anchor="ctr">
                    <a:solidFill>
                      <a:srgbClr val="EEF2F8"/>
                    </a:solidFill>
                  </a:tcPr>
                </a:tc>
                <a:tc>
                  <a:txBody>
                    <a:bodyPr/>
                    <a:lstStyle/>
                    <a:p>
                      <a:r>
                        <a:rPr sz="1300" b="0">
                          <a:solidFill>
                            <a:srgbClr val="222222"/>
                          </a:solidFill>
                        </a:rPr>
                        <a:t>-1.0%</a:t>
                      </a:r>
                    </a:p>
                  </a:txBody>
                  <a:tcPr marL="54864" marR="54864" marT="27432" marB="27432" anchor="ctr">
                    <a:solidFill>
                      <a:srgbClr val="EEF2F8"/>
                    </a:solidFill>
                  </a:tcPr>
                </a:tc>
                <a:tc>
                  <a:txBody>
                    <a:bodyPr/>
                    <a:lstStyle/>
                    <a:p>
                      <a:r>
                        <a:rPr sz="1300" b="1">
                          <a:solidFill>
                            <a:srgbClr val="FFFFFF"/>
                          </a:solidFill>
                        </a:rPr>
                        <a:t>on</a:t>
                      </a:r>
                    </a:p>
                  </a:txBody>
                  <a:tcPr marL="54864" marR="54864" marT="27432" marB="27432" anchor="ctr">
                    <a:solidFill>
                      <a:srgbClr val="009B64"/>
                    </a:solidFill>
                  </a:tcPr>
                </a:tc>
                <a:tc>
                  <a:txBody>
                    <a:bodyPr/>
                    <a:lstStyle/>
                    <a:p>
                      <a:r>
                        <a:rPr sz="1300" b="0">
                          <a:solidFill>
                            <a:srgbClr val="222222"/>
                          </a:solidFill>
                        </a:rPr>
                        <a:t>–</a:t>
                      </a:r>
                    </a:p>
                  </a:txBody>
                  <a:tcPr marL="54864" marR="54864" marT="27432" marB="27432" anchor="ctr">
                    <a:solidFill>
                      <a:srgbClr val="EEF2F8"/>
                    </a:solidFill>
                  </a:tcPr>
                </a:tc>
                <a:tc>
                  <a:txBody>
                    <a:bodyPr/>
                    <a:lstStyle/>
                    <a:p>
                      <a:r>
                        <a:rPr sz="1300" b="1">
                          <a:solidFill>
                            <a:srgbClr val="FFFFFF"/>
                          </a:solidFill>
                        </a:rPr>
                        <a:t>off</a:t>
                      </a:r>
                    </a:p>
                  </a:txBody>
                  <a:tcPr marL="54864" marR="54864" marT="27432" marB="27432" anchor="ctr">
                    <a:solidFill>
                      <a:srgbClr val="595959"/>
                    </a:solidFill>
                  </a:tcPr>
                </a:tc>
              </a:tr>
            </a:tbl>
          </a:graphicData>
        </a:graphic>
      </p:graphicFrame>
      <p:graphicFrame>
        <p:nvGraphicFramePr>
          <p:cNvPr id="6" name="Table 5"/>
          <p:cNvGraphicFramePr>
            <a:graphicFrameLocks noGrp="1"/>
          </p:cNvGraphicFramePr>
          <p:nvPr/>
        </p:nvGraphicFramePr>
        <p:xfrm>
          <a:off x="7772400" y="2194560"/>
          <a:ext cx="4069080" cy="2377440"/>
        </p:xfrm>
        <a:graphic>
          <a:graphicData uri="http://schemas.openxmlformats.org/drawingml/2006/table">
            <a:tbl>
              <a:tblPr firstRow="1" bandRow="1">
                <a:tableStyleId>{5C22544A-7EE6-4342-B048-85BDC9FD1C3A}</a:tableStyleId>
              </a:tblPr>
              <a:tblGrid>
                <a:gridCol w="548640"/>
                <a:gridCol w="1371600"/>
                <a:gridCol w="731520"/>
                <a:gridCol w="731520"/>
                <a:gridCol w="685800"/>
              </a:tblGrid>
              <a:tr h="396240">
                <a:tc>
                  <a:txBody>
                    <a:bodyPr/>
                    <a:lstStyle/>
                    <a:p/>
                  </a:txBody>
                  <a:tcPr marL="54864" marR="54864" marT="27432" marB="27432" anchor="ctr">
                    <a:solidFill>
                      <a:srgbClr val="0F2C68"/>
                    </a:solidFill>
                  </a:tcPr>
                </a:tc>
                <a:tc>
                  <a:txBody>
                    <a:bodyPr/>
                    <a:lstStyle/>
                    <a:p>
                      <a:r>
                        <a:rPr sz="1100" b="1">
                          <a:solidFill>
                            <a:srgbClr val="FFFFFF"/>
                          </a:solidFill>
                        </a:rPr>
                        <a:t>Alarm</a:t>
                      </a:r>
                    </a:p>
                  </a:txBody>
                  <a:tcPr marL="54864" marR="54864" marT="27432" marB="27432" anchor="ctr">
                    <a:solidFill>
                      <a:srgbClr val="0F2C68"/>
                    </a:solidFill>
                  </a:tcPr>
                </a:tc>
                <a:tc>
                  <a:txBody>
                    <a:bodyPr/>
                    <a:lstStyle/>
                    <a:p>
                      <a:r>
                        <a:rPr sz="1100" b="1">
                          <a:solidFill>
                            <a:srgbClr val="FFFFFF"/>
                          </a:solidFill>
                        </a:rPr>
                        <a:t>Hits</a:t>
                      </a:r>
                    </a:p>
                  </a:txBody>
                  <a:tcPr marL="54864" marR="54864" marT="27432" marB="27432" anchor="ctr">
                    <a:solidFill>
                      <a:srgbClr val="0F2C68"/>
                    </a:solidFill>
                  </a:tcPr>
                </a:tc>
                <a:tc>
                  <a:txBody>
                    <a:bodyPr/>
                    <a:lstStyle/>
                    <a:p>
                      <a:r>
                        <a:rPr sz="1100" b="1">
                          <a:solidFill>
                            <a:srgbClr val="FFFFFF"/>
                          </a:solidFill>
                        </a:rPr>
                        <a:t>On overall</a:t>
                      </a:r>
                    </a:p>
                  </a:txBody>
                  <a:tcPr marL="54864" marR="54864" marT="27432" marB="27432" anchor="ctr">
                    <a:solidFill>
                      <a:srgbClr val="0F2C68"/>
                    </a:solidFill>
                  </a:tcPr>
                </a:tc>
                <a:tc>
                  <a:txBody>
                    <a:bodyPr/>
                    <a:lstStyle/>
                    <a:p>
                      <a:r>
                        <a:rPr sz="1100" b="1">
                          <a:solidFill>
                            <a:srgbClr val="FFFFFF"/>
                          </a:solidFill>
                        </a:rPr>
                        <a:t>p</a:t>
                      </a:r>
                    </a:p>
                  </a:txBody>
                  <a:tcPr marL="54864" marR="54864" marT="27432" marB="27432" anchor="ctr">
                    <a:solidFill>
                      <a:srgbClr val="0F2C68"/>
                    </a:solidFill>
                  </a:tcPr>
                </a:tc>
              </a:tr>
              <a:tr h="396240">
                <a:tc>
                  <a:txBody>
                    <a:bodyPr/>
                    <a:lstStyle/>
                    <a:p>
                      <a:r>
                        <a:rPr sz="1100" b="0">
                          <a:solidFill>
                            <a:srgbClr val="222222"/>
                          </a:solidFill>
                        </a:rPr>
                        <a:t>BTC</a:t>
                      </a:r>
                    </a:p>
                  </a:txBody>
                  <a:tcPr marL="54864" marR="54864" marT="27432" marB="27432" anchor="ctr">
                    <a:solidFill>
                      <a:srgbClr val="FFFFFF"/>
                    </a:solidFill>
                  </a:tcPr>
                </a:tc>
                <a:tc>
                  <a:txBody>
                    <a:bodyPr/>
                    <a:lstStyle/>
                    <a:p>
                      <a:r>
                        <a:rPr sz="1100" b="0">
                          <a:solidFill>
                            <a:srgbClr val="222222"/>
                          </a:solidFill>
                        </a:rPr>
                        <a:t>VPIN</a:t>
                      </a:r>
                    </a:p>
                  </a:txBody>
                  <a:tcPr marL="54864" marR="54864" marT="27432" marB="27432" anchor="ctr">
                    <a:solidFill>
                      <a:srgbClr val="FFFFFF"/>
                    </a:solidFill>
                  </a:tcPr>
                </a:tc>
                <a:tc>
                  <a:txBody>
                    <a:bodyPr/>
                    <a:lstStyle/>
                    <a:p>
                      <a:r>
                        <a:rPr sz="1100" b="0">
                          <a:solidFill>
                            <a:srgbClr val="222222"/>
                          </a:solidFill>
                        </a:rPr>
                        <a:t>1 of 3</a:t>
                      </a:r>
                    </a:p>
                  </a:txBody>
                  <a:tcPr marL="54864" marR="54864" marT="27432" marB="27432" anchor="ctr">
                    <a:solidFill>
                      <a:srgbClr val="FFFFFF"/>
                    </a:solidFill>
                  </a:tcPr>
                </a:tc>
                <a:tc>
                  <a:txBody>
                    <a:bodyPr/>
                    <a:lstStyle/>
                    <a:p>
                      <a:r>
                        <a:rPr sz="1100" b="0">
                          <a:solidFill>
                            <a:srgbClr val="222222"/>
                          </a:solidFill>
                        </a:rPr>
                        <a:t>10%</a:t>
                      </a:r>
                    </a:p>
                  </a:txBody>
                  <a:tcPr marL="54864" marR="54864" marT="27432" marB="27432" anchor="ctr">
                    <a:solidFill>
                      <a:srgbClr val="FFFFFF"/>
                    </a:solidFill>
                  </a:tcPr>
                </a:tc>
                <a:tc>
                  <a:txBody>
                    <a:bodyPr/>
                    <a:lstStyle/>
                    <a:p>
                      <a:r>
                        <a:rPr sz="1100" b="0">
                          <a:solidFill>
                            <a:srgbClr val="222222"/>
                          </a:solidFill>
                        </a:rPr>
                        <a:t>0.261</a:t>
                      </a:r>
                    </a:p>
                  </a:txBody>
                  <a:tcPr marL="54864" marR="54864" marT="27432" marB="27432" anchor="ctr">
                    <a:solidFill>
                      <a:srgbClr val="FFFFFF"/>
                    </a:solidFill>
                  </a:tcPr>
                </a:tc>
              </a:tr>
              <a:tr h="396240">
                <a:tc>
                  <a:txBody>
                    <a:bodyPr/>
                    <a:lstStyle/>
                    <a:p>
                      <a:r>
                        <a:rPr sz="1100" b="0">
                          <a:solidFill>
                            <a:srgbClr val="222222"/>
                          </a:solidFill>
                        </a:rPr>
                        <a:t>BTC</a:t>
                      </a:r>
                    </a:p>
                  </a:txBody>
                  <a:tcPr marL="54864" marR="54864" marT="27432" marB="27432" anchor="ctr">
                    <a:solidFill>
                      <a:srgbClr val="EEF2F8"/>
                    </a:solidFill>
                  </a:tcPr>
                </a:tc>
                <a:tc>
                  <a:txBody>
                    <a:bodyPr/>
                    <a:lstStyle/>
                    <a:p>
                      <a:r>
                        <a:rPr sz="1100" b="0">
                          <a:solidFill>
                            <a:srgbClr val="222222"/>
                          </a:solidFill>
                        </a:rPr>
                        <a:t>VPIN, true labels</a:t>
                      </a:r>
                    </a:p>
                  </a:txBody>
                  <a:tcPr marL="54864" marR="54864" marT="27432" marB="27432" anchor="ctr">
                    <a:solidFill>
                      <a:srgbClr val="EEF2F8"/>
                    </a:solidFill>
                  </a:tcPr>
                </a:tc>
                <a:tc>
                  <a:txBody>
                    <a:bodyPr/>
                    <a:lstStyle/>
                    <a:p>
                      <a:r>
                        <a:rPr sz="1100" b="0">
                          <a:solidFill>
                            <a:srgbClr val="222222"/>
                          </a:solidFill>
                        </a:rPr>
                        <a:t>1 of 3</a:t>
                      </a:r>
                    </a:p>
                  </a:txBody>
                  <a:tcPr marL="54864" marR="54864" marT="27432" marB="27432" anchor="ctr">
                    <a:solidFill>
                      <a:srgbClr val="EEF2F8"/>
                    </a:solidFill>
                  </a:tcPr>
                </a:tc>
                <a:tc>
                  <a:txBody>
                    <a:bodyPr/>
                    <a:lstStyle/>
                    <a:p>
                      <a:r>
                        <a:rPr sz="1100" b="0">
                          <a:solidFill>
                            <a:srgbClr val="222222"/>
                          </a:solidFill>
                        </a:rPr>
                        <a:t>14%</a:t>
                      </a:r>
                    </a:p>
                  </a:txBody>
                  <a:tcPr marL="54864" marR="54864" marT="27432" marB="27432" anchor="ctr">
                    <a:solidFill>
                      <a:srgbClr val="EEF2F8"/>
                    </a:solidFill>
                  </a:tcPr>
                </a:tc>
                <a:tc>
                  <a:txBody>
                    <a:bodyPr/>
                    <a:lstStyle/>
                    <a:p>
                      <a:r>
                        <a:rPr sz="1100" b="0">
                          <a:solidFill>
                            <a:srgbClr val="222222"/>
                          </a:solidFill>
                        </a:rPr>
                        <a:t>0.355</a:t>
                      </a:r>
                    </a:p>
                  </a:txBody>
                  <a:tcPr marL="54864" marR="54864" marT="27432" marB="27432" anchor="ctr">
                    <a:solidFill>
                      <a:srgbClr val="EEF2F8"/>
                    </a:solidFill>
                  </a:tcPr>
                </a:tc>
              </a:tr>
              <a:tr h="396240">
                <a:tc>
                  <a:txBody>
                    <a:bodyPr/>
                    <a:lstStyle/>
                    <a:p>
                      <a:r>
                        <a:rPr sz="1100" b="0">
                          <a:solidFill>
                            <a:srgbClr val="222222"/>
                          </a:solidFill>
                        </a:rPr>
                        <a:t>BTC</a:t>
                      </a:r>
                    </a:p>
                  </a:txBody>
                  <a:tcPr marL="54864" marR="54864" marT="27432" marB="27432" anchor="ctr">
                    <a:solidFill>
                      <a:srgbClr val="FFFFFF"/>
                    </a:solidFill>
                  </a:tcPr>
                </a:tc>
                <a:tc>
                  <a:txBody>
                    <a:bodyPr/>
                    <a:lstStyle/>
                    <a:p>
                      <a:r>
                        <a:rPr sz="1100" b="0">
                          <a:solidFill>
                            <a:srgbClr val="222222"/>
                          </a:solidFill>
                        </a:rPr>
                        <a:t>Volatility</a:t>
                      </a:r>
                    </a:p>
                  </a:txBody>
                  <a:tcPr marL="54864" marR="54864" marT="27432" marB="27432" anchor="ctr">
                    <a:solidFill>
                      <a:srgbClr val="FFFFFF"/>
                    </a:solidFill>
                  </a:tcPr>
                </a:tc>
                <a:tc>
                  <a:txBody>
                    <a:bodyPr/>
                    <a:lstStyle/>
                    <a:p>
                      <a:r>
                        <a:rPr sz="1100" b="0">
                          <a:solidFill>
                            <a:srgbClr val="222222"/>
                          </a:solidFill>
                        </a:rPr>
                        <a:t>0 of 3</a:t>
                      </a:r>
                    </a:p>
                  </a:txBody>
                  <a:tcPr marL="54864" marR="54864" marT="27432" marB="27432" anchor="ctr">
                    <a:solidFill>
                      <a:srgbClr val="FFFFFF"/>
                    </a:solidFill>
                  </a:tcPr>
                </a:tc>
                <a:tc>
                  <a:txBody>
                    <a:bodyPr/>
                    <a:lstStyle/>
                    <a:p>
                      <a:r>
                        <a:rPr sz="1100" b="0">
                          <a:solidFill>
                            <a:srgbClr val="222222"/>
                          </a:solidFill>
                        </a:rPr>
                        <a:t>3%</a:t>
                      </a:r>
                    </a:p>
                  </a:txBody>
                  <a:tcPr marL="54864" marR="54864" marT="27432" marB="27432" anchor="ctr">
                    <a:solidFill>
                      <a:srgbClr val="FFFFFF"/>
                    </a:solidFill>
                  </a:tcPr>
                </a:tc>
                <a:tc>
                  <a:txBody>
                    <a:bodyPr/>
                    <a:lstStyle/>
                    <a:p>
                      <a:r>
                        <a:rPr sz="1100" b="0">
                          <a:solidFill>
                            <a:srgbClr val="222222"/>
                          </a:solidFill>
                        </a:rPr>
                        <a:t>1.000</a:t>
                      </a:r>
                    </a:p>
                  </a:txBody>
                  <a:tcPr marL="54864" marR="54864" marT="27432" marB="27432" anchor="ctr">
                    <a:solidFill>
                      <a:srgbClr val="FFFFFF"/>
                    </a:solidFill>
                  </a:tcPr>
                </a:tc>
              </a:tr>
              <a:tr h="396240">
                <a:tc>
                  <a:txBody>
                    <a:bodyPr/>
                    <a:lstStyle/>
                    <a:p>
                      <a:r>
                        <a:rPr sz="1100" b="0">
                          <a:solidFill>
                            <a:srgbClr val="222222"/>
                          </a:solidFill>
                        </a:rPr>
                        <a:t>IVE</a:t>
                      </a:r>
                    </a:p>
                  </a:txBody>
                  <a:tcPr marL="54864" marR="54864" marT="27432" marB="27432" anchor="ctr">
                    <a:solidFill>
                      <a:srgbClr val="EEF2F8"/>
                    </a:solidFill>
                  </a:tcPr>
                </a:tc>
                <a:tc>
                  <a:txBody>
                    <a:bodyPr/>
                    <a:lstStyle/>
                    <a:p>
                      <a:r>
                        <a:rPr sz="1100" b="0">
                          <a:solidFill>
                            <a:srgbClr val="222222"/>
                          </a:solidFill>
                        </a:rPr>
                        <a:t>VPIN</a:t>
                      </a:r>
                    </a:p>
                  </a:txBody>
                  <a:tcPr marL="54864" marR="54864" marT="27432" marB="27432" anchor="ctr">
                    <a:solidFill>
                      <a:srgbClr val="EEF2F8"/>
                    </a:solidFill>
                  </a:tcPr>
                </a:tc>
                <a:tc>
                  <a:txBody>
                    <a:bodyPr/>
                    <a:lstStyle/>
                    <a:p>
                      <a:r>
                        <a:rPr sz="1100" b="0">
                          <a:solidFill>
                            <a:srgbClr val="222222"/>
                          </a:solidFill>
                        </a:rPr>
                        <a:t>5 of 5</a:t>
                      </a:r>
                    </a:p>
                  </a:txBody>
                  <a:tcPr marL="54864" marR="54864" marT="27432" marB="27432" anchor="ctr">
                    <a:solidFill>
                      <a:srgbClr val="EEF2F8"/>
                    </a:solidFill>
                  </a:tcPr>
                </a:tc>
                <a:tc>
                  <a:txBody>
                    <a:bodyPr/>
                    <a:lstStyle/>
                    <a:p>
                      <a:r>
                        <a:rPr sz="1100" b="0">
                          <a:solidFill>
                            <a:srgbClr val="222222"/>
                          </a:solidFill>
                        </a:rPr>
                        <a:t>15%</a:t>
                      </a:r>
                    </a:p>
                  </a:txBody>
                  <a:tcPr marL="54864" marR="54864" marT="27432" marB="27432" anchor="ctr">
                    <a:solidFill>
                      <a:srgbClr val="EEF2F8"/>
                    </a:solidFill>
                  </a:tcPr>
                </a:tc>
                <a:tc>
                  <a:txBody>
                    <a:bodyPr/>
                    <a:lstStyle/>
                    <a:p>
                      <a:r>
                        <a:rPr sz="1100" b="0">
                          <a:solidFill>
                            <a:srgbClr val="222222"/>
                          </a:solidFill>
                        </a:rPr>
                        <a:t>&lt; 0.001</a:t>
                      </a:r>
                    </a:p>
                  </a:txBody>
                  <a:tcPr marL="54864" marR="54864" marT="27432" marB="27432" anchor="ctr">
                    <a:solidFill>
                      <a:srgbClr val="EEF2F8"/>
                    </a:solidFill>
                  </a:tcPr>
                </a:tc>
              </a:tr>
              <a:tr h="396240">
                <a:tc>
                  <a:txBody>
                    <a:bodyPr/>
                    <a:lstStyle/>
                    <a:p>
                      <a:r>
                        <a:rPr sz="1100" b="0">
                          <a:solidFill>
                            <a:srgbClr val="222222"/>
                          </a:solidFill>
                        </a:rPr>
                        <a:t>IVE</a:t>
                      </a:r>
                    </a:p>
                  </a:txBody>
                  <a:tcPr marL="54864" marR="54864" marT="27432" marB="27432" anchor="ctr">
                    <a:solidFill>
                      <a:srgbClr val="FFFFFF"/>
                    </a:solidFill>
                  </a:tcPr>
                </a:tc>
                <a:tc>
                  <a:txBody>
                    <a:bodyPr/>
                    <a:lstStyle/>
                    <a:p>
                      <a:r>
                        <a:rPr sz="1100" b="0">
                          <a:solidFill>
                            <a:srgbClr val="222222"/>
                          </a:solidFill>
                        </a:rPr>
                        <a:t>Volatility</a:t>
                      </a:r>
                    </a:p>
                  </a:txBody>
                  <a:tcPr marL="54864" marR="54864" marT="27432" marB="27432" anchor="ctr">
                    <a:solidFill>
                      <a:srgbClr val="FFFFFF"/>
                    </a:solidFill>
                  </a:tcPr>
                </a:tc>
                <a:tc>
                  <a:txBody>
                    <a:bodyPr/>
                    <a:lstStyle/>
                    <a:p>
                      <a:r>
                        <a:rPr sz="1100" b="0">
                          <a:solidFill>
                            <a:srgbClr val="222222"/>
                          </a:solidFill>
                        </a:rPr>
                        <a:t>3 of 5</a:t>
                      </a:r>
                    </a:p>
                  </a:txBody>
                  <a:tcPr marL="54864" marR="54864" marT="27432" marB="27432" anchor="ctr">
                    <a:solidFill>
                      <a:srgbClr val="FFFFFF"/>
                    </a:solidFill>
                  </a:tcPr>
                </a:tc>
                <a:tc>
                  <a:txBody>
                    <a:bodyPr/>
                    <a:lstStyle/>
                    <a:p>
                      <a:r>
                        <a:rPr sz="1100" b="0">
                          <a:solidFill>
                            <a:srgbClr val="222222"/>
                          </a:solidFill>
                        </a:rPr>
                        <a:t>9%</a:t>
                      </a:r>
                    </a:p>
                  </a:txBody>
                  <a:tcPr marL="54864" marR="54864" marT="27432" marB="27432" anchor="ctr">
                    <a:solidFill>
                      <a:srgbClr val="FFFFFF"/>
                    </a:solidFill>
                  </a:tcPr>
                </a:tc>
                <a:tc>
                  <a:txBody>
                    <a:bodyPr/>
                    <a:lstStyle/>
                    <a:p>
                      <a:r>
                        <a:rPr sz="1100" b="0">
                          <a:solidFill>
                            <a:srgbClr val="222222"/>
                          </a:solidFill>
                        </a:rPr>
                        <a:t>0.006</a:t>
                      </a:r>
                    </a:p>
                  </a:txBody>
                  <a:tcPr marL="54864" marR="54864" marT="27432" marB="27432" anchor="ctr">
                    <a:solidFill>
                      <a:srgbClr val="FFFFFF"/>
                    </a:solidFill>
                  </a:tcPr>
                </a:tc>
              </a:tr>
            </a:tbl>
          </a:graphicData>
        </a:graphic>
      </p:graphicFrame>
      <p:sp>
        <p:nvSpPr>
          <p:cNvPr id="7" name="TextBox 6"/>
          <p:cNvSpPr txBox="1"/>
          <p:nvPr/>
        </p:nvSpPr>
        <p:spPr>
          <a:xfrm>
            <a:off x="7772400" y="4754880"/>
            <a:ext cx="4206240" cy="1645920"/>
          </a:xfrm>
          <a:prstGeom prst="rect">
            <a:avLst/>
          </a:prstGeom>
          <a:noFill/>
        </p:spPr>
        <p:txBody>
          <a:bodyPr wrap="square" anchor="t" lIns="45720" rIns="45720">
            <a:spAutoFit/>
          </a:bodyPr>
          <a:lstStyle/>
          <a:p>
            <a:pPr algn="l">
              <a:spcAft>
                <a:spcPts val="600"/>
              </a:spcAft>
            </a:pPr>
            <a:r>
              <a:rPr sz="1100" b="0">
                <a:solidFill>
                  <a:srgbClr val="595959"/>
                </a:solidFill>
              </a:rPr>
              <a:t>• p: chance of that many hits if the alarm were on at random with its overall rate (falls treated as independent).</a:t>
            </a:r>
          </a:p>
          <a:p>
            <a:pPr algn="l">
              <a:spcAft>
                <a:spcPts val="600"/>
              </a:spcAft>
            </a:pPr>
            <a:r>
              <a:rPr sz="1300" b="1">
                <a:solidFill>
                  <a:srgbClr val="0F2C68"/>
                </a:solidFill>
              </a:rPr>
              <a:t>• IVE: VPIN on at every fall. BTC: nothing reliable. Few events.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Critique and next steps</a:t>
            </a:r>
          </a:p>
        </p:txBody>
      </p:sp>
      <p:sp>
        <p:nvSpPr>
          <p:cNvPr id="4" name="Text Placeholder 3"/>
          <p:cNvSpPr>
            <a:spLocks noGrp="1"/>
          </p:cNvSpPr>
          <p:nvPr>
            <p:ph type="body" idx="2"/>
          </p:nvPr>
        </p:nvSpPr>
        <p:spPr/>
        <p:txBody>
          <a:bodyPr/>
          <a:lstStyle/>
          <a:p>
            <a:r>
              <a:t>Research Seminar</a:t>
            </a:r>
          </a:p>
        </p:txBody>
      </p:sp>
      <p:sp>
        <p:nvSpPr>
          <p:cNvPr id="5" name="TextBox 4"/>
          <p:cNvSpPr txBox="1"/>
          <p:nvPr/>
        </p:nvSpPr>
        <p:spPr>
          <a:xfrm>
            <a:off x="585216" y="2194560"/>
            <a:ext cx="5486400" cy="4206240"/>
          </a:xfrm>
          <a:prstGeom prst="rect">
            <a:avLst/>
          </a:prstGeom>
          <a:noFill/>
        </p:spPr>
        <p:txBody>
          <a:bodyPr wrap="square" anchor="t" lIns="45720" rIns="45720">
            <a:spAutoFit/>
          </a:bodyPr>
          <a:lstStyle/>
          <a:p>
            <a:pPr algn="l">
              <a:spcAft>
                <a:spcPts val="700"/>
              </a:spcAft>
            </a:pPr>
            <a:r>
              <a:rPr sz="1700" b="1">
                <a:solidFill>
                  <a:srgbClr val="0F2C68"/>
                </a:solidFill>
              </a:rPr>
              <a:t>Critique</a:t>
            </a:r>
          </a:p>
          <a:p>
            <a:pPr algn="l">
              <a:spcAft>
                <a:spcPts val="700"/>
              </a:spcAft>
            </a:pPr>
            <a:r>
              <a:rPr sz="1400" b="0">
                <a:solidFill>
                  <a:srgbClr val="222222"/>
                </a:solidFill>
              </a:rPr>
              <a:t>• Bulk classification </a:t>
            </a:r>
            <a:r>
              <a:rPr sz="1400" b="1">
                <a:solidFill>
                  <a:srgbClr val="222222"/>
                </a:solidFill>
              </a:rPr>
              <a:t>builds volatility into VPIN</a:t>
            </a:r>
            <a:r>
              <a:rPr sz="1400" b="0">
                <a:solidFill>
                  <a:srgbClr val="222222"/>
                </a:solidFill>
              </a:rPr>
              <a:t>; with true labels the predictive link disappears.</a:t>
            </a:r>
          </a:p>
          <a:p>
            <a:pPr algn="l">
              <a:spcAft>
                <a:spcPts val="700"/>
              </a:spcAft>
            </a:pPr>
            <a:r>
              <a:rPr sz="1400" b="0">
                <a:solidFill>
                  <a:srgbClr val="222222"/>
                </a:solidFill>
              </a:rPr>
              <a:t>• Whole-sample CDF and grid-searched parameters: </a:t>
            </a:r>
            <a:r>
              <a:rPr sz="1400" b="1">
                <a:solidFill>
                  <a:srgbClr val="222222"/>
                </a:solidFill>
              </a:rPr>
              <a:t>look-ahead and selection</a:t>
            </a:r>
            <a:r>
              <a:rPr sz="1400" b="0">
                <a:solidFill>
                  <a:srgbClr val="222222"/>
                </a:solidFill>
              </a:rPr>
              <a:t> with no out-of-sample test.</a:t>
            </a:r>
          </a:p>
          <a:p>
            <a:pPr algn="l">
              <a:spcAft>
                <a:spcPts val="700"/>
              </a:spcAft>
            </a:pPr>
            <a:r>
              <a:rPr sz="1400" b="0">
                <a:solidFill>
                  <a:srgbClr val="222222"/>
                </a:solidFill>
              </a:rPr>
              <a:t>• Main evidence is </a:t>
            </a:r>
            <a:r>
              <a:rPr sz="1400" b="1">
                <a:solidFill>
                  <a:srgbClr val="222222"/>
                </a:solidFill>
              </a:rPr>
              <a:t>one event</a:t>
            </a:r>
            <a:r>
              <a:rPr sz="1400" b="0">
                <a:solidFill>
                  <a:srgbClr val="222222"/>
                </a:solidFill>
              </a:rPr>
              <a:t> (6 May 2010); on IVE the warning depends on bar size and classifier.</a:t>
            </a:r>
          </a:p>
          <a:p>
            <a:pPr algn="l">
              <a:spcAft>
                <a:spcPts val="700"/>
              </a:spcAft>
            </a:pPr>
            <a:r>
              <a:rPr sz="1400" b="0">
                <a:solidFill>
                  <a:srgbClr val="222222"/>
                </a:solidFill>
              </a:rPr>
              <a:t>• No baseline: the paper never compares VPIN with </a:t>
            </a:r>
            <a:r>
              <a:rPr sz="1400" b="1">
                <a:solidFill>
                  <a:srgbClr val="222222"/>
                </a:solidFill>
              </a:rPr>
              <a:t>plain volatility</a:t>
            </a:r>
            <a:r>
              <a:rPr sz="1400" b="0">
                <a:solidFill>
                  <a:srgbClr val="222222"/>
                </a:solidFill>
              </a:rPr>
              <a:t>, which wins in our tests.</a:t>
            </a:r>
          </a:p>
          <a:p>
            <a:pPr algn="l">
              <a:spcAft>
                <a:spcPts val="700"/>
              </a:spcAft>
            </a:pPr>
            <a:r>
              <a:rPr sz="1400" b="0">
                <a:solidFill>
                  <a:srgbClr val="222222"/>
                </a:solidFill>
              </a:rPr>
              <a:t>• Its </a:t>
            </a:r>
            <a:r>
              <a:rPr sz="1400" b="1">
                <a:solidFill>
                  <a:srgbClr val="222222"/>
                </a:solidFill>
              </a:rPr>
              <a:t>±</a:t>
            </a:r>
            <a:r>
              <a:rPr sz="1400" b="0">
                <a:solidFill>
                  <a:srgbClr val="222222"/>
                </a:solidFill>
              </a:rPr>
              <a:t> treats overlapping buckets as independent: far too narrow.</a:t>
            </a:r>
          </a:p>
          <a:p>
            <a:pPr algn="l">
              <a:spcAft>
                <a:spcPts val="700"/>
              </a:spcAft>
            </a:pPr>
            <a:r>
              <a:rPr sz="1400" b="0">
                <a:solidFill>
                  <a:srgbClr val="222222"/>
                </a:solidFill>
              </a:rPr>
              <a:t>• The authors hold a </a:t>
            </a:r>
            <a:r>
              <a:rPr sz="1400" b="1">
                <a:solidFill>
                  <a:srgbClr val="222222"/>
                </a:solidFill>
              </a:rPr>
              <a:t>patent</a:t>
            </a:r>
            <a:r>
              <a:rPr sz="1400" b="0">
                <a:solidFill>
                  <a:srgbClr val="222222"/>
                </a:solidFill>
              </a:rPr>
              <a:t> on VPIN and disclose a financial interest.</a:t>
            </a:r>
          </a:p>
        </p:txBody>
      </p:sp>
      <p:sp>
        <p:nvSpPr>
          <p:cNvPr id="6" name="TextBox 5"/>
          <p:cNvSpPr txBox="1"/>
          <p:nvPr/>
        </p:nvSpPr>
        <p:spPr>
          <a:xfrm>
            <a:off x="6309360" y="2194560"/>
            <a:ext cx="5669280" cy="4206240"/>
          </a:xfrm>
          <a:prstGeom prst="rect">
            <a:avLst/>
          </a:prstGeom>
          <a:noFill/>
        </p:spPr>
        <p:txBody>
          <a:bodyPr wrap="square" anchor="t" lIns="45720" rIns="45720">
            <a:spAutoFit/>
          </a:bodyPr>
          <a:lstStyle/>
          <a:p>
            <a:pPr algn="l">
              <a:spcAft>
                <a:spcPts val="700"/>
              </a:spcAft>
            </a:pPr>
            <a:r>
              <a:rPr sz="1700" b="1">
                <a:solidFill>
                  <a:srgbClr val="0F2C68"/>
                </a:solidFill>
              </a:rPr>
              <a:t>With three more months</a:t>
            </a:r>
          </a:p>
          <a:p>
            <a:pPr algn="l">
              <a:spcAft>
                <a:spcPts val="700"/>
              </a:spcAft>
            </a:pPr>
            <a:r>
              <a:rPr sz="1400" b="0">
                <a:solidFill>
                  <a:srgbClr val="222222"/>
                </a:solidFill>
              </a:rPr>
              <a:t>• E-mini futures with </a:t>
            </a:r>
            <a:r>
              <a:rPr sz="1400" b="1">
                <a:solidFill>
                  <a:srgbClr val="222222"/>
                </a:solidFill>
              </a:rPr>
              <a:t>exchange aggressor flags</a:t>
            </a:r>
            <a:r>
              <a:rPr sz="1400" b="0">
                <a:solidFill>
                  <a:srgbClr val="222222"/>
                </a:solidFill>
              </a:rPr>
              <a:t> (e.g. CME MDP 3.0): the paper's market, with ground truth.</a:t>
            </a:r>
          </a:p>
          <a:p>
            <a:pPr algn="l">
              <a:spcAft>
                <a:spcPts val="700"/>
              </a:spcAft>
            </a:pPr>
            <a:r>
              <a:rPr sz="1400" b="0">
                <a:solidFill>
                  <a:srgbClr val="222222"/>
                </a:solidFill>
              </a:rPr>
              <a:t>• VPIN as a </a:t>
            </a:r>
            <a:r>
              <a:rPr sz="1400" b="1">
                <a:solidFill>
                  <a:srgbClr val="222222"/>
                </a:solidFill>
              </a:rPr>
              <a:t>filter for a market-making strategy</a:t>
            </a:r>
            <a:r>
              <a:rPr sz="1400" b="0">
                <a:solidFill>
                  <a:srgbClr val="222222"/>
                </a:solidFill>
              </a:rPr>
              <a:t>: does it reduce adverse-selection losses after costs?</a:t>
            </a:r>
          </a:p>
          <a:p>
            <a:pPr algn="l">
              <a:spcAft>
                <a:spcPts val="700"/>
              </a:spcAft>
            </a:pPr>
            <a:r>
              <a:rPr sz="1400" b="0">
                <a:solidFill>
                  <a:srgbClr val="222222"/>
                </a:solidFill>
              </a:rPr>
              <a:t>• Correct the grid search for </a:t>
            </a:r>
            <a:r>
              <a:rPr sz="1400" b="1">
                <a:solidFill>
                  <a:srgbClr val="222222"/>
                </a:solidFill>
              </a:rPr>
              <a:t>multiple testing</a:t>
            </a:r>
            <a:r>
              <a:rPr sz="1400" b="0">
                <a:solidFill>
                  <a:srgbClr val="222222"/>
                </a:solidFill>
              </a:rPr>
              <a:t> (White's reality check, deflated statistics).</a:t>
            </a:r>
          </a:p>
          <a:p>
            <a:pPr algn="l">
              <a:spcAft>
                <a:spcPts val="700"/>
              </a:spcAft>
            </a:pPr>
            <a:r>
              <a:rPr sz="1400" b="0">
                <a:solidFill>
                  <a:srgbClr val="222222"/>
                </a:solidFill>
              </a:rPr>
              <a:t>• Combine with </a:t>
            </a:r>
            <a:r>
              <a:rPr sz="1400" b="1">
                <a:solidFill>
                  <a:srgbClr val="222222"/>
                </a:solidFill>
              </a:rPr>
              <a:t>HAR volatility forecasts</a:t>
            </a:r>
            <a:r>
              <a:rPr sz="1400" b="0">
                <a:solidFill>
                  <a:srgbClr val="222222"/>
                </a:solidFill>
              </a:rPr>
              <a:t> and test VPIN's incremental value out of sample.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repository and how to run it</a:t>
            </a:r>
          </a:p>
        </p:txBody>
      </p:sp>
      <p:sp>
        <p:nvSpPr>
          <p:cNvPr id="4" name="Text Placeholder 3"/>
          <p:cNvSpPr>
            <a:spLocks noGrp="1"/>
          </p:cNvSpPr>
          <p:nvPr>
            <p:ph type="body" idx="2"/>
          </p:nvPr>
        </p:nvSpPr>
        <p:spPr/>
        <p:txBody>
          <a:bodyPr/>
          <a:lstStyle/>
          <a:p>
            <a:r>
              <a:t>Research Seminar</a:t>
            </a:r>
          </a:p>
        </p:txBody>
      </p:sp>
      <p:sp>
        <p:nvSpPr>
          <p:cNvPr id="5" name="TextBox 4"/>
          <p:cNvSpPr txBox="1"/>
          <p:nvPr/>
        </p:nvSpPr>
        <p:spPr>
          <a:xfrm>
            <a:off x="585216" y="2194560"/>
            <a:ext cx="6583680" cy="4206240"/>
          </a:xfrm>
          <a:prstGeom prst="rect">
            <a:avLst/>
          </a:prstGeom>
          <a:noFill/>
        </p:spPr>
        <p:txBody>
          <a:bodyPr wrap="square" anchor="t" lIns="45720" rIns="45720">
            <a:spAutoFit/>
          </a:bodyPr>
          <a:lstStyle/>
          <a:p>
            <a:pPr algn="l">
              <a:spcAft>
                <a:spcPts val="100"/>
              </a:spcAft>
            </a:pPr>
            <a:r>
              <a:rPr sz="1200" b="0">
                <a:solidFill>
                  <a:srgbClr val="222222"/>
                </a:solidFill>
                <a:latin typeface="Courier New"/>
              </a:rPr>
              <a:t>src/vpin/</a:t>
            </a:r>
          </a:p>
          <a:p>
            <a:pPr algn="l">
              <a:spcAft>
                <a:spcPts val="100"/>
              </a:spcAft>
            </a:pPr>
            <a:r>
              <a:rPr sz="1200" b="0">
                <a:solidFill>
                  <a:srgbClr val="222222"/>
                </a:solidFill>
                <a:latin typeface="Courier New"/>
              </a:rPr>
              <a:t>  data.py        IVE ticks, BTC klines and trades; cancelled trades</a:t>
            </a:r>
          </a:p>
          <a:p>
            <a:pPr algn="l">
              <a:spcAft>
                <a:spcPts val="100"/>
              </a:spcAft>
            </a:pPr>
            <a:r>
              <a:rPr sz="1200" b="0">
                <a:solidFill>
                  <a:srgbClr val="222222"/>
                </a:solidFill>
                <a:latin typeface="Courier New"/>
              </a:rPr>
              <a:t>  bars.py        time bars, within-day price changes</a:t>
            </a:r>
          </a:p>
          <a:p>
            <a:pPr algn="l">
              <a:spcAft>
                <a:spcPts val="100"/>
              </a:spcAft>
            </a:pPr>
            <a:r>
              <a:rPr sz="1200" b="0">
                <a:solidFill>
                  <a:srgbClr val="222222"/>
                </a:solidFill>
                <a:latin typeface="Courier New"/>
              </a:rPr>
              <a:t>  classify.py    BVC, tick rule, Lee-Ready</a:t>
            </a:r>
          </a:p>
          <a:p>
            <a:pPr algn="l">
              <a:spcAft>
                <a:spcPts val="100"/>
              </a:spcAft>
            </a:pPr>
            <a:r>
              <a:rPr sz="1200" b="0">
                <a:solidFill>
                  <a:srgbClr val="222222"/>
                </a:solidFill>
                <a:latin typeface="Courier New"/>
              </a:rPr>
              <a:t>  buckets.py     equal-volume buckets</a:t>
            </a:r>
          </a:p>
          <a:p>
            <a:pPr algn="l">
              <a:spcAft>
                <a:spcPts val="100"/>
              </a:spcAft>
            </a:pPr>
            <a:r>
              <a:rPr sz="1200" b="0">
                <a:solidFill>
                  <a:srgbClr val="222222"/>
                </a:solidFill>
                <a:latin typeface="Courier New"/>
              </a:rPr>
              <a:t>  metric.py      VPIN, full-sample and real-time CDF</a:t>
            </a:r>
          </a:p>
          <a:p>
            <a:pPr algn="l">
              <a:spcAft>
                <a:spcPts val="100"/>
              </a:spcAft>
            </a:pPr>
            <a:r>
              <a:rPr sz="1200" b="0">
                <a:solidFill>
                  <a:srgbClr val="222222"/>
                </a:solidFill>
                <a:latin typeface="Courier New"/>
              </a:rPr>
              <a:t>  analysis.py    Tables 1–5, Figures 10–14</a:t>
            </a:r>
          </a:p>
          <a:p>
            <a:pPr algn="l">
              <a:spcAft>
                <a:spcPts val="100"/>
              </a:spcAft>
            </a:pPr>
            <a:r>
              <a:rPr sz="1200" b="0">
                <a:solidFill>
                  <a:srgbClr val="222222"/>
                </a:solidFill>
                <a:latin typeface="Courier New"/>
              </a:rPr>
              <a:t>  realtime.py    no-look-ahead pipeline</a:t>
            </a:r>
          </a:p>
          <a:p>
            <a:pPr algn="l">
              <a:spcAft>
                <a:spcPts val="100"/>
              </a:spcAft>
            </a:pPr>
            <a:r>
              <a:rPr sz="1200" b="0">
                <a:solidFill>
                  <a:srgbClr val="222222"/>
                </a:solidFill>
                <a:latin typeface="Courier New"/>
              </a:rPr>
              <a:t>  paper_numbers.py  the paper's numbers with pages</a:t>
            </a:r>
          </a:p>
          <a:p>
            <a:pPr algn="l">
              <a:spcAft>
                <a:spcPts val="100"/>
              </a:spcAft>
            </a:pPr>
            <a:r>
              <a:rPr sz="1200" b="0">
                <a:solidFill>
                  <a:srgbClr val="222222"/>
                </a:solidFill>
                <a:latin typeface="Courier New"/>
              </a:rPr>
              <a:t>scripts/  download, reproduce, extensions, report, slides</a:t>
            </a:r>
          </a:p>
          <a:p>
            <a:pPr algn="l">
              <a:spcAft>
                <a:spcPts val="100"/>
              </a:spcAft>
            </a:pPr>
            <a:r>
              <a:rPr sz="1200" b="0">
                <a:solidFill>
                  <a:srgbClr val="222222"/>
                </a:solidFill>
                <a:latin typeface="Courier New"/>
              </a:rPr>
              <a:t>tests/    unit tests (incl. Table 1 formula check)</a:t>
            </a:r>
          </a:p>
          <a:p>
            <a:pPr algn="l">
              <a:spcAft>
                <a:spcPts val="100"/>
              </a:spcAft>
            </a:pPr>
            <a:r>
              <a:rPr sz="1200" b="0">
                <a:solidFill>
                  <a:srgbClr val="222222"/>
                </a:solidFill>
                <a:latin typeface="Courier New"/>
              </a:rPr>
              <a:t>DEVIATIONS.md  every deviation and silent decision</a:t>
            </a:r>
          </a:p>
        </p:txBody>
      </p:sp>
      <p:sp>
        <p:nvSpPr>
          <p:cNvPr id="6" name="TextBox 5"/>
          <p:cNvSpPr txBox="1"/>
          <p:nvPr/>
        </p:nvSpPr>
        <p:spPr>
          <a:xfrm>
            <a:off x="7406640" y="2194560"/>
            <a:ext cx="4572000" cy="4206240"/>
          </a:xfrm>
          <a:prstGeom prst="rect">
            <a:avLst/>
          </a:prstGeom>
          <a:noFill/>
        </p:spPr>
        <p:txBody>
          <a:bodyPr wrap="square" anchor="t" lIns="45720" rIns="45720">
            <a:spAutoFit/>
          </a:bodyPr>
          <a:lstStyle/>
          <a:p>
            <a:pPr algn="l">
              <a:spcAft>
                <a:spcPts val="600"/>
              </a:spcAft>
            </a:pPr>
            <a:r>
              <a:rPr sz="1600" b="1">
                <a:solidFill>
                  <a:srgbClr val="0F2C68"/>
                </a:solidFill>
              </a:rPr>
              <a:t>Run</a:t>
            </a:r>
          </a:p>
          <a:p>
            <a:pPr algn="l">
              <a:spcAft>
                <a:spcPts val="600"/>
              </a:spcAft>
            </a:pPr>
            <a:r>
              <a:rPr sz="1200" b="0">
                <a:solidFill>
                  <a:srgbClr val="222222"/>
                </a:solidFill>
              </a:rPr>
              <a:t>pip install -r requirements.txt</a:t>
            </a:r>
          </a:p>
          <a:p>
            <a:pPr algn="l">
              <a:spcAft>
                <a:spcPts val="600"/>
              </a:spcAft>
            </a:pPr>
            <a:r>
              <a:rPr sz="1200" b="0">
                <a:solidFill>
                  <a:srgbClr val="222222"/>
                </a:solidFill>
              </a:rPr>
              <a:t>pytest -q</a:t>
            </a:r>
          </a:p>
          <a:p>
            <a:pPr algn="l">
              <a:spcAft>
                <a:spcPts val="600"/>
              </a:spcAft>
            </a:pPr>
            <a:r>
              <a:rPr sz="1200" b="0">
                <a:solidFill>
                  <a:srgbClr val="222222"/>
                </a:solidFill>
              </a:rPr>
              <a:t>python scripts/download_kibot.py</a:t>
            </a:r>
          </a:p>
          <a:p>
            <a:pPr algn="l">
              <a:spcAft>
                <a:spcPts val="600"/>
              </a:spcAft>
            </a:pPr>
            <a:r>
              <a:rPr sz="1200" b="0">
                <a:solidFill>
                  <a:srgbClr val="222222"/>
                </a:solidFill>
              </a:rPr>
              <a:t>python scripts/download_binance.py</a:t>
            </a:r>
          </a:p>
          <a:p>
            <a:pPr algn="l">
              <a:spcAft>
                <a:spcPts val="600"/>
              </a:spcAft>
            </a:pPr>
            <a:r>
              <a:rPr sz="1200" b="0">
                <a:solidFill>
                  <a:srgbClr val="222222"/>
                </a:solidFill>
              </a:rPr>
              <a:t>python scripts/reproduce.py</a:t>
            </a:r>
          </a:p>
          <a:p>
            <a:pPr algn="l">
              <a:spcAft>
                <a:spcPts val="600"/>
              </a:spcAft>
            </a:pPr>
            <a:r>
              <a:rPr sz="1200" b="0">
                <a:solidFill>
                  <a:srgbClr val="222222"/>
                </a:solidFill>
              </a:rPr>
              <a:t>python scripts/extensions.py</a:t>
            </a:r>
          </a:p>
          <a:p>
            <a:pPr algn="l">
              <a:spcAft>
                <a:spcPts val="1200"/>
              </a:spcAft>
            </a:pPr>
            <a:r>
              <a:rPr sz="1200" b="0">
                <a:solidFill>
                  <a:srgbClr val="222222"/>
                </a:solidFill>
              </a:rPr>
              <a:t>python scripts/make_report.py</a:t>
            </a:r>
          </a:p>
          <a:p>
            <a:pPr algn="l">
              <a:spcAft>
                <a:spcPts val="600"/>
              </a:spcAft>
            </a:pPr>
            <a:r>
              <a:rPr sz="1200" b="0">
                <a:solidFill>
                  <a:srgbClr val="595959"/>
                </a:solidFill>
              </a:rPr>
              <a:t>Free data: 942,321 IVE trades in the paper's period; BTCUSDT 2020–2026.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4: the paper's predictive claims on every two-year window</a:t>
            </a:r>
          </a:p>
        </p:txBody>
      </p:sp>
      <p:sp>
        <p:nvSpPr>
          <p:cNvPr id="4" name="Text Placeholder 3"/>
          <p:cNvSpPr>
            <a:spLocks noGrp="1"/>
          </p:cNvSpPr>
          <p:nvPr>
            <p:ph type="body" idx="2"/>
          </p:nvPr>
        </p:nvSpPr>
        <p:spPr/>
        <p:txBody>
          <a:bodyPr/>
          <a:lstStyle/>
          <a:p>
            <a:r>
              <a:t>Research Seminar</a:t>
            </a:r>
          </a:p>
        </p:txBody>
      </p:sp>
      <p:pic>
        <p:nvPicPr>
          <p:cNvPr id="5" name="Picture 4" descr="windows.png"/>
          <p:cNvPicPr>
            <a:picLocks noChangeAspect="1"/>
          </p:cNvPicPr>
          <p:nvPr/>
        </p:nvPicPr>
        <p:blipFill>
          <a:blip r:embed="rId3"/>
          <a:stretch>
            <a:fillRect/>
          </a:stretch>
        </p:blipFill>
        <p:spPr>
          <a:xfrm>
            <a:off x="365760" y="2266160"/>
            <a:ext cx="7680960" cy="2462839"/>
          </a:xfrm>
          <a:prstGeom prst="rect">
            <a:avLst/>
          </a:prstGeom>
        </p:spPr>
      </p:pic>
      <p:sp>
        <p:nvSpPr>
          <p:cNvPr id="6" name="TextBox 5"/>
          <p:cNvSpPr txBox="1"/>
          <p:nvPr/>
        </p:nvSpPr>
        <p:spPr>
          <a:xfrm>
            <a:off x="585216" y="4983480"/>
            <a:ext cx="7498079" cy="1463040"/>
          </a:xfrm>
          <a:prstGeom prst="rect">
            <a:avLst/>
          </a:prstGeom>
          <a:noFill/>
        </p:spPr>
        <p:txBody>
          <a:bodyPr wrap="square" anchor="t" lIns="45720" rIns="45720">
            <a:spAutoFit/>
          </a:bodyPr>
          <a:lstStyle/>
          <a:p>
            <a:pPr algn="l">
              <a:spcAft>
                <a:spcPts val="500"/>
              </a:spcAft>
            </a:pPr>
            <a:r>
              <a:rPr sz="1300" b="0">
                <a:solidFill>
                  <a:srgbClr val="222222"/>
                </a:solidFill>
              </a:rPr>
              <a:t>• IVE: corr 0.00 to 0.24; P(top quartile | big move) 19% to 76%.</a:t>
            </a:r>
          </a:p>
          <a:p>
            <a:pPr algn="l">
              <a:spcAft>
                <a:spcPts val="500"/>
              </a:spcAft>
            </a:pPr>
            <a:r>
              <a:rPr sz="1300" b="0">
                <a:solidFill>
                  <a:srgbClr val="222222"/>
                </a:solidFill>
              </a:rPr>
              <a:t>• BTC: corr 0.01 to 0.16; P(top quartile | big move) 27% to 48%. Big moves are routine on BTC, so low VPIN scores as many true positives.</a:t>
            </a:r>
          </a:p>
        </p:txBody>
      </p:sp>
      <p:sp>
        <p:nvSpPr>
          <p:cNvPr id="7" name="TextBox 6"/>
          <p:cNvSpPr txBox="1"/>
          <p:nvPr/>
        </p:nvSpPr>
        <p:spPr>
          <a:xfrm>
            <a:off x="8321040" y="2240280"/>
            <a:ext cx="3657600" cy="1463040"/>
          </a:xfrm>
          <a:prstGeom prst="rect">
            <a:avLst/>
          </a:prstGeom>
          <a:noFill/>
        </p:spPr>
        <p:txBody>
          <a:bodyPr wrap="square" anchor="t" lIns="45720" rIns="45720">
            <a:spAutoFit/>
          </a:bodyPr>
          <a:lstStyle/>
          <a:p>
            <a:pPr algn="l">
              <a:spcAft>
                <a:spcPts val="600"/>
              </a:spcAft>
            </a:pPr>
            <a:r>
              <a:rPr sz="1400" b="1">
                <a:solidFill>
                  <a:srgbClr val="0F2C68"/>
                </a:solidFill>
              </a:rPr>
              <a:t>Paper reports (E-mini, 2008–11)</a:t>
            </a:r>
          </a:p>
          <a:p>
            <a:pPr algn="l">
              <a:spcAft>
                <a:spcPts val="600"/>
              </a:spcAft>
            </a:pPr>
            <a:r>
              <a:rPr sz="1300" b="0">
                <a:solidFill>
                  <a:srgbClr val="222222"/>
                </a:solidFill>
              </a:rPr>
              <a:t>• corr 0.40; P(top quartile | big move) &gt; 84%</a:t>
            </a:r>
          </a:p>
        </p:txBody>
      </p:sp>
      <p:sp>
        <p:nvSpPr>
          <p:cNvPr id="8" name="TextBox 7"/>
          <p:cNvSpPr txBox="1"/>
          <p:nvPr/>
        </p:nvSpPr>
        <p:spPr>
          <a:xfrm>
            <a:off x="8321040" y="3840480"/>
            <a:ext cx="3657600" cy="2560320"/>
          </a:xfrm>
          <a:prstGeom prst="rect">
            <a:avLst/>
          </a:prstGeom>
          <a:noFill/>
        </p:spPr>
        <p:txBody>
          <a:bodyPr wrap="square" anchor="t" lIns="45720" rIns="45720">
            <a:spAutoFit/>
          </a:bodyPr>
          <a:lstStyle/>
          <a:p>
            <a:pPr algn="l">
              <a:spcAft>
                <a:spcPts val="600"/>
              </a:spcAft>
            </a:pPr>
            <a:r>
              <a:rPr sz="1400" b="1">
                <a:solidFill>
                  <a:srgbClr val="0F2C68"/>
                </a:solidFill>
              </a:rPr>
              <a:t>Our reading</a:t>
            </a:r>
          </a:p>
          <a:p>
            <a:pPr algn="l">
              <a:spcAft>
                <a:spcPts val="600"/>
              </a:spcAft>
            </a:pPr>
            <a:r>
              <a:rPr sz="1300" b="0">
                <a:solidFill>
                  <a:srgbClr val="222222"/>
                </a:solidFill>
              </a:rPr>
              <a:t>• No window on either market reaches the paper's numbers.</a:t>
            </a:r>
          </a:p>
          <a:p>
            <a:pPr algn="l">
              <a:spcAft>
                <a:spcPts val="600"/>
              </a:spcAft>
            </a:pPr>
            <a:r>
              <a:rPr sz="1300" b="0">
                <a:solidFill>
                  <a:srgbClr val="222222"/>
                </a:solidFill>
              </a:rPr>
              <a:t>• Our reproduction could detect any correlation ≥ 0.13 (80% power): the gap is not a matter of power.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Extension 3: a known-answer test of VPIN — design (pre-registered)</a:t>
            </a:r>
          </a:p>
        </p:txBody>
      </p:sp>
      <p:sp>
        <p:nvSpPr>
          <p:cNvPr id="4" name="Text Placeholder 3"/>
          <p:cNvSpPr>
            <a:spLocks noGrp="1"/>
          </p:cNvSpPr>
          <p:nvPr>
            <p:ph type="body" idx="2"/>
          </p:nvPr>
        </p:nvSpPr>
        <p:spPr/>
        <p:txBody>
          <a:bodyPr/>
          <a:lstStyle/>
          <a:p>
            <a:r>
              <a:t>Research Seminar</a:t>
            </a:r>
          </a:p>
        </p:txBody>
      </p:sp>
      <p:sp>
        <p:nvSpPr>
          <p:cNvPr id="5" name="TextBox 4"/>
          <p:cNvSpPr txBox="1"/>
          <p:nvPr/>
        </p:nvSpPr>
        <p:spPr>
          <a:xfrm>
            <a:off x="585216" y="2194560"/>
            <a:ext cx="5669280" cy="4297680"/>
          </a:xfrm>
          <a:prstGeom prst="rect">
            <a:avLst/>
          </a:prstGeom>
          <a:noFill/>
        </p:spPr>
        <p:txBody>
          <a:bodyPr wrap="square" anchor="t" lIns="45720" rIns="45720">
            <a:spAutoFit/>
          </a:bodyPr>
          <a:lstStyle/>
          <a:p>
            <a:pPr algn="l">
              <a:spcAft>
                <a:spcPts val="800"/>
              </a:spcAft>
            </a:pPr>
            <a:r>
              <a:rPr sz="1400" b="0">
                <a:solidFill>
                  <a:srgbClr val="222222"/>
                </a:solidFill>
              </a:rPr>
              <a:t>• </a:t>
            </a:r>
            <a:r>
              <a:rPr sz="1400" b="1">
                <a:solidFill>
                  <a:srgbClr val="222222"/>
                </a:solidFill>
              </a:rPr>
              <a:t>Gap in the paper:</a:t>
            </a:r>
            <a:r>
              <a:rPr sz="1400" b="0">
                <a:solidFill>
                  <a:srgbClr val="222222"/>
                </a:solidFill>
              </a:rPr>
              <a:t> its Monte Carlo (Appendix A.2) uses correctly labelled trades and no prices; its VPIN uses bulk classification, which needs prices.</a:t>
            </a:r>
          </a:p>
          <a:p>
            <a:pPr algn="l">
              <a:spcAft>
                <a:spcPts val="800"/>
              </a:spcAft>
            </a:pPr>
            <a:r>
              <a:rPr sz="1400" b="0">
                <a:solidFill>
                  <a:srgbClr val="222222"/>
                </a:solidFill>
              </a:rPr>
              <a:t>• </a:t>
            </a:r>
            <a:r>
              <a:rPr sz="1400" b="1">
                <a:solidFill>
                  <a:srgbClr val="222222"/>
                </a:solidFill>
              </a:rPr>
              <a:t>Our model:</a:t>
            </a:r>
            <a:r>
              <a:rPr sz="1400" b="0">
                <a:solidFill>
                  <a:srgbClr val="222222"/>
                </a:solidFill>
              </a:rPr>
              <a:t> the paper's PIN model, plus a price: Δp = λ (buys − sells) + public noise. Informed flow moves the price; public noise does not involve any trader.</a:t>
            </a:r>
          </a:p>
          <a:p>
            <a:pPr algn="l">
              <a:spcAft>
                <a:spcPts val="800"/>
              </a:spcAft>
            </a:pPr>
            <a:r>
              <a:rPr sz="1400" b="0">
                <a:solidFill>
                  <a:srgbClr val="222222"/>
                </a:solidFill>
              </a:rPr>
              <a:t>• </a:t>
            </a:r>
            <a:r>
              <a:rPr sz="1400" b="1">
                <a:solidFill>
                  <a:srgbClr val="222222"/>
                </a:solidFill>
              </a:rPr>
              <a:t>Worlds:</a:t>
            </a:r>
            <a:r>
              <a:rPr sz="1400" b="0">
                <a:solidFill>
                  <a:srgbClr val="222222"/>
                </a:solidFill>
              </a:rPr>
              <a:t> T = more informed trading in some blocks; V = more volatility and uninformed volume, informed trading unchanged; TV = both; 0 = neither.</a:t>
            </a:r>
          </a:p>
          <a:p>
            <a:pPr algn="l">
              <a:spcAft>
                <a:spcPts val="800"/>
              </a:spcAft>
            </a:pPr>
            <a:r>
              <a:rPr sz="1400" b="0">
                <a:solidFill>
                  <a:srgbClr val="222222"/>
                </a:solidFill>
              </a:rPr>
              <a:t>• </a:t>
            </a:r>
            <a:r>
              <a:rPr sz="1400" b="1">
                <a:solidFill>
                  <a:srgbClr val="222222"/>
                </a:solidFill>
              </a:rPr>
              <a:t>Same pipeline</a:t>
            </a:r>
            <a:r>
              <a:rPr sz="1400" b="0">
                <a:solidFill>
                  <a:srgbClr val="222222"/>
                </a:solidFill>
              </a:rPr>
              <a:t>, truth known, 200 replications per world, rules fixed before running.</a:t>
            </a:r>
          </a:p>
        </p:txBody>
      </p:sp>
      <p:pic>
        <p:nvPicPr>
          <p:cNvPr id="6" name="Picture 5" descr="example_V.png"/>
          <p:cNvPicPr>
            <a:picLocks noChangeAspect="1"/>
          </p:cNvPicPr>
          <p:nvPr/>
        </p:nvPicPr>
        <p:blipFill>
          <a:blip r:embed="rId3"/>
          <a:stretch>
            <a:fillRect/>
          </a:stretch>
        </p:blipFill>
        <p:spPr>
          <a:xfrm>
            <a:off x="6400800" y="2763749"/>
            <a:ext cx="5577840" cy="2244900"/>
          </a:xfrm>
          <a:prstGeom prst="rect">
            <a:avLst/>
          </a:prstGeom>
        </p:spPr>
      </p:pic>
      <p:sp>
        <p:nvSpPr>
          <p:cNvPr id="7" name="TextBox 6"/>
          <p:cNvSpPr txBox="1"/>
          <p:nvPr/>
        </p:nvSpPr>
        <p:spPr>
          <a:xfrm>
            <a:off x="6400800" y="5577840"/>
            <a:ext cx="5577840" cy="822960"/>
          </a:xfrm>
          <a:prstGeom prst="rect">
            <a:avLst/>
          </a:prstGeom>
          <a:noFill/>
        </p:spPr>
        <p:txBody>
          <a:bodyPr wrap="square" anchor="t" lIns="45720" rIns="45720">
            <a:spAutoFit/>
          </a:bodyPr>
          <a:lstStyle/>
          <a:p>
            <a:pPr algn="l">
              <a:spcAft>
                <a:spcPts val="600"/>
              </a:spcAft>
            </a:pPr>
            <a:r>
              <a:rPr sz="1100" b="0">
                <a:solidFill>
                  <a:srgbClr val="595959"/>
                </a:solidFill>
              </a:rPr>
              <a:t>World V: the paper's VPIN (blue) stays high in volatile blocks while the true informed share (dashed) falls.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Extension 3: results of the known-answer test</a:t>
            </a:r>
          </a:p>
        </p:txBody>
      </p:sp>
      <p:sp>
        <p:nvSpPr>
          <p:cNvPr id="4" name="Text Placeholder 3"/>
          <p:cNvSpPr>
            <a:spLocks noGrp="1"/>
          </p:cNvSpPr>
          <p:nvPr>
            <p:ph type="body" idx="2"/>
          </p:nvPr>
        </p:nvSpPr>
        <p:spPr/>
        <p:txBody>
          <a:bodyPr/>
          <a:lstStyle/>
          <a:p>
            <a:r>
              <a:t>Research Seminar</a:t>
            </a:r>
          </a:p>
        </p:txBody>
      </p:sp>
      <p:pic>
        <p:nvPicPr>
          <p:cNvPr id="5" name="Picture 4" descr="metrics.png"/>
          <p:cNvPicPr>
            <a:picLocks noChangeAspect="1"/>
          </p:cNvPicPr>
          <p:nvPr/>
        </p:nvPicPr>
        <p:blipFill>
          <a:blip r:embed="rId3"/>
          <a:stretch>
            <a:fillRect/>
          </a:stretch>
        </p:blipFill>
        <p:spPr>
          <a:xfrm>
            <a:off x="365760" y="2156639"/>
            <a:ext cx="7680960" cy="2407561"/>
          </a:xfrm>
          <a:prstGeom prst="rect">
            <a:avLst/>
          </a:prstGeom>
        </p:spPr>
      </p:pic>
      <p:graphicFrame>
        <p:nvGraphicFramePr>
          <p:cNvPr id="6" name="Table 5"/>
          <p:cNvGraphicFramePr>
            <a:graphicFrameLocks noGrp="1"/>
          </p:cNvGraphicFramePr>
          <p:nvPr/>
        </p:nvGraphicFramePr>
        <p:xfrm>
          <a:off x="585216" y="4754880"/>
          <a:ext cx="7406640" cy="1737360"/>
        </p:xfrm>
        <a:graphic>
          <a:graphicData uri="http://schemas.openxmlformats.org/drawingml/2006/table">
            <a:tbl>
              <a:tblPr firstRow="1" bandRow="1">
                <a:tableStyleId>{5C22544A-7EE6-4342-B048-85BDC9FD1C3A}</a:tableStyleId>
              </a:tblPr>
              <a:tblGrid>
                <a:gridCol w="548640"/>
                <a:gridCol w="3566160"/>
                <a:gridCol w="2011680"/>
                <a:gridCol w="1280160"/>
              </a:tblGrid>
              <a:tr h="347472">
                <a:tc>
                  <a:txBody>
                    <a:bodyPr/>
                    <a:lstStyle/>
                    <a:p>
                      <a:r>
                        <a:rPr sz="1100" b="1">
                          <a:solidFill>
                            <a:srgbClr val="FFFFFF"/>
                          </a:solidFill>
                        </a:rPr>
                        <a:t>Rule</a:t>
                      </a:r>
                    </a:p>
                  </a:txBody>
                  <a:tcPr marL="54864" marR="54864" marT="27432" marB="27432" anchor="ctr">
                    <a:solidFill>
                      <a:srgbClr val="0F2C68"/>
                    </a:solidFill>
                  </a:tcPr>
                </a:tc>
                <a:tc>
                  <a:txBody>
                    <a:bodyPr/>
                    <a:lstStyle/>
                    <a:p>
                      <a:r>
                        <a:rPr sz="1100" b="1">
                          <a:solidFill>
                            <a:srgbClr val="FFFFFF"/>
                          </a:solidFill>
                        </a:rPr>
                        <a:t>Pre-registered statement</a:t>
                      </a:r>
                    </a:p>
                  </a:txBody>
                  <a:tcPr marL="54864" marR="54864" marT="27432" marB="27432" anchor="ctr">
                    <a:solidFill>
                      <a:srgbClr val="0F2C68"/>
                    </a:solidFill>
                  </a:tcPr>
                </a:tc>
                <a:tc>
                  <a:txBody>
                    <a:bodyPr/>
                    <a:lstStyle/>
                    <a:p>
                      <a:r>
                        <a:rPr sz="1100" b="1">
                          <a:solidFill>
                            <a:srgbClr val="FFFFFF"/>
                          </a:solidFill>
                        </a:rPr>
                        <a:t>Result</a:t>
                      </a:r>
                    </a:p>
                  </a:txBody>
                  <a:tcPr marL="54864" marR="54864" marT="27432" marB="27432" anchor="ctr">
                    <a:solidFill>
                      <a:srgbClr val="0F2C68"/>
                    </a:solidFill>
                  </a:tcPr>
                </a:tc>
                <a:tc>
                  <a:txBody>
                    <a:bodyPr/>
                    <a:lstStyle/>
                    <a:p>
                      <a:r>
                        <a:rPr sz="1100" b="1">
                          <a:solidFill>
                            <a:srgbClr val="FFFFFF"/>
                          </a:solidFill>
                        </a:rPr>
                        <a:t>Verdict</a:t>
                      </a:r>
                    </a:p>
                  </a:txBody>
                  <a:tcPr marL="54864" marR="54864" marT="27432" marB="27432" anchor="ctr">
                    <a:solidFill>
                      <a:srgbClr val="0F2C68"/>
                    </a:solidFill>
                  </a:tcPr>
                </a:tc>
              </a:tr>
              <a:tr h="347472">
                <a:tc>
                  <a:txBody>
                    <a:bodyPr/>
                    <a:lstStyle/>
                    <a:p>
                      <a:r>
                        <a:rPr sz="1100" b="0">
                          <a:solidFill>
                            <a:srgbClr val="222222"/>
                          </a:solidFill>
                        </a:rPr>
                        <a:t>D1</a:t>
                      </a:r>
                    </a:p>
                  </a:txBody>
                  <a:tcPr marL="54864" marR="54864" marT="27432" marB="27432" anchor="ctr">
                    <a:solidFill>
                      <a:srgbClr val="FFFFFF"/>
                    </a:solidFill>
                  </a:tcPr>
                </a:tc>
                <a:tc>
                  <a:txBody>
                    <a:bodyPr/>
                    <a:lstStyle/>
                    <a:p>
                      <a:r>
                        <a:rPr sz="1100" b="0">
                          <a:solidFill>
                            <a:srgbClr val="222222"/>
                          </a:solidFill>
                        </a:rPr>
                        <a:t>true labels track informed trading</a:t>
                      </a:r>
                    </a:p>
                  </a:txBody>
                  <a:tcPr marL="54864" marR="54864" marT="27432" marB="27432" anchor="ctr">
                    <a:solidFill>
                      <a:srgbClr val="FFFFFF"/>
                    </a:solidFill>
                  </a:tcPr>
                </a:tc>
                <a:tc>
                  <a:txBody>
                    <a:bodyPr/>
                    <a:lstStyle/>
                    <a:p>
                      <a:r>
                        <a:rPr sz="1100" b="0">
                          <a:solidFill>
                            <a:srgbClr val="222222"/>
                          </a:solidFill>
                        </a:rPr>
                        <a:t>0.98</a:t>
                      </a:r>
                    </a:p>
                  </a:txBody>
                  <a:tcPr marL="54864" marR="54864" marT="27432" marB="27432" anchor="ctr">
                    <a:solidFill>
                      <a:srgbClr val="FFFFFF"/>
                    </a:solidFill>
                  </a:tcPr>
                </a:tc>
                <a:tc>
                  <a:txBody>
                    <a:bodyPr/>
                    <a:lstStyle/>
                    <a:p>
                      <a:r>
                        <a:rPr sz="1100" b="1">
                          <a:solidFill>
                            <a:srgbClr val="FFFFFF"/>
                          </a:solidFill>
                        </a:rPr>
                        <a:t>holds</a:t>
                      </a:r>
                    </a:p>
                  </a:txBody>
                  <a:tcPr marL="54864" marR="54864" marT="27432" marB="27432" anchor="ctr">
                    <a:solidFill>
                      <a:srgbClr val="009B64"/>
                    </a:solidFill>
                  </a:tcPr>
                </a:tc>
              </a:tr>
              <a:tr h="347472">
                <a:tc>
                  <a:txBody>
                    <a:bodyPr/>
                    <a:lstStyle/>
                    <a:p>
                      <a:r>
                        <a:rPr sz="1100" b="0">
                          <a:solidFill>
                            <a:srgbClr val="222222"/>
                          </a:solidFill>
                        </a:rPr>
                        <a:t>D2</a:t>
                      </a:r>
                    </a:p>
                  </a:txBody>
                  <a:tcPr marL="54864" marR="54864" marT="27432" marB="27432" anchor="ctr">
                    <a:solidFill>
                      <a:srgbClr val="EEF2F8"/>
                    </a:solidFill>
                  </a:tcPr>
                </a:tc>
                <a:tc>
                  <a:txBody>
                    <a:bodyPr/>
                    <a:lstStyle/>
                    <a:p>
                      <a:r>
                        <a:rPr sz="1100" b="0">
                          <a:solidFill>
                            <a:srgbClr val="222222"/>
                          </a:solidFill>
                        </a:rPr>
                        <a:t>paper's VPIN: false alarms from volatility</a:t>
                      </a:r>
                    </a:p>
                  </a:txBody>
                  <a:tcPr marL="54864" marR="54864" marT="27432" marB="27432" anchor="ctr">
                    <a:solidFill>
                      <a:srgbClr val="EEF2F8"/>
                    </a:solidFill>
                  </a:tcPr>
                </a:tc>
                <a:tc>
                  <a:txBody>
                    <a:bodyPr/>
                    <a:lstStyle/>
                    <a:p>
                      <a:r>
                        <a:rPr sz="1100" b="0">
                          <a:solidFill>
                            <a:srgbClr val="222222"/>
                          </a:solidFill>
                        </a:rPr>
                        <a:t>+0.118 ± 0.002</a:t>
                      </a:r>
                    </a:p>
                  </a:txBody>
                  <a:tcPr marL="54864" marR="54864" marT="27432" marB="27432" anchor="ctr">
                    <a:solidFill>
                      <a:srgbClr val="EEF2F8"/>
                    </a:solidFill>
                  </a:tcPr>
                </a:tc>
                <a:tc>
                  <a:txBody>
                    <a:bodyPr/>
                    <a:lstStyle/>
                    <a:p>
                      <a:r>
                        <a:rPr sz="1100" b="1">
                          <a:solidFill>
                            <a:srgbClr val="FFFFFF"/>
                          </a:solidFill>
                        </a:rPr>
                        <a:t>holds</a:t>
                      </a:r>
                    </a:p>
                  </a:txBody>
                  <a:tcPr marL="54864" marR="54864" marT="27432" marB="27432" anchor="ctr">
                    <a:solidFill>
                      <a:srgbClr val="009B64"/>
                    </a:solidFill>
                  </a:tcPr>
                </a:tc>
              </a:tr>
              <a:tr h="347472">
                <a:tc>
                  <a:txBody>
                    <a:bodyPr/>
                    <a:lstStyle/>
                    <a:p>
                      <a:r>
                        <a:rPr sz="1100" b="0">
                          <a:solidFill>
                            <a:srgbClr val="222222"/>
                          </a:solidFill>
                        </a:rPr>
                        <a:t>D3</a:t>
                      </a:r>
                    </a:p>
                  </a:txBody>
                  <a:tcPr marL="54864" marR="54864" marT="27432" marB="27432" anchor="ctr">
                    <a:solidFill>
                      <a:srgbClr val="FFFFFF"/>
                    </a:solidFill>
                  </a:tcPr>
                </a:tc>
                <a:tc>
                  <a:txBody>
                    <a:bodyPr/>
                    <a:lstStyle/>
                    <a:p>
                      <a:r>
                        <a:rPr sz="1100" b="0">
                          <a:solidFill>
                            <a:srgbClr val="222222"/>
                          </a:solidFill>
                        </a:rPr>
                        <a:t>paper's predictive test fooled by volatility</a:t>
                      </a:r>
                    </a:p>
                  </a:txBody>
                  <a:tcPr marL="54864" marR="54864" marT="27432" marB="27432" anchor="ctr">
                    <a:solidFill>
                      <a:srgbClr val="FFFFFF"/>
                    </a:solidFill>
                  </a:tcPr>
                </a:tc>
                <a:tc>
                  <a:txBody>
                    <a:bodyPr/>
                    <a:lstStyle/>
                    <a:p>
                      <a:r>
                        <a:rPr sz="1100" b="0">
                          <a:solidFill>
                            <a:srgbClr val="222222"/>
                          </a:solidFill>
                        </a:rPr>
                        <a:t>-0.007 ± 0.001</a:t>
                      </a:r>
                    </a:p>
                  </a:txBody>
                  <a:tcPr marL="54864" marR="54864" marT="27432" marB="27432" anchor="ctr">
                    <a:solidFill>
                      <a:srgbClr val="FFFFFF"/>
                    </a:solidFill>
                  </a:tcPr>
                </a:tc>
                <a:tc>
                  <a:txBody>
                    <a:bodyPr/>
                    <a:lstStyle/>
                    <a:p>
                      <a:r>
                        <a:rPr sz="1100" b="1">
                          <a:solidFill>
                            <a:srgbClr val="FFFFFF"/>
                          </a:solidFill>
                        </a:rPr>
                        <a:t>does not hold</a:t>
                      </a:r>
                    </a:p>
                  </a:txBody>
                  <a:tcPr marL="54864" marR="54864" marT="27432" marB="27432" anchor="ctr">
                    <a:solidFill>
                      <a:srgbClr val="595959"/>
                    </a:solidFill>
                  </a:tcPr>
                </a:tc>
              </a:tr>
              <a:tr h="347472">
                <a:tc>
                  <a:txBody>
                    <a:bodyPr/>
                    <a:lstStyle/>
                    <a:p>
                      <a:r>
                        <a:rPr sz="1100" b="0">
                          <a:solidFill>
                            <a:srgbClr val="222222"/>
                          </a:solidFill>
                        </a:rPr>
                        <a:t>D4</a:t>
                      </a:r>
                    </a:p>
                  </a:txBody>
                  <a:tcPr marL="54864" marR="54864" marT="27432" marB="27432" anchor="ctr">
                    <a:solidFill>
                      <a:srgbClr val="EEF2F8"/>
                    </a:solidFill>
                  </a:tcPr>
                </a:tc>
                <a:tc>
                  <a:txBody>
                    <a:bodyPr/>
                    <a:lstStyle/>
                    <a:p>
                      <a:r>
                        <a:rPr sz="1100" b="0">
                          <a:solidFill>
                            <a:srgbClr val="222222"/>
                          </a:solidFill>
                        </a:rPr>
                        <a:t>one-day σ: fewer false alarms, same detection</a:t>
                      </a:r>
                    </a:p>
                  </a:txBody>
                  <a:tcPr marL="54864" marR="54864" marT="27432" marB="27432" anchor="ctr">
                    <a:solidFill>
                      <a:srgbClr val="EEF2F8"/>
                    </a:solidFill>
                  </a:tcPr>
                </a:tc>
                <a:tc>
                  <a:txBody>
                    <a:bodyPr/>
                    <a:lstStyle/>
                    <a:p>
                      <a:r>
                        <a:rPr sz="1100" b="0">
                          <a:solidFill>
                            <a:srgbClr val="222222"/>
                          </a:solidFill>
                        </a:rPr>
                        <a:t>-0.301; AUC 0.992</a:t>
                      </a:r>
                    </a:p>
                  </a:txBody>
                  <a:tcPr marL="54864" marR="54864" marT="27432" marB="27432" anchor="ctr">
                    <a:solidFill>
                      <a:srgbClr val="EEF2F8"/>
                    </a:solidFill>
                  </a:tcPr>
                </a:tc>
                <a:tc>
                  <a:txBody>
                    <a:bodyPr/>
                    <a:lstStyle/>
                    <a:p>
                      <a:r>
                        <a:rPr sz="1100" b="1">
                          <a:solidFill>
                            <a:srgbClr val="FFFFFF"/>
                          </a:solidFill>
                        </a:rPr>
                        <a:t>holds</a:t>
                      </a:r>
                    </a:p>
                  </a:txBody>
                  <a:tcPr marL="54864" marR="54864" marT="27432" marB="27432" anchor="ctr">
                    <a:solidFill>
                      <a:srgbClr val="009B64"/>
                    </a:solidFill>
                  </a:tcPr>
                </a:tc>
              </a:tr>
            </a:tbl>
          </a:graphicData>
        </a:graphic>
      </p:graphicFrame>
      <p:sp>
        <p:nvSpPr>
          <p:cNvPr id="7" name="TextBox 6"/>
          <p:cNvSpPr txBox="1"/>
          <p:nvPr/>
        </p:nvSpPr>
        <p:spPr>
          <a:xfrm>
            <a:off x="8321040" y="2194560"/>
            <a:ext cx="3657600" cy="4206240"/>
          </a:xfrm>
          <a:prstGeom prst="rect">
            <a:avLst/>
          </a:prstGeom>
          <a:noFill/>
        </p:spPr>
        <p:txBody>
          <a:bodyPr wrap="square" anchor="t" lIns="45720" rIns="45720">
            <a:spAutoFit/>
          </a:bodyPr>
          <a:lstStyle/>
          <a:p>
            <a:pPr algn="l">
              <a:spcAft>
                <a:spcPts val="400"/>
              </a:spcAft>
            </a:pPr>
            <a:r>
              <a:rPr sz="1400" b="1">
                <a:solidFill>
                  <a:srgbClr val="0F2C68"/>
                </a:solidFill>
              </a:rPr>
              <a:t>Tracking of the true informed share, world V</a:t>
            </a:r>
          </a:p>
          <a:p>
            <a:pPr algn="l">
              <a:spcAft>
                <a:spcPts val="400"/>
              </a:spcAft>
            </a:pPr>
            <a:r>
              <a:rPr sz="1400" b="0">
                <a:solidFill>
                  <a:srgbClr val="222222"/>
                </a:solidFill>
              </a:rPr>
              <a:t>• paper's VPIN </a:t>
            </a:r>
            <a:r>
              <a:rPr sz="1400" b="1">
                <a:solidFill>
                  <a:srgbClr val="222222"/>
                </a:solidFill>
              </a:rPr>
              <a:t>0.03</a:t>
            </a:r>
          </a:p>
          <a:p>
            <a:pPr algn="l">
              <a:spcAft>
                <a:spcPts val="400"/>
              </a:spcAft>
            </a:pPr>
            <a:r>
              <a:rPr sz="1400" b="0">
                <a:solidFill>
                  <a:srgbClr val="222222"/>
                </a:solidFill>
              </a:rPr>
              <a:t>• true labels </a:t>
            </a:r>
            <a:r>
              <a:rPr sz="1400" b="1">
                <a:solidFill>
                  <a:srgbClr val="222222"/>
                </a:solidFill>
              </a:rPr>
              <a:t>0.96</a:t>
            </a:r>
          </a:p>
          <a:p>
            <a:pPr algn="l">
              <a:spcAft>
                <a:spcPts val="1200"/>
              </a:spcAft>
            </a:pPr>
            <a:r>
              <a:rPr sz="1400" b="0">
                <a:solidFill>
                  <a:srgbClr val="222222"/>
                </a:solidFill>
              </a:rPr>
              <a:t>• one-day σ (fix) </a:t>
            </a:r>
            <a:r>
              <a:rPr sz="1400" b="1">
                <a:solidFill>
                  <a:srgbClr val="222222"/>
                </a:solidFill>
              </a:rPr>
              <a:t>0.83</a:t>
            </a:r>
          </a:p>
          <a:p>
            <a:pPr algn="l">
              <a:spcAft>
                <a:spcPts val="400"/>
              </a:spcAft>
            </a:pPr>
            <a:r>
              <a:rPr sz="1300" b="1">
                <a:solidFill>
                  <a:srgbClr val="0F2C68"/>
                </a:solidFill>
              </a:rPr>
              <a:t>• When volatility changes, the paper's VPIN stops measuring informed trading.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Extension 4: the fix on real data</a:t>
            </a:r>
          </a:p>
        </p:txBody>
      </p:sp>
      <p:sp>
        <p:nvSpPr>
          <p:cNvPr id="4" name="Text Placeholder 3"/>
          <p:cNvSpPr>
            <a:spLocks noGrp="1"/>
          </p:cNvSpPr>
          <p:nvPr>
            <p:ph type="body" idx="2"/>
          </p:nvPr>
        </p:nvSpPr>
        <p:spPr/>
        <p:txBody>
          <a:bodyPr/>
          <a:lstStyle/>
          <a:p>
            <a:r>
              <a:t>Research Seminar</a:t>
            </a:r>
          </a:p>
        </p:txBody>
      </p:sp>
      <p:graphicFrame>
        <p:nvGraphicFramePr>
          <p:cNvPr id="5" name="Table 4"/>
          <p:cNvGraphicFramePr>
            <a:graphicFrameLocks noGrp="1"/>
          </p:cNvGraphicFramePr>
          <p:nvPr/>
        </p:nvGraphicFramePr>
        <p:xfrm>
          <a:off x="585216" y="2194560"/>
          <a:ext cx="7223760" cy="3291840"/>
        </p:xfrm>
        <a:graphic>
          <a:graphicData uri="http://schemas.openxmlformats.org/drawingml/2006/table">
            <a:tbl>
              <a:tblPr firstRow="1" bandRow="1">
                <a:tableStyleId>{5C22544A-7EE6-4342-B048-85BDC9FD1C3A}</a:tableStyleId>
              </a:tblPr>
              <a:tblGrid>
                <a:gridCol w="2103120"/>
                <a:gridCol w="2651760"/>
                <a:gridCol w="1463040"/>
                <a:gridCol w="1005840"/>
              </a:tblGrid>
              <a:tr h="411480">
                <a:tc>
                  <a:txBody>
                    <a:bodyPr/>
                    <a:lstStyle/>
                    <a:p>
                      <a:r>
                        <a:rPr sz="1100" b="1">
                          <a:solidFill>
                            <a:srgbClr val="FFFFFF"/>
                          </a:solidFill>
                        </a:rPr>
                        <a:t>Market (real-time, 50 buckets/day)</a:t>
                      </a:r>
                    </a:p>
                  </a:txBody>
                  <a:tcPr marL="54864" marR="54864" marT="27432" marB="27432" anchor="ctr">
                    <a:solidFill>
                      <a:srgbClr val="0F2C68"/>
                    </a:solidFill>
                  </a:tcPr>
                </a:tc>
                <a:tc>
                  <a:txBody>
                    <a:bodyPr/>
                    <a:lstStyle/>
                    <a:p>
                      <a:r>
                        <a:rPr sz="1100" b="1">
                          <a:solidFill>
                            <a:srgbClr val="FFFFFF"/>
                          </a:solidFill>
                        </a:rPr>
                        <a:t>Signal</a:t>
                      </a:r>
                    </a:p>
                  </a:txBody>
                  <a:tcPr marL="54864" marR="54864" marT="27432" marB="27432" anchor="ctr">
                    <a:solidFill>
                      <a:srgbClr val="0F2C68"/>
                    </a:solidFill>
                  </a:tcPr>
                </a:tc>
                <a:tc>
                  <a:txBody>
                    <a:bodyPr/>
                    <a:lstStyle/>
                    <a:p>
                      <a:r>
                        <a:rPr sz="1100" b="1">
                          <a:solidFill>
                            <a:srgbClr val="FFFFFF"/>
                          </a:solidFill>
                        </a:rPr>
                        <a:t>Corr with next |return|</a:t>
                      </a:r>
                    </a:p>
                  </a:txBody>
                  <a:tcPr marL="54864" marR="54864" marT="27432" marB="27432" anchor="ctr">
                    <a:solidFill>
                      <a:srgbClr val="0F2C68"/>
                    </a:solidFill>
                  </a:tcPr>
                </a:tc>
                <a:tc>
                  <a:txBody>
                    <a:bodyPr/>
                    <a:lstStyle/>
                    <a:p>
                      <a:r>
                        <a:rPr sz="1100" b="1">
                          <a:solidFill>
                            <a:srgbClr val="FFFFFF"/>
                          </a:solidFill>
                        </a:rPr>
                        <a:t>Lift</a:t>
                      </a:r>
                    </a:p>
                  </a:txBody>
                  <a:tcPr marL="54864" marR="54864" marT="27432" marB="27432" anchor="ctr">
                    <a:solidFill>
                      <a:srgbClr val="0F2C68"/>
                    </a:solidFill>
                  </a:tcPr>
                </a:tc>
              </a:tr>
              <a:tr h="411480">
                <a:tc>
                  <a:txBody>
                    <a:bodyPr/>
                    <a:lstStyle/>
                    <a:p>
                      <a:r>
                        <a:rPr sz="1100" b="0">
                          <a:solidFill>
                            <a:srgbClr val="222222"/>
                          </a:solidFill>
                        </a:rPr>
                        <a:t>BTC</a:t>
                      </a:r>
                    </a:p>
                  </a:txBody>
                  <a:tcPr marL="54864" marR="54864" marT="27432" marB="27432" anchor="ctr">
                    <a:solidFill>
                      <a:srgbClr val="FFFFFF"/>
                    </a:solidFill>
                  </a:tcPr>
                </a:tc>
                <a:tc>
                  <a:txBody>
                    <a:bodyPr/>
                    <a:lstStyle/>
                    <a:p>
                      <a:r>
                        <a:rPr sz="1100" b="0">
                          <a:solidFill>
                            <a:srgbClr val="222222"/>
                          </a:solidFill>
                        </a:rPr>
                        <a:t>VPIN, standard BVC</a:t>
                      </a:r>
                    </a:p>
                  </a:txBody>
                  <a:tcPr marL="54864" marR="54864" marT="27432" marB="27432" anchor="ctr">
                    <a:solidFill>
                      <a:srgbClr val="FFFFFF"/>
                    </a:solidFill>
                  </a:tcPr>
                </a:tc>
                <a:tc>
                  <a:txBody>
                    <a:bodyPr/>
                    <a:lstStyle/>
                    <a:p>
                      <a:r>
                        <a:rPr sz="1100" b="0">
                          <a:solidFill>
                            <a:srgbClr val="222222"/>
                          </a:solidFill>
                        </a:rPr>
                        <a:t>0.127 ± 0.020</a:t>
                      </a:r>
                    </a:p>
                  </a:txBody>
                  <a:tcPr marL="54864" marR="54864" marT="27432" marB="27432" anchor="ctr">
                    <a:solidFill>
                      <a:srgbClr val="FFFFFF"/>
                    </a:solidFill>
                  </a:tcPr>
                </a:tc>
                <a:tc>
                  <a:txBody>
                    <a:bodyPr/>
                    <a:lstStyle/>
                    <a:p>
                      <a:r>
                        <a:rPr sz="1100" b="0">
                          <a:solidFill>
                            <a:srgbClr val="222222"/>
                          </a:solidFill>
                        </a:rPr>
                        <a:t>1.53 ± 0.08</a:t>
                      </a:r>
                    </a:p>
                  </a:txBody>
                  <a:tcPr marL="54864" marR="54864" marT="27432" marB="27432" anchor="ctr">
                    <a:solidFill>
                      <a:srgbClr val="FFFFFF"/>
                    </a:solidFill>
                  </a:tcPr>
                </a:tc>
              </a:tr>
              <a:tr h="411480">
                <a:tc>
                  <a:txBody>
                    <a:bodyPr/>
                    <a:lstStyle/>
                    <a:p>
                      <a:r>
                        <a:rPr sz="1100" b="0">
                          <a:solidFill>
                            <a:srgbClr val="222222"/>
                          </a:solidFill>
                        </a:rPr>
                        <a:t>BTC</a:t>
                      </a:r>
                    </a:p>
                  </a:txBody>
                  <a:tcPr marL="54864" marR="54864" marT="27432" marB="27432" anchor="ctr">
                    <a:solidFill>
                      <a:srgbClr val="EEF2F8"/>
                    </a:solidFill>
                  </a:tcPr>
                </a:tc>
                <a:tc>
                  <a:txBody>
                    <a:bodyPr/>
                    <a:lstStyle/>
                    <a:p>
                      <a:r>
                        <a:rPr sz="1100" b="1">
                          <a:solidFill>
                            <a:srgbClr val="FFFFFF"/>
                          </a:solidFill>
                        </a:rPr>
                        <a:t>VPIN, local-sigma BVC (fix)</a:t>
                      </a:r>
                    </a:p>
                  </a:txBody>
                  <a:tcPr marL="54864" marR="54864" marT="27432" marB="27432" anchor="ctr">
                    <a:solidFill>
                      <a:srgbClr val="EB8C3C"/>
                    </a:solidFill>
                  </a:tcPr>
                </a:tc>
                <a:tc>
                  <a:txBody>
                    <a:bodyPr/>
                    <a:lstStyle/>
                    <a:p>
                      <a:r>
                        <a:rPr sz="1100" b="0">
                          <a:solidFill>
                            <a:srgbClr val="222222"/>
                          </a:solidFill>
                        </a:rPr>
                        <a:t>0.051 ± 0.017</a:t>
                      </a:r>
                    </a:p>
                  </a:txBody>
                  <a:tcPr marL="54864" marR="54864" marT="27432" marB="27432" anchor="ctr">
                    <a:solidFill>
                      <a:srgbClr val="EEF2F8"/>
                    </a:solidFill>
                  </a:tcPr>
                </a:tc>
                <a:tc>
                  <a:txBody>
                    <a:bodyPr/>
                    <a:lstStyle/>
                    <a:p>
                      <a:r>
                        <a:rPr sz="1100" b="0">
                          <a:solidFill>
                            <a:srgbClr val="222222"/>
                          </a:solidFill>
                        </a:rPr>
                        <a:t>1.27 ± 0.07</a:t>
                      </a:r>
                    </a:p>
                  </a:txBody>
                  <a:tcPr marL="54864" marR="54864" marT="27432" marB="27432" anchor="ctr">
                    <a:solidFill>
                      <a:srgbClr val="EEF2F8"/>
                    </a:solidFill>
                  </a:tcPr>
                </a:tc>
              </a:tr>
              <a:tr h="411480">
                <a:tc>
                  <a:txBody>
                    <a:bodyPr/>
                    <a:lstStyle/>
                    <a:p>
                      <a:r>
                        <a:rPr sz="1100" b="0">
                          <a:solidFill>
                            <a:srgbClr val="222222"/>
                          </a:solidFill>
                        </a:rPr>
                        <a:t>BTC</a:t>
                      </a:r>
                    </a:p>
                  </a:txBody>
                  <a:tcPr marL="54864" marR="54864" marT="27432" marB="27432" anchor="ctr">
                    <a:solidFill>
                      <a:srgbClr val="FFFFFF"/>
                    </a:solidFill>
                  </a:tcPr>
                </a:tc>
                <a:tc>
                  <a:txBody>
                    <a:bodyPr/>
                    <a:lstStyle/>
                    <a:p>
                      <a:r>
                        <a:rPr sz="1100" b="0">
                          <a:solidFill>
                            <a:srgbClr val="222222"/>
                          </a:solidFill>
                        </a:rPr>
                        <a:t>trailing volatility</a:t>
                      </a:r>
                    </a:p>
                  </a:txBody>
                  <a:tcPr marL="54864" marR="54864" marT="27432" marB="27432" anchor="ctr">
                    <a:solidFill>
                      <a:srgbClr val="FFFFFF"/>
                    </a:solidFill>
                  </a:tcPr>
                </a:tc>
                <a:tc>
                  <a:txBody>
                    <a:bodyPr/>
                    <a:lstStyle/>
                    <a:p>
                      <a:r>
                        <a:rPr sz="1100" b="0">
                          <a:solidFill>
                            <a:srgbClr val="222222"/>
                          </a:solidFill>
                        </a:rPr>
                        <a:t>0.359 ± 0.032</a:t>
                      </a:r>
                    </a:p>
                  </a:txBody>
                  <a:tcPr marL="54864" marR="54864" marT="27432" marB="27432" anchor="ctr">
                    <a:solidFill>
                      <a:srgbClr val="FFFFFF"/>
                    </a:solidFill>
                  </a:tcPr>
                </a:tc>
                <a:tc>
                  <a:txBody>
                    <a:bodyPr/>
                    <a:lstStyle/>
                    <a:p>
                      <a:r>
                        <a:rPr sz="1100" b="0">
                          <a:solidFill>
                            <a:srgbClr val="222222"/>
                          </a:solidFill>
                        </a:rPr>
                        <a:t>3.31 ± 0.28</a:t>
                      </a:r>
                    </a:p>
                  </a:txBody>
                  <a:tcPr marL="54864" marR="54864" marT="27432" marB="27432" anchor="ctr">
                    <a:solidFill>
                      <a:srgbClr val="FFFFFF"/>
                    </a:solidFill>
                  </a:tcPr>
                </a:tc>
              </a:tr>
              <a:tr h="411480">
                <a:tc>
                  <a:txBody>
                    <a:bodyPr/>
                    <a:lstStyle/>
                    <a:p>
                      <a:r>
                        <a:rPr sz="1100" b="0">
                          <a:solidFill>
                            <a:srgbClr val="222222"/>
                          </a:solidFill>
                        </a:rPr>
                        <a:t>BTC</a:t>
                      </a:r>
                    </a:p>
                  </a:txBody>
                  <a:tcPr marL="54864" marR="54864" marT="27432" marB="27432" anchor="ctr">
                    <a:solidFill>
                      <a:srgbClr val="EEF2F8"/>
                    </a:solidFill>
                  </a:tcPr>
                </a:tc>
                <a:tc>
                  <a:txBody>
                    <a:bodyPr/>
                    <a:lstStyle/>
                    <a:p>
                      <a:r>
                        <a:rPr sz="1100" b="0">
                          <a:solidFill>
                            <a:srgbClr val="222222"/>
                          </a:solidFill>
                        </a:rPr>
                        <a:t>VPIN, true labels</a:t>
                      </a:r>
                    </a:p>
                  </a:txBody>
                  <a:tcPr marL="54864" marR="54864" marT="27432" marB="27432" anchor="ctr">
                    <a:solidFill>
                      <a:srgbClr val="EEF2F8"/>
                    </a:solidFill>
                  </a:tcPr>
                </a:tc>
                <a:tc>
                  <a:txBody>
                    <a:bodyPr/>
                    <a:lstStyle/>
                    <a:p>
                      <a:r>
                        <a:rPr sz="1100" b="0">
                          <a:solidFill>
                            <a:srgbClr val="222222"/>
                          </a:solidFill>
                        </a:rPr>
                        <a:t>-0.123 ± 0.024</a:t>
                      </a:r>
                    </a:p>
                  </a:txBody>
                  <a:tcPr marL="54864" marR="54864" marT="27432" marB="27432" anchor="ctr">
                    <a:solidFill>
                      <a:srgbClr val="EEF2F8"/>
                    </a:solidFill>
                  </a:tcPr>
                </a:tc>
                <a:tc>
                  <a:txBody>
                    <a:bodyPr/>
                    <a:lstStyle/>
                    <a:p>
                      <a:r>
                        <a:rPr sz="1100" b="0">
                          <a:solidFill>
                            <a:srgbClr val="222222"/>
                          </a:solidFill>
                        </a:rPr>
                        <a:t>0.61 ± 0.08</a:t>
                      </a:r>
                    </a:p>
                  </a:txBody>
                  <a:tcPr marL="54864" marR="54864" marT="27432" marB="27432" anchor="ctr">
                    <a:solidFill>
                      <a:srgbClr val="EEF2F8"/>
                    </a:solidFill>
                  </a:tcPr>
                </a:tc>
              </a:tr>
              <a:tr h="411480">
                <a:tc>
                  <a:txBody>
                    <a:bodyPr/>
                    <a:lstStyle/>
                    <a:p>
                      <a:r>
                        <a:rPr sz="1100" b="0">
                          <a:solidFill>
                            <a:srgbClr val="222222"/>
                          </a:solidFill>
                        </a:rPr>
                        <a:t>IVE 2011-26</a:t>
                      </a:r>
                    </a:p>
                  </a:txBody>
                  <a:tcPr marL="54864" marR="54864" marT="27432" marB="27432" anchor="ctr">
                    <a:solidFill>
                      <a:srgbClr val="FFFFFF"/>
                    </a:solidFill>
                  </a:tcPr>
                </a:tc>
                <a:tc>
                  <a:txBody>
                    <a:bodyPr/>
                    <a:lstStyle/>
                    <a:p>
                      <a:r>
                        <a:rPr sz="1100" b="0">
                          <a:solidFill>
                            <a:srgbClr val="222222"/>
                          </a:solidFill>
                        </a:rPr>
                        <a:t>VPIN, standard BVC</a:t>
                      </a:r>
                    </a:p>
                  </a:txBody>
                  <a:tcPr marL="54864" marR="54864" marT="27432" marB="27432" anchor="ctr">
                    <a:solidFill>
                      <a:srgbClr val="FFFFFF"/>
                    </a:solidFill>
                  </a:tcPr>
                </a:tc>
                <a:tc>
                  <a:txBody>
                    <a:bodyPr/>
                    <a:lstStyle/>
                    <a:p>
                      <a:r>
                        <a:rPr sz="1100" b="0">
                          <a:solidFill>
                            <a:srgbClr val="222222"/>
                          </a:solidFill>
                        </a:rPr>
                        <a:t>0.092 ± 0.031</a:t>
                      </a:r>
                    </a:p>
                  </a:txBody>
                  <a:tcPr marL="54864" marR="54864" marT="27432" marB="27432" anchor="ctr">
                    <a:solidFill>
                      <a:srgbClr val="FFFFFF"/>
                    </a:solidFill>
                  </a:tcPr>
                </a:tc>
                <a:tc>
                  <a:txBody>
                    <a:bodyPr/>
                    <a:lstStyle/>
                    <a:p>
                      <a:r>
                        <a:rPr sz="1100" b="0">
                          <a:solidFill>
                            <a:srgbClr val="222222"/>
                          </a:solidFill>
                        </a:rPr>
                        <a:t>1.57 ± 0.20</a:t>
                      </a:r>
                    </a:p>
                  </a:txBody>
                  <a:tcPr marL="54864" marR="54864" marT="27432" marB="27432" anchor="ctr">
                    <a:solidFill>
                      <a:srgbClr val="FFFFFF"/>
                    </a:solidFill>
                  </a:tcPr>
                </a:tc>
              </a:tr>
              <a:tr h="411480">
                <a:tc>
                  <a:txBody>
                    <a:bodyPr/>
                    <a:lstStyle/>
                    <a:p>
                      <a:r>
                        <a:rPr sz="1100" b="0">
                          <a:solidFill>
                            <a:srgbClr val="222222"/>
                          </a:solidFill>
                        </a:rPr>
                        <a:t>IVE 2011-26</a:t>
                      </a:r>
                    </a:p>
                  </a:txBody>
                  <a:tcPr marL="54864" marR="54864" marT="27432" marB="27432" anchor="ctr">
                    <a:solidFill>
                      <a:srgbClr val="EEF2F8"/>
                    </a:solidFill>
                  </a:tcPr>
                </a:tc>
                <a:tc>
                  <a:txBody>
                    <a:bodyPr/>
                    <a:lstStyle/>
                    <a:p>
                      <a:r>
                        <a:rPr sz="1100" b="1">
                          <a:solidFill>
                            <a:srgbClr val="FFFFFF"/>
                          </a:solidFill>
                        </a:rPr>
                        <a:t>VPIN, local-sigma BVC (fix)</a:t>
                      </a:r>
                    </a:p>
                  </a:txBody>
                  <a:tcPr marL="54864" marR="54864" marT="27432" marB="27432" anchor="ctr">
                    <a:solidFill>
                      <a:srgbClr val="EB8C3C"/>
                    </a:solidFill>
                  </a:tcPr>
                </a:tc>
                <a:tc>
                  <a:txBody>
                    <a:bodyPr/>
                    <a:lstStyle/>
                    <a:p>
                      <a:r>
                        <a:rPr sz="1100" b="0">
                          <a:solidFill>
                            <a:srgbClr val="222222"/>
                          </a:solidFill>
                        </a:rPr>
                        <a:t>0.007 ± 0.023</a:t>
                      </a:r>
                    </a:p>
                  </a:txBody>
                  <a:tcPr marL="54864" marR="54864" marT="27432" marB="27432" anchor="ctr">
                    <a:solidFill>
                      <a:srgbClr val="EEF2F8"/>
                    </a:solidFill>
                  </a:tcPr>
                </a:tc>
                <a:tc>
                  <a:txBody>
                    <a:bodyPr/>
                    <a:lstStyle/>
                    <a:p>
                      <a:r>
                        <a:rPr sz="1100" b="0">
                          <a:solidFill>
                            <a:srgbClr val="222222"/>
                          </a:solidFill>
                        </a:rPr>
                        <a:t>1.30 ± 0.24</a:t>
                      </a:r>
                    </a:p>
                  </a:txBody>
                  <a:tcPr marL="54864" marR="54864" marT="27432" marB="27432" anchor="ctr">
                    <a:solidFill>
                      <a:srgbClr val="EEF2F8"/>
                    </a:solidFill>
                  </a:tcPr>
                </a:tc>
              </a:tr>
              <a:tr h="411480">
                <a:tc>
                  <a:txBody>
                    <a:bodyPr/>
                    <a:lstStyle/>
                    <a:p>
                      <a:r>
                        <a:rPr sz="1100" b="0">
                          <a:solidFill>
                            <a:srgbClr val="222222"/>
                          </a:solidFill>
                        </a:rPr>
                        <a:t>IVE 2011-26</a:t>
                      </a:r>
                    </a:p>
                  </a:txBody>
                  <a:tcPr marL="54864" marR="54864" marT="27432" marB="27432" anchor="ctr">
                    <a:solidFill>
                      <a:srgbClr val="FFFFFF"/>
                    </a:solidFill>
                  </a:tcPr>
                </a:tc>
                <a:tc>
                  <a:txBody>
                    <a:bodyPr/>
                    <a:lstStyle/>
                    <a:p>
                      <a:r>
                        <a:rPr sz="1100" b="0">
                          <a:solidFill>
                            <a:srgbClr val="222222"/>
                          </a:solidFill>
                        </a:rPr>
                        <a:t>trailing volatility</a:t>
                      </a:r>
                    </a:p>
                  </a:txBody>
                  <a:tcPr marL="54864" marR="54864" marT="27432" marB="27432" anchor="ctr">
                    <a:solidFill>
                      <a:srgbClr val="FFFFFF"/>
                    </a:solidFill>
                  </a:tcPr>
                </a:tc>
                <a:tc>
                  <a:txBody>
                    <a:bodyPr/>
                    <a:lstStyle/>
                    <a:p>
                      <a:r>
                        <a:rPr sz="1100" b="0">
                          <a:solidFill>
                            <a:srgbClr val="222222"/>
                          </a:solidFill>
                        </a:rPr>
                        <a:t>0.242 ± 0.018</a:t>
                      </a:r>
                    </a:p>
                  </a:txBody>
                  <a:tcPr marL="54864" marR="54864" marT="27432" marB="27432" anchor="ctr">
                    <a:solidFill>
                      <a:srgbClr val="FFFFFF"/>
                    </a:solidFill>
                  </a:tcPr>
                </a:tc>
                <a:tc>
                  <a:txBody>
                    <a:bodyPr/>
                    <a:lstStyle/>
                    <a:p>
                      <a:r>
                        <a:rPr sz="1100" b="0">
                          <a:solidFill>
                            <a:srgbClr val="222222"/>
                          </a:solidFill>
                        </a:rPr>
                        <a:t>2.76 ± 0.28</a:t>
                      </a:r>
                    </a:p>
                  </a:txBody>
                  <a:tcPr marL="54864" marR="54864" marT="27432" marB="27432" anchor="ctr">
                    <a:solidFill>
                      <a:srgbClr val="FFFFFF"/>
                    </a:solidFill>
                  </a:tcPr>
                </a:tc>
              </a:tr>
            </a:tbl>
          </a:graphicData>
        </a:graphic>
      </p:graphicFrame>
      <p:sp>
        <p:nvSpPr>
          <p:cNvPr id="6" name="TextBox 5"/>
          <p:cNvSpPr txBox="1"/>
          <p:nvPr/>
        </p:nvSpPr>
        <p:spPr>
          <a:xfrm>
            <a:off x="8046720" y="2194560"/>
            <a:ext cx="3931920" cy="4297680"/>
          </a:xfrm>
          <a:prstGeom prst="rect">
            <a:avLst/>
          </a:prstGeom>
          <a:noFill/>
        </p:spPr>
        <p:txBody>
          <a:bodyPr wrap="square" anchor="t" lIns="45720" rIns="45720">
            <a:spAutoFit/>
          </a:bodyPr>
          <a:lstStyle/>
          <a:p>
            <a:pPr algn="l">
              <a:spcAft>
                <a:spcPts val="400"/>
              </a:spcAft>
            </a:pPr>
            <a:r>
              <a:rPr sz="1400" b="1">
                <a:solidFill>
                  <a:srgbClr val="0F2C68"/>
                </a:solidFill>
              </a:rPr>
              <a:t>Closer to the truth (BTC)</a:t>
            </a:r>
          </a:p>
          <a:p>
            <a:pPr algn="l">
              <a:spcAft>
                <a:spcPts val="400"/>
              </a:spcAft>
            </a:pPr>
            <a:r>
              <a:rPr sz="1300" b="0">
                <a:solidFill>
                  <a:srgbClr val="222222"/>
                </a:solidFill>
              </a:rPr>
              <a:t>• corr with true-label VPIN: fix </a:t>
            </a:r>
            <a:r>
              <a:rPr sz="1300" b="1">
                <a:solidFill>
                  <a:srgbClr val="222222"/>
                </a:solidFill>
              </a:rPr>
              <a:t>0.47</a:t>
            </a:r>
            <a:r>
              <a:rPr sz="1300" b="0">
                <a:solidFill>
                  <a:srgbClr val="222222"/>
                </a:solidFill>
              </a:rPr>
              <a:t> vs standard 0.39 (+0.08 ± 0.02)</a:t>
            </a:r>
          </a:p>
          <a:p>
            <a:pPr algn="l">
              <a:spcAft>
                <a:spcPts val="400"/>
              </a:spcAft>
            </a:pPr>
            <a:r>
              <a:rPr sz="1400" b="1">
                <a:solidFill>
                  <a:srgbClr val="0F2C68"/>
                </a:solidFill>
              </a:rPr>
              <a:t>Less volatility in disguise</a:t>
            </a:r>
          </a:p>
          <a:p>
            <a:pPr algn="l">
              <a:spcAft>
                <a:spcPts val="400"/>
              </a:spcAft>
            </a:pPr>
            <a:r>
              <a:rPr sz="1300" b="0">
                <a:solidFill>
                  <a:srgbClr val="222222"/>
                </a:solidFill>
              </a:rPr>
              <a:t>• its correlation with the next move collapses: the paper's predictive power came from the bias</a:t>
            </a:r>
          </a:p>
          <a:p>
            <a:pPr algn="l">
              <a:spcAft>
                <a:spcPts val="400"/>
              </a:spcAft>
            </a:pPr>
            <a:r>
              <a:rPr sz="1400" b="1">
                <a:solidFill>
                  <a:srgbClr val="0F2C68"/>
                </a:solidFill>
              </a:rPr>
              <a:t>What remains beyond volatility</a:t>
            </a:r>
          </a:p>
          <a:p>
            <a:pPr algn="l">
              <a:spcAft>
                <a:spcPts val="400"/>
              </a:spcAft>
            </a:pPr>
            <a:r>
              <a:rPr sz="1300" b="0">
                <a:solidFill>
                  <a:srgbClr val="222222"/>
                </a:solidFill>
              </a:rPr>
              <a:t>• IVE: t = 8.3, ΔR² = 0.0029; BTC: negative (t = -4.3)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Inference: placebo, stability, power and every test</a:t>
            </a:r>
          </a:p>
        </p:txBody>
      </p:sp>
      <p:sp>
        <p:nvSpPr>
          <p:cNvPr id="4" name="Text Placeholder 3"/>
          <p:cNvSpPr>
            <a:spLocks noGrp="1"/>
          </p:cNvSpPr>
          <p:nvPr>
            <p:ph type="body" idx="2"/>
          </p:nvPr>
        </p:nvSpPr>
        <p:spPr/>
        <p:txBody>
          <a:bodyPr/>
          <a:lstStyle/>
          <a:p>
            <a:r>
              <a:t>Research Seminar</a:t>
            </a:r>
          </a:p>
        </p:txBody>
      </p:sp>
      <p:sp>
        <p:nvSpPr>
          <p:cNvPr id="5" name="TextBox 4"/>
          <p:cNvSpPr txBox="1"/>
          <p:nvPr/>
        </p:nvSpPr>
        <p:spPr>
          <a:xfrm>
            <a:off x="585216" y="2103120"/>
            <a:ext cx="7315200" cy="365760"/>
          </a:xfrm>
          <a:prstGeom prst="rect">
            <a:avLst/>
          </a:prstGeom>
          <a:noFill/>
        </p:spPr>
        <p:txBody>
          <a:bodyPr wrap="square" anchor="t" lIns="45720" rIns="45720">
            <a:spAutoFit/>
          </a:bodyPr>
          <a:lstStyle/>
          <a:p>
            <a:pPr algn="l">
              <a:spcAft>
                <a:spcPts val="600"/>
              </a:spcAft>
            </a:pPr>
            <a:r>
              <a:rPr sz="1400" b="1">
                <a:solidFill>
                  <a:srgbClr val="0F2C68"/>
                </a:solidFill>
              </a:rPr>
              <a:t>Placebo: VPIN with the direction of every imbalance shuffled</a:t>
            </a:r>
          </a:p>
        </p:txBody>
      </p:sp>
      <p:graphicFrame>
        <p:nvGraphicFramePr>
          <p:cNvPr id="6" name="Table 5"/>
          <p:cNvGraphicFramePr>
            <a:graphicFrameLocks noGrp="1"/>
          </p:cNvGraphicFramePr>
          <p:nvPr/>
        </p:nvGraphicFramePr>
        <p:xfrm>
          <a:off x="585216" y="2514600"/>
          <a:ext cx="7315200" cy="1463040"/>
        </p:xfrm>
        <a:graphic>
          <a:graphicData uri="http://schemas.openxmlformats.org/drawingml/2006/table">
            <a:tbl>
              <a:tblPr firstRow="1" bandRow="1">
                <a:tableStyleId>{5C22544A-7EE6-4342-B048-85BDC9FD1C3A}</a:tableStyleId>
              </a:tblPr>
              <a:tblGrid>
                <a:gridCol w="3291840"/>
                <a:gridCol w="1280160"/>
                <a:gridCol w="1828800"/>
                <a:gridCol w="914400"/>
              </a:tblGrid>
              <a:tr h="365760">
                <a:tc>
                  <a:txBody>
                    <a:bodyPr/>
                    <a:lstStyle/>
                    <a:p>
                      <a:r>
                        <a:rPr sz="1100" b="1">
                          <a:solidFill>
                            <a:srgbClr val="FFFFFF"/>
                          </a:solidFill>
                        </a:rPr>
                        <a:t>Sample</a:t>
                      </a:r>
                    </a:p>
                  </a:txBody>
                  <a:tcPr marL="54864" marR="54864" marT="27432" marB="27432" anchor="ctr">
                    <a:solidFill>
                      <a:srgbClr val="0F2C68"/>
                    </a:solidFill>
                  </a:tcPr>
                </a:tc>
                <a:tc>
                  <a:txBody>
                    <a:bodyPr/>
                    <a:lstStyle/>
                    <a:p>
                      <a:r>
                        <a:rPr sz="1100" b="1">
                          <a:solidFill>
                            <a:srgbClr val="FFFFFF"/>
                          </a:solidFill>
                        </a:rPr>
                        <a:t>Corr, real VPIN</a:t>
                      </a:r>
                    </a:p>
                  </a:txBody>
                  <a:tcPr marL="54864" marR="54864" marT="27432" marB="27432" anchor="ctr">
                    <a:solidFill>
                      <a:srgbClr val="0F2C68"/>
                    </a:solidFill>
                  </a:tcPr>
                </a:tc>
                <a:tc>
                  <a:txBody>
                    <a:bodyPr/>
                    <a:lstStyle/>
                    <a:p>
                      <a:r>
                        <a:rPr sz="1100" b="1">
                          <a:solidFill>
                            <a:srgbClr val="FFFFFF"/>
                          </a:solidFill>
                        </a:rPr>
                        <a:t>Corr, direction shuffled</a:t>
                      </a:r>
                    </a:p>
                  </a:txBody>
                  <a:tcPr marL="54864" marR="54864" marT="27432" marB="27432" anchor="ctr">
                    <a:solidFill>
                      <a:srgbClr val="0F2C68"/>
                    </a:solidFill>
                  </a:tcPr>
                </a:tc>
                <a:tc>
                  <a:txBody>
                    <a:bodyPr/>
                    <a:lstStyle/>
                    <a:p>
                      <a:r>
                        <a:rPr sz="1100" b="1">
                          <a:solidFill>
                            <a:srgbClr val="FFFFFF"/>
                          </a:solidFill>
                        </a:rPr>
                        <a:t>Kept</a:t>
                      </a:r>
                    </a:p>
                  </a:txBody>
                  <a:tcPr marL="54864" marR="54864" marT="27432" marB="27432" anchor="ctr">
                    <a:solidFill>
                      <a:srgbClr val="0F2C68"/>
                    </a:solidFill>
                  </a:tcPr>
                </a:tc>
              </a:tr>
              <a:tr h="365760">
                <a:tc>
                  <a:txBody>
                    <a:bodyPr/>
                    <a:lstStyle/>
                    <a:p>
                      <a:r>
                        <a:rPr sz="1100" b="0">
                          <a:solidFill>
                            <a:srgbClr val="222222"/>
                          </a:solidFill>
                        </a:rPr>
                        <a:t>IVE 2009-11, paper's method (50, 250)</a:t>
                      </a:r>
                    </a:p>
                  </a:txBody>
                  <a:tcPr marL="54864" marR="54864" marT="27432" marB="27432" anchor="ctr">
                    <a:solidFill>
                      <a:srgbClr val="FFFFFF"/>
                    </a:solidFill>
                  </a:tcPr>
                </a:tc>
                <a:tc>
                  <a:txBody>
                    <a:bodyPr/>
                    <a:lstStyle/>
                    <a:p>
                      <a:r>
                        <a:rPr sz="1100" b="0">
                          <a:solidFill>
                            <a:srgbClr val="222222"/>
                          </a:solidFill>
                        </a:rPr>
                        <a:t>0.078</a:t>
                      </a:r>
                    </a:p>
                  </a:txBody>
                  <a:tcPr marL="54864" marR="54864" marT="27432" marB="27432" anchor="ctr">
                    <a:solidFill>
                      <a:srgbClr val="FFFFFF"/>
                    </a:solidFill>
                  </a:tcPr>
                </a:tc>
                <a:tc>
                  <a:txBody>
                    <a:bodyPr/>
                    <a:lstStyle/>
                    <a:p>
                      <a:r>
                        <a:rPr sz="1100" b="0">
                          <a:solidFill>
                            <a:srgbClr val="222222"/>
                          </a:solidFill>
                        </a:rPr>
                        <a:t>0.078 ± 0.002</a:t>
                      </a:r>
                    </a:p>
                  </a:txBody>
                  <a:tcPr marL="54864" marR="54864" marT="27432" marB="27432" anchor="ctr">
                    <a:solidFill>
                      <a:srgbClr val="FFFFFF"/>
                    </a:solidFill>
                  </a:tcPr>
                </a:tc>
                <a:tc>
                  <a:txBody>
                    <a:bodyPr/>
                    <a:lstStyle/>
                    <a:p>
                      <a:r>
                        <a:rPr sz="1100" b="0">
                          <a:solidFill>
                            <a:srgbClr val="222222"/>
                          </a:solidFill>
                        </a:rPr>
                        <a:t>101%</a:t>
                      </a:r>
                    </a:p>
                  </a:txBody>
                  <a:tcPr marL="54864" marR="54864" marT="27432" marB="27432" anchor="ctr">
                    <a:solidFill>
                      <a:srgbClr val="FFFFFF"/>
                    </a:solidFill>
                  </a:tcPr>
                </a:tc>
              </a:tr>
              <a:tr h="365760">
                <a:tc>
                  <a:txBody>
                    <a:bodyPr/>
                    <a:lstStyle/>
                    <a:p>
                      <a:r>
                        <a:rPr sz="1100" b="0">
                          <a:solidFill>
                            <a:srgbClr val="222222"/>
                          </a:solidFill>
                        </a:rPr>
                        <a:t>IVE 2011-26 (50, 250)</a:t>
                      </a:r>
                    </a:p>
                  </a:txBody>
                  <a:tcPr marL="54864" marR="54864" marT="27432" marB="27432" anchor="ctr">
                    <a:solidFill>
                      <a:srgbClr val="EEF2F8"/>
                    </a:solidFill>
                  </a:tcPr>
                </a:tc>
                <a:tc>
                  <a:txBody>
                    <a:bodyPr/>
                    <a:lstStyle/>
                    <a:p>
                      <a:r>
                        <a:rPr sz="1100" b="0">
                          <a:solidFill>
                            <a:srgbClr val="222222"/>
                          </a:solidFill>
                        </a:rPr>
                        <a:t>0.092</a:t>
                      </a:r>
                    </a:p>
                  </a:txBody>
                  <a:tcPr marL="54864" marR="54864" marT="27432" marB="27432" anchor="ctr">
                    <a:solidFill>
                      <a:srgbClr val="EEF2F8"/>
                    </a:solidFill>
                  </a:tcPr>
                </a:tc>
                <a:tc>
                  <a:txBody>
                    <a:bodyPr/>
                    <a:lstStyle/>
                    <a:p>
                      <a:r>
                        <a:rPr sz="1100" b="0">
                          <a:solidFill>
                            <a:srgbClr val="222222"/>
                          </a:solidFill>
                        </a:rPr>
                        <a:t>0.090 ± 0.001</a:t>
                      </a:r>
                    </a:p>
                  </a:txBody>
                  <a:tcPr marL="54864" marR="54864" marT="27432" marB="27432" anchor="ctr">
                    <a:solidFill>
                      <a:srgbClr val="EEF2F8"/>
                    </a:solidFill>
                  </a:tcPr>
                </a:tc>
                <a:tc>
                  <a:txBody>
                    <a:bodyPr/>
                    <a:lstStyle/>
                    <a:p>
                      <a:r>
                        <a:rPr sz="1100" b="0">
                          <a:solidFill>
                            <a:srgbClr val="222222"/>
                          </a:solidFill>
                        </a:rPr>
                        <a:t>98%</a:t>
                      </a:r>
                    </a:p>
                  </a:txBody>
                  <a:tcPr marL="54864" marR="54864" marT="27432" marB="27432" anchor="ctr">
                    <a:solidFill>
                      <a:srgbClr val="EEF2F8"/>
                    </a:solidFill>
                  </a:tcPr>
                </a:tc>
              </a:tr>
              <a:tr h="365760">
                <a:tc>
                  <a:txBody>
                    <a:bodyPr/>
                    <a:lstStyle/>
                    <a:p>
                      <a:r>
                        <a:rPr sz="1100" b="0">
                          <a:solidFill>
                            <a:srgbClr val="222222"/>
                          </a:solidFill>
                        </a:rPr>
                        <a:t>BTC 2020-26 (50, 50)</a:t>
                      </a:r>
                    </a:p>
                  </a:txBody>
                  <a:tcPr marL="54864" marR="54864" marT="27432" marB="27432" anchor="ctr">
                    <a:solidFill>
                      <a:srgbClr val="FFFFFF"/>
                    </a:solidFill>
                  </a:tcPr>
                </a:tc>
                <a:tc>
                  <a:txBody>
                    <a:bodyPr/>
                    <a:lstStyle/>
                    <a:p>
                      <a:r>
                        <a:rPr sz="1100" b="0">
                          <a:solidFill>
                            <a:srgbClr val="222222"/>
                          </a:solidFill>
                        </a:rPr>
                        <a:t>0.127</a:t>
                      </a:r>
                    </a:p>
                  </a:txBody>
                  <a:tcPr marL="54864" marR="54864" marT="27432" marB="27432" anchor="ctr">
                    <a:solidFill>
                      <a:srgbClr val="FFFFFF"/>
                    </a:solidFill>
                  </a:tcPr>
                </a:tc>
                <a:tc>
                  <a:txBody>
                    <a:bodyPr/>
                    <a:lstStyle/>
                    <a:p>
                      <a:r>
                        <a:rPr sz="1100" b="0">
                          <a:solidFill>
                            <a:srgbClr val="222222"/>
                          </a:solidFill>
                        </a:rPr>
                        <a:t>0.128 ± 0.001</a:t>
                      </a:r>
                    </a:p>
                  </a:txBody>
                  <a:tcPr marL="54864" marR="54864" marT="27432" marB="27432" anchor="ctr">
                    <a:solidFill>
                      <a:srgbClr val="FFFFFF"/>
                    </a:solidFill>
                  </a:tcPr>
                </a:tc>
                <a:tc>
                  <a:txBody>
                    <a:bodyPr/>
                    <a:lstStyle/>
                    <a:p>
                      <a:r>
                        <a:rPr sz="1100" b="0">
                          <a:solidFill>
                            <a:srgbClr val="222222"/>
                          </a:solidFill>
                        </a:rPr>
                        <a:t>101%</a:t>
                      </a:r>
                    </a:p>
                  </a:txBody>
                  <a:tcPr marL="54864" marR="54864" marT="27432" marB="27432" anchor="ctr">
                    <a:solidFill>
                      <a:srgbClr val="FFFFFF"/>
                    </a:solidFill>
                  </a:tcPr>
                </a:tc>
              </a:tr>
            </a:tbl>
          </a:graphicData>
        </a:graphic>
      </p:graphicFrame>
      <p:sp>
        <p:nvSpPr>
          <p:cNvPr id="7" name="TextBox 6"/>
          <p:cNvSpPr txBox="1"/>
          <p:nvPr/>
        </p:nvSpPr>
        <p:spPr>
          <a:xfrm>
            <a:off x="585216" y="4206240"/>
            <a:ext cx="7315200" cy="2194560"/>
          </a:xfrm>
          <a:prstGeom prst="rect">
            <a:avLst/>
          </a:prstGeom>
          <a:noFill/>
        </p:spPr>
        <p:txBody>
          <a:bodyPr wrap="square" anchor="t" lIns="45720" rIns="45720">
            <a:spAutoFit/>
          </a:bodyPr>
          <a:lstStyle/>
          <a:p>
            <a:pPr algn="l">
              <a:spcAft>
                <a:spcPts val="600"/>
              </a:spcAft>
            </a:pPr>
            <a:r>
              <a:rPr sz="1300" b="0">
                <a:solidFill>
                  <a:srgbClr val="222222"/>
                </a:solidFill>
              </a:rPr>
              <a:t>• </a:t>
            </a:r>
            <a:r>
              <a:rPr sz="1300" b="1">
                <a:solidFill>
                  <a:srgbClr val="222222"/>
                </a:solidFill>
              </a:rPr>
              <a:t>The direction of trading carries almost none of VPIN's predictive power:</a:t>
            </a:r>
            <a:r>
              <a:rPr sz="1300" b="0">
                <a:solidFill>
                  <a:srgbClr val="222222"/>
                </a:solidFill>
              </a:rPr>
              <a:t> the size of price moves does.</a:t>
            </a:r>
          </a:p>
          <a:p>
            <a:pPr algn="l">
              <a:spcAft>
                <a:spcPts val="600"/>
              </a:spcAft>
            </a:pPr>
            <a:r>
              <a:rPr sz="1300" b="0">
                <a:solidFill>
                  <a:srgbClr val="222222"/>
                </a:solidFill>
              </a:rPr>
              <a:t>• </a:t>
            </a:r>
            <a:r>
              <a:rPr sz="1300" b="1">
                <a:solidFill>
                  <a:srgbClr val="222222"/>
                </a:solidFill>
              </a:rPr>
              <a:t>Leave one year out:</a:t>
            </a:r>
            <a:r>
              <a:rPr sz="1300" b="0">
                <a:solidFill>
                  <a:srgbClr val="222222"/>
                </a:solidFill>
              </a:rPr>
              <a:t> 0 sign flips across 5 signal–sample pairs.</a:t>
            </a:r>
          </a:p>
          <a:p>
            <a:pPr algn="l">
              <a:spcAft>
                <a:spcPts val="600"/>
              </a:spcAft>
            </a:pPr>
            <a:r>
              <a:rPr sz="1300" b="0">
                <a:solidFill>
                  <a:srgbClr val="222222"/>
                </a:solidFill>
              </a:rPr>
              <a:t>• </a:t>
            </a:r>
            <a:r>
              <a:rPr sz="1300" b="1">
                <a:solidFill>
                  <a:srgbClr val="222222"/>
                </a:solidFill>
              </a:rPr>
              <a:t>Power:</a:t>
            </a:r>
            <a:r>
              <a:rPr sz="1300" b="0">
                <a:solidFill>
                  <a:srgbClr val="222222"/>
                </a:solidFill>
              </a:rPr>
              <a:t> the reproduction detects any correlation ≥ 0.13; the paper's 0.40 would not be missed.</a:t>
            </a:r>
          </a:p>
        </p:txBody>
      </p:sp>
      <p:sp>
        <p:nvSpPr>
          <p:cNvPr id="8" name="TextBox 7"/>
          <p:cNvSpPr txBox="1"/>
          <p:nvPr/>
        </p:nvSpPr>
        <p:spPr>
          <a:xfrm>
            <a:off x="8138160" y="2103120"/>
            <a:ext cx="3840480" cy="4297680"/>
          </a:xfrm>
          <a:prstGeom prst="rect">
            <a:avLst/>
          </a:prstGeom>
          <a:noFill/>
        </p:spPr>
        <p:txBody>
          <a:bodyPr wrap="square" anchor="t" lIns="45720" rIns="45720">
            <a:spAutoFit/>
          </a:bodyPr>
          <a:lstStyle/>
          <a:p>
            <a:pPr algn="l">
              <a:spcAft>
                <a:spcPts val="500"/>
              </a:spcAft>
            </a:pPr>
            <a:r>
              <a:rPr sz="1400" b="1">
                <a:solidFill>
                  <a:srgbClr val="0F2C68"/>
                </a:solidFill>
              </a:rPr>
              <a:t>Ledger of every test</a:t>
            </a:r>
          </a:p>
          <a:p>
            <a:pPr algn="l">
              <a:spcAft>
                <a:spcPts val="500"/>
              </a:spcAft>
            </a:pPr>
            <a:r>
              <a:rPr sz="1300" b="0">
                <a:solidFill>
                  <a:srgbClr val="222222"/>
                </a:solidFill>
              </a:rPr>
              <a:t>• 26 tests behind our claims</a:t>
            </a:r>
          </a:p>
          <a:p>
            <a:pPr algn="l">
              <a:spcAft>
                <a:spcPts val="500"/>
              </a:spcAft>
            </a:pPr>
            <a:r>
              <a:rPr sz="1300" b="0">
                <a:solidFill>
                  <a:srgbClr val="222222"/>
                </a:solidFill>
              </a:rPr>
              <a:t>• supported after Benjamini–Hochberg: </a:t>
            </a:r>
            <a:r>
              <a:rPr sz="1300" b="1">
                <a:solidFill>
                  <a:srgbClr val="222222"/>
                </a:solidFill>
              </a:rPr>
              <a:t>17</a:t>
            </a:r>
          </a:p>
          <a:p>
            <a:pPr algn="l">
              <a:spcAft>
                <a:spcPts val="500"/>
              </a:spcAft>
            </a:pPr>
            <a:r>
              <a:rPr sz="1300" b="0">
                <a:solidFill>
                  <a:srgbClr val="222222"/>
                </a:solidFill>
              </a:rPr>
              <a:t>• after Bonferroni: </a:t>
            </a:r>
            <a:r>
              <a:rPr sz="1300" b="1">
                <a:solidFill>
                  <a:srgbClr val="222222"/>
                </a:solidFill>
              </a:rPr>
              <a:t>13</a:t>
            </a:r>
          </a:p>
          <a:p>
            <a:pPr algn="l">
              <a:spcAft>
                <a:spcPts val="500"/>
              </a:spcAft>
            </a:pPr>
            <a:r>
              <a:rPr sz="1300" b="0">
                <a:solidFill>
                  <a:srgbClr val="222222"/>
                </a:solidFill>
              </a:rPr>
              <a:t>• significant but on the wrong side: </a:t>
            </a:r>
            <a:r>
              <a:rPr sz="1300" b="1">
                <a:solidFill>
                  <a:srgbClr val="222222"/>
                </a:solidFill>
              </a:rPr>
              <a:t>3</a:t>
            </a:r>
            <a:r>
              <a:rPr sz="1300" b="0">
                <a:solidFill>
                  <a:srgbClr val="222222"/>
                </a:solidFill>
              </a:rPr>
              <a:t> (reported as not supported)</a:t>
            </a:r>
          </a:p>
          <a:p>
            <a:pPr algn="l">
              <a:spcAft>
                <a:spcPts val="500"/>
              </a:spcAft>
            </a:pPr>
            <a:r>
              <a:rPr sz="1200" b="0">
                <a:solidFill>
                  <a:srgbClr val="595959"/>
                </a:solidFill>
              </a:rPr>
              <a:t>• New tests pre-registered before running; every later change logged.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our work adds to the paper</a:t>
            </a:r>
          </a:p>
        </p:txBody>
      </p:sp>
      <p:sp>
        <p:nvSpPr>
          <p:cNvPr id="4" name="Text Placeholder 3"/>
          <p:cNvSpPr>
            <a:spLocks noGrp="1"/>
          </p:cNvSpPr>
          <p:nvPr>
            <p:ph type="body" idx="2"/>
          </p:nvPr>
        </p:nvSpPr>
        <p:spPr/>
        <p:txBody>
          <a:bodyPr/>
          <a:lstStyle/>
          <a:p>
            <a:r>
              <a:t>Research Seminar</a:t>
            </a:r>
          </a:p>
        </p:txBody>
      </p:sp>
      <p:sp>
        <p:nvSpPr>
          <p:cNvPr id="5" name="TextBox 4"/>
          <p:cNvSpPr txBox="1"/>
          <p:nvPr/>
        </p:nvSpPr>
        <p:spPr>
          <a:xfrm>
            <a:off x="585216" y="2148840"/>
            <a:ext cx="11155680" cy="4297680"/>
          </a:xfrm>
          <a:prstGeom prst="rect">
            <a:avLst/>
          </a:prstGeom>
          <a:noFill/>
        </p:spPr>
        <p:txBody>
          <a:bodyPr wrap="square" anchor="t" lIns="45720" rIns="45720">
            <a:spAutoFit/>
          </a:bodyPr>
          <a:lstStyle/>
          <a:p>
            <a:pPr algn="l">
              <a:spcAft>
                <a:spcPts val="1000"/>
              </a:spcAft>
            </a:pPr>
            <a:r>
              <a:rPr sz="1500" b="0">
                <a:solidFill>
                  <a:srgbClr val="222222"/>
                </a:solidFill>
              </a:rPr>
              <a:t>• </a:t>
            </a:r>
            <a:r>
              <a:rPr sz="1500" b="1">
                <a:solidFill>
                  <a:srgbClr val="222222"/>
                </a:solidFill>
              </a:rPr>
              <a:t>1. Closes the paper's validation gap.</a:t>
            </a:r>
            <a:r>
              <a:rPr sz="1500" b="0">
                <a:solidFill>
                  <a:srgbClr val="222222"/>
                </a:solidFill>
              </a:rPr>
              <a:t> Its Monte Carlo never runs bulk classification. Our known-answer simulation of its own model shows that VPIN, as the paper computes it, stops measuring informed trading when volatility changes.</a:t>
            </a:r>
          </a:p>
          <a:p>
            <a:pPr algn="l">
              <a:spcAft>
                <a:spcPts val="1000"/>
              </a:spcAft>
            </a:pPr>
            <a:r>
              <a:rPr sz="1500" b="0">
                <a:solidFill>
                  <a:srgbClr val="222222"/>
                </a:solidFill>
              </a:rPr>
              <a:t>• </a:t>
            </a:r>
            <a:r>
              <a:rPr sz="1500" b="1">
                <a:solidFill>
                  <a:srgbClr val="222222"/>
                </a:solidFill>
              </a:rPr>
              <a:t>2. Locates where VPIN's predictive power comes from.</a:t>
            </a:r>
            <a:r>
              <a:rPr sz="1500" b="0">
                <a:solidFill>
                  <a:srgbClr val="222222"/>
                </a:solidFill>
              </a:rPr>
              <a:t> With true labels VPIN does not predict volatility (BTC); with shuffled directions it predicts as well as the real VPIN (IVE, BTC). It is the size of price moves, not toxicity.</a:t>
            </a:r>
          </a:p>
          <a:p>
            <a:pPr algn="l">
              <a:spcAft>
                <a:spcPts val="1000"/>
              </a:spcAft>
            </a:pPr>
            <a:r>
              <a:rPr sz="1500" b="0">
                <a:solidFill>
                  <a:srgbClr val="222222"/>
                </a:solidFill>
              </a:rPr>
              <a:t>• </a:t>
            </a:r>
            <a:r>
              <a:rPr sz="1500" b="1">
                <a:solidFill>
                  <a:srgbClr val="222222"/>
                </a:solidFill>
              </a:rPr>
              <a:t>3. A fix that works where it can be checked.</a:t>
            </a:r>
            <a:r>
              <a:rPr sz="1500" b="0">
                <a:solidFill>
                  <a:srgbClr val="222222"/>
                </a:solidFill>
              </a:rPr>
              <a:t> Measuring price changes against the previous day's volatility makes VPIN track true toxicity better on BTC, and removes the volatility artefact.</a:t>
            </a:r>
          </a:p>
          <a:p>
            <a:pPr algn="l">
              <a:spcAft>
                <a:spcPts val="1000"/>
              </a:spcAft>
            </a:pPr>
            <a:r>
              <a:rPr sz="1500" b="0">
                <a:solidFill>
                  <a:srgbClr val="222222"/>
                </a:solidFill>
              </a:rPr>
              <a:t>• </a:t>
            </a:r>
            <a:r>
              <a:rPr sz="1500" b="1">
                <a:solidFill>
                  <a:srgbClr val="222222"/>
                </a:solidFill>
              </a:rPr>
              <a:t>4. An honest evaluation.</a:t>
            </a:r>
            <a:r>
              <a:rPr sz="1500" b="0">
                <a:solidFill>
                  <a:srgbClr val="222222"/>
                </a:solidFill>
              </a:rPr>
              <a:t> Real-time, out of sample 2011–2026, all 41 two-year windows, pre-registration, ± on every metric, and a ledger with multiple-testing control. The paper's predictive numbers do not appear anywhere.</a:t>
            </a:r>
          </a:p>
          <a:p>
            <a:pPr algn="l">
              <a:spcAft>
                <a:spcPts val="1000"/>
              </a:spcAft>
            </a:pPr>
            <a:r>
              <a:rPr sz="1200" b="0">
                <a:solidFill>
                  <a:srgbClr val="595959"/>
                </a:solidFill>
              </a:rPr>
              <a:t>Confirms on new data: Andersen &amp; Bondarenko (2014, 2015); Chakrabarty, Pascual &amp; Shkilko (2015).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HSE">
      <a:dk1>
        <a:srgbClr val="0F2C68"/>
      </a:dk1>
      <a:lt1>
        <a:srgbClr val="FFFFFF"/>
      </a:lt1>
      <a:dk2>
        <a:srgbClr val="44546A"/>
      </a:dk2>
      <a:lt2>
        <a:srgbClr val="E7E6E6"/>
      </a:lt2>
      <a:accent1>
        <a:srgbClr val="102C69"/>
      </a:accent1>
      <a:accent2>
        <a:srgbClr val="1656A6"/>
      </a:accent2>
      <a:accent3>
        <a:srgbClr val="BFBFBF"/>
      </a:accent3>
      <a:accent4>
        <a:srgbClr val="EB8C3C"/>
      </a:accent4>
      <a:accent5>
        <a:srgbClr val="009B64"/>
      </a:accent5>
      <a:accent6>
        <a:srgbClr val="7D50B9"/>
      </a:accent6>
      <a:hlink>
        <a:srgbClr val="1656A6"/>
      </a:hlink>
      <a:folHlink>
        <a:srgbClr val="A0A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HSE">
      <a:dk1>
        <a:srgbClr val="0F2C68"/>
      </a:dk1>
      <a:lt1>
        <a:srgbClr val="FFFFFF"/>
      </a:lt1>
      <a:dk2>
        <a:srgbClr val="44546A"/>
      </a:dk2>
      <a:lt2>
        <a:srgbClr val="E7E6E6"/>
      </a:lt2>
      <a:accent1>
        <a:srgbClr val="102C69"/>
      </a:accent1>
      <a:accent2>
        <a:srgbClr val="1656A6"/>
      </a:accent2>
      <a:accent3>
        <a:srgbClr val="BFBFBF"/>
      </a:accent3>
      <a:accent4>
        <a:srgbClr val="EB8C3C"/>
      </a:accent4>
      <a:accent5>
        <a:srgbClr val="009B64"/>
      </a:accent5>
      <a:accent6>
        <a:srgbClr val="7D50B9"/>
      </a:accent6>
      <a:hlink>
        <a:srgbClr val="1656A6"/>
      </a:hlink>
      <a:folHlink>
        <a:srgbClr val="A0A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